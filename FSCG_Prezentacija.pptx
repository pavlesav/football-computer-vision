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8" r:id="rId13"/>
    <p:sldId id="272" r:id="rId14"/>
    <p:sldId id="269" r:id="rId15"/>
    <p:sldId id="271" r:id="rId16"/>
    <p:sldId id="275" r:id="rId17"/>
    <p:sldId id="276" r:id="rId1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46" d="100"/>
          <a:sy n="146" d="100"/>
        </p:scale>
        <p:origin x="59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manualLayout>
          <c:layoutTarget val="inner"/>
          <c:xMode val="edge"/>
          <c:yMode val="edge"/>
          <c:x val="7.1941410549487772E-2"/>
          <c:y val="0.11400498014671243"/>
          <c:w val="0.88922943771813467"/>
          <c:h val="0.82723433609260377"/>
        </c:manualLayout>
      </c:layout>
      <c:lineChart>
        <c:grouping val="standard"/>
        <c:varyColors val="0"/>
        <c:ser>
          <c:idx val="0"/>
          <c:order val="0"/>
          <c:tx>
            <c:strRef>
              <c:f>Sheet1!$B$1</c:f>
              <c:strCache>
                <c:ptCount val="1"/>
                <c:pt idx="0">
                  <c:v>FIFA</c:v>
                </c:pt>
              </c:strCache>
            </c:strRef>
          </c:tx>
          <c:spPr>
            <a:ln w="31750" cap="flat">
              <a:solidFill>
                <a:srgbClr val="22C55E"/>
              </a:solidFill>
              <a:prstDash val="solid"/>
              <a:round/>
            </a:ln>
            <a:effectLst/>
          </c:spPr>
          <c:marker>
            <c:symbol val="circle"/>
            <c:size val="5"/>
            <c:spPr>
              <a:solidFill>
                <a:srgbClr val="22C55E"/>
              </a:solidFill>
              <a:ln w="12700" cap="flat">
                <a:solidFill>
                  <a:srgbClr val="22C55E"/>
                </a:solidFill>
                <a:prstDash val="solid"/>
                <a:round/>
              </a:ln>
              <a:effectLst/>
            </c:spPr>
          </c:marker>
          <c:cat>
            <c:strRef>
              <c:f>Sheet1!$A$2:$A$17</c:f>
              <c:strCache>
                <c:ptCount val="16"/>
                <c:pt idx="0">
                  <c:v>'11</c:v>
                </c:pt>
                <c:pt idx="1">
                  <c:v>'12</c:v>
                </c:pt>
                <c:pt idx="2">
                  <c:v>'13</c:v>
                </c:pt>
                <c:pt idx="3">
                  <c:v>'14</c:v>
                </c:pt>
                <c:pt idx="4">
                  <c:v>'15</c:v>
                </c:pt>
                <c:pt idx="5">
                  <c:v>'16</c:v>
                </c:pt>
                <c:pt idx="6">
                  <c:v>'17</c:v>
                </c:pt>
                <c:pt idx="7">
                  <c:v>'18</c:v>
                </c:pt>
                <c:pt idx="8">
                  <c:v>'19</c:v>
                </c:pt>
                <c:pt idx="9">
                  <c:v>'20</c:v>
                </c:pt>
                <c:pt idx="10">
                  <c:v>'21</c:v>
                </c:pt>
                <c:pt idx="11">
                  <c:v>'22</c:v>
                </c:pt>
                <c:pt idx="12">
                  <c:v>'23</c:v>
                </c:pt>
                <c:pt idx="13">
                  <c:v>'24</c:v>
                </c:pt>
                <c:pt idx="14">
                  <c:v>'25</c:v>
                </c:pt>
                <c:pt idx="15">
                  <c:v>'26</c:v>
                </c:pt>
              </c:strCache>
            </c:strRef>
          </c:cat>
          <c:val>
            <c:numRef>
              <c:f>Sheet1!$B$2:$B$17</c:f>
              <c:numCache>
                <c:formatCode>General</c:formatCode>
                <c:ptCount val="16"/>
                <c:pt idx="0">
                  <c:v>16</c:v>
                </c:pt>
                <c:pt idx="1">
                  <c:v>22</c:v>
                </c:pt>
                <c:pt idx="2">
                  <c:v>33</c:v>
                </c:pt>
                <c:pt idx="3">
                  <c:v>49</c:v>
                </c:pt>
                <c:pt idx="4">
                  <c:v>65</c:v>
                </c:pt>
                <c:pt idx="5">
                  <c:v>70</c:v>
                </c:pt>
                <c:pt idx="6">
                  <c:v>53</c:v>
                </c:pt>
                <c:pt idx="7">
                  <c:v>47</c:v>
                </c:pt>
                <c:pt idx="8">
                  <c:v>53</c:v>
                </c:pt>
                <c:pt idx="9">
                  <c:v>58</c:v>
                </c:pt>
                <c:pt idx="10">
                  <c:v>64</c:v>
                </c:pt>
                <c:pt idx="11">
                  <c:v>72</c:v>
                </c:pt>
                <c:pt idx="12">
                  <c:v>70</c:v>
                </c:pt>
                <c:pt idx="13">
                  <c:v>73</c:v>
                </c:pt>
                <c:pt idx="14">
                  <c:v>71</c:v>
                </c:pt>
                <c:pt idx="15">
                  <c:v>70</c:v>
                </c:pt>
              </c:numCache>
            </c:numRef>
          </c:val>
          <c:smooth val="0"/>
          <c:extLst>
            <c:ext xmlns:c16="http://schemas.microsoft.com/office/drawing/2014/chart" uri="{C3380CC4-5D6E-409C-BE32-E72D297353CC}">
              <c16:uniqueId val="{00000000-13A6-45EB-8184-AD245C8F8BF3}"/>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t"/>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94A3B8"/>
                </a:solidFill>
                <a:latin typeface="Calibri"/>
              </a:defRPr>
            </a:pPr>
            <a:endParaRPr lang="en-US"/>
          </a:p>
        </c:txPr>
        <c:crossAx val="2094734552"/>
        <c:crosses val="autoZero"/>
        <c:auto val="1"/>
        <c:lblAlgn val="ctr"/>
        <c:lblOffset val="100"/>
        <c:noMultiLvlLbl val="1"/>
      </c:catAx>
      <c:valAx>
        <c:axId val="2094734552"/>
        <c:scaling>
          <c:orientation val="maxMin"/>
          <c:max val="84"/>
          <c:min val="0"/>
        </c:scaling>
        <c:delete val="0"/>
        <c:axPos val="l"/>
        <c:majorGridlines>
          <c:spPr>
            <a:ln w="6350" cap="flat">
              <a:solidFill>
                <a:srgbClr val="243049"/>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94A3B8"/>
                </a:solidFill>
                <a:latin typeface="Calibri"/>
              </a:defRPr>
            </a:pPr>
            <a:endParaRPr lang="en-US"/>
          </a:p>
        </c:txPr>
        <c:crossAx val="2094734554"/>
        <c:crosses val="autoZero"/>
        <c:crossBetween val="between"/>
      </c:valAx>
      <c:spPr>
        <a:solidFill>
          <a:srgbClr val="0A0F1C"/>
        </a:solidFill>
        <a:ln>
          <a:noFill/>
        </a:ln>
        <a:effectLst/>
      </c:spPr>
    </c:plotArea>
    <c:plotVisOnly val="1"/>
    <c:dispBlanksAs val="span"/>
    <c:showDLblsOverMax val="1"/>
  </c:chart>
  <c:spPr>
    <a:solidFill>
      <a:srgbClr val="0A0F1C"/>
    </a:solidFill>
    <a:ln w="12700" cap="flat">
      <a:solidFill>
        <a:srgbClr val="0A0F1C"/>
      </a:solid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UEFA</c:v>
                </c:pt>
              </c:strCache>
            </c:strRef>
          </c:tx>
          <c:spPr>
            <a:ln w="31750" cap="flat">
              <a:solidFill>
                <a:srgbClr val="22C55E"/>
              </a:solidFill>
              <a:prstDash val="solid"/>
              <a:round/>
            </a:ln>
            <a:effectLst/>
          </c:spPr>
          <c:marker>
            <c:symbol val="circle"/>
            <c:size val="5"/>
            <c:spPr>
              <a:solidFill>
                <a:srgbClr val="22C55E"/>
              </a:solidFill>
              <a:ln w="12700" cap="flat">
                <a:solidFill>
                  <a:srgbClr val="22C55E"/>
                </a:solidFill>
                <a:prstDash val="solid"/>
                <a:round/>
              </a:ln>
              <a:effectLst/>
            </c:spPr>
          </c:marker>
          <c:cat>
            <c:strRef>
              <c:f>Sheet1!$A$2:$A$17</c:f>
              <c:strCache>
                <c:ptCount val="16"/>
                <c:pt idx="0">
                  <c:v>'11</c:v>
                </c:pt>
                <c:pt idx="1">
                  <c:v>'12</c:v>
                </c:pt>
                <c:pt idx="2">
                  <c:v>'13</c:v>
                </c:pt>
                <c:pt idx="3">
                  <c:v>'14</c:v>
                </c:pt>
                <c:pt idx="4">
                  <c:v>'15</c:v>
                </c:pt>
                <c:pt idx="5">
                  <c:v>'16</c:v>
                </c:pt>
                <c:pt idx="6">
                  <c:v>'17</c:v>
                </c:pt>
                <c:pt idx="7">
                  <c:v>'18</c:v>
                </c:pt>
                <c:pt idx="8">
                  <c:v>'19</c:v>
                </c:pt>
                <c:pt idx="9">
                  <c:v>'20</c:v>
                </c:pt>
                <c:pt idx="10">
                  <c:v>'21</c:v>
                </c:pt>
                <c:pt idx="11">
                  <c:v>'22</c:v>
                </c:pt>
                <c:pt idx="12">
                  <c:v>'23</c:v>
                </c:pt>
                <c:pt idx="13">
                  <c:v>'24</c:v>
                </c:pt>
                <c:pt idx="14">
                  <c:v>'25</c:v>
                </c:pt>
                <c:pt idx="15">
                  <c:v>'26</c:v>
                </c:pt>
              </c:strCache>
            </c:strRef>
          </c:cat>
          <c:val>
            <c:numRef>
              <c:f>Sheet1!$B$2:$B$17</c:f>
              <c:numCache>
                <c:formatCode>General</c:formatCode>
                <c:ptCount val="16"/>
                <c:pt idx="0">
                  <c:v>47</c:v>
                </c:pt>
                <c:pt idx="1">
                  <c:v>46</c:v>
                </c:pt>
                <c:pt idx="2">
                  <c:v>45</c:v>
                </c:pt>
                <c:pt idx="3">
                  <c:v>47</c:v>
                </c:pt>
                <c:pt idx="4">
                  <c:v>48</c:v>
                </c:pt>
                <c:pt idx="5">
                  <c:v>49</c:v>
                </c:pt>
                <c:pt idx="6">
                  <c:v>50</c:v>
                </c:pt>
                <c:pt idx="7">
                  <c:v>51</c:v>
                </c:pt>
                <c:pt idx="8">
                  <c:v>52</c:v>
                </c:pt>
                <c:pt idx="9">
                  <c:v>51</c:v>
                </c:pt>
                <c:pt idx="10">
                  <c:v>50</c:v>
                </c:pt>
                <c:pt idx="11">
                  <c:v>50</c:v>
                </c:pt>
                <c:pt idx="12">
                  <c:v>51</c:v>
                </c:pt>
                <c:pt idx="13">
                  <c:v>52</c:v>
                </c:pt>
                <c:pt idx="14">
                  <c:v>52</c:v>
                </c:pt>
                <c:pt idx="15">
                  <c:v>52</c:v>
                </c:pt>
              </c:numCache>
            </c:numRef>
          </c:val>
          <c:smooth val="0"/>
          <c:extLst>
            <c:ext xmlns:c16="http://schemas.microsoft.com/office/drawing/2014/chart" uri="{C3380CC4-5D6E-409C-BE32-E72D297353CC}">
              <c16:uniqueId val="{00000000-FA6C-4D08-86D0-63E711DE12ED}"/>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t"/>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94A3B8"/>
                </a:solidFill>
                <a:latin typeface="Calibri"/>
              </a:defRPr>
            </a:pPr>
            <a:endParaRPr lang="en-US"/>
          </a:p>
        </c:txPr>
        <c:crossAx val="2094734552"/>
        <c:crosses val="autoZero"/>
        <c:auto val="1"/>
        <c:lblAlgn val="ctr"/>
        <c:lblOffset val="100"/>
        <c:noMultiLvlLbl val="1"/>
      </c:catAx>
      <c:valAx>
        <c:axId val="2094734552"/>
        <c:scaling>
          <c:orientation val="maxMin"/>
          <c:max val="53"/>
          <c:min val="44"/>
        </c:scaling>
        <c:delete val="0"/>
        <c:axPos val="l"/>
        <c:majorGridlines>
          <c:spPr>
            <a:ln w="6350" cap="flat">
              <a:solidFill>
                <a:srgbClr val="243049"/>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94A3B8"/>
                </a:solidFill>
                <a:latin typeface="Calibri"/>
              </a:defRPr>
            </a:pPr>
            <a:endParaRPr lang="en-US"/>
          </a:p>
        </c:txPr>
        <c:crossAx val="2094734554"/>
        <c:crosses val="autoZero"/>
        <c:crossBetween val="between"/>
      </c:valAx>
      <c:spPr>
        <a:solidFill>
          <a:srgbClr val="0A0F1C"/>
        </a:solidFill>
        <a:ln>
          <a:noFill/>
        </a:ln>
        <a:effectLst/>
      </c:spPr>
    </c:plotArea>
    <c:plotVisOnly val="1"/>
    <c:dispBlanksAs val="span"/>
    <c:showDLblsOverMax val="1"/>
  </c:chart>
  <c:spPr>
    <a:solidFill>
      <a:srgbClr val="0A0F1C"/>
    </a:solidFill>
    <a:ln w="12700" cap="flat">
      <a:solidFill>
        <a:srgbClr val="0A0F1C"/>
      </a:solid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079235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chart" Target="../charts/char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F1C"/>
        </a:solidFill>
        <a:effectLst/>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22C55E"/>
          </a:solidFill>
          <a:ln w="12700">
            <a:solidFill>
              <a:srgbClr val="22C55E"/>
            </a:solidFill>
            <a:prstDash val="solid"/>
          </a:ln>
        </p:spPr>
        <p:txBody>
          <a:bodyPr/>
          <a:lstStyle/>
          <a:p>
            <a:endParaRPr/>
          </a:p>
        </p:txBody>
      </p:sp>
      <p:sp>
        <p:nvSpPr>
          <p:cNvPr id="3" name="Text 1"/>
          <p:cNvSpPr/>
          <p:nvPr/>
        </p:nvSpPr>
        <p:spPr>
          <a:xfrm>
            <a:off x="640080" y="1280160"/>
            <a:ext cx="7315200" cy="274320"/>
          </a:xfrm>
          <a:prstGeom prst="rect">
            <a:avLst/>
          </a:prstGeom>
          <a:noFill/>
          <a:ln/>
        </p:spPr>
        <p:txBody>
          <a:bodyPr wrap="square" lIns="0" tIns="0" rIns="0" bIns="0" rtlCol="0" anchor="ctr"/>
          <a:lstStyle/>
          <a:p>
            <a:pPr marL="0" indent="0">
              <a:buNone/>
            </a:pPr>
            <a:r>
              <a:rPr lang="en-US" sz="1100" b="1" kern="0" spc="600" dirty="0">
                <a:solidFill>
                  <a:srgbClr val="22C55E"/>
                </a:solidFill>
                <a:latin typeface="Calibri" pitchFamily="34" charset="0"/>
                <a:ea typeface="Calibri" pitchFamily="34" charset="-122"/>
                <a:cs typeface="Calibri" pitchFamily="34" charset="-120"/>
              </a:rPr>
              <a:t>PREDLOG · APRIL 2026</a:t>
            </a:r>
            <a:endParaRPr lang="en-US" sz="1100" dirty="0"/>
          </a:p>
        </p:txBody>
      </p:sp>
      <p:sp>
        <p:nvSpPr>
          <p:cNvPr id="4" name="Text 2"/>
          <p:cNvSpPr/>
          <p:nvPr/>
        </p:nvSpPr>
        <p:spPr>
          <a:xfrm>
            <a:off x="640080" y="1691640"/>
            <a:ext cx="7863840" cy="1645920"/>
          </a:xfrm>
          <a:prstGeom prst="rect">
            <a:avLst/>
          </a:prstGeom>
          <a:noFill/>
          <a:ln/>
        </p:spPr>
        <p:txBody>
          <a:bodyPr wrap="square" lIns="0" tIns="0" rIns="0" bIns="0" rtlCol="0" anchor="ctr"/>
          <a:lstStyle/>
          <a:p>
            <a:pPr marL="0" indent="0">
              <a:buNone/>
            </a:pPr>
            <a:r>
              <a:rPr lang="en-US" sz="4400" b="1" dirty="0">
                <a:solidFill>
                  <a:srgbClr val="F8FAFC"/>
                </a:solidFill>
                <a:latin typeface="Calibri" pitchFamily="34" charset="0"/>
                <a:ea typeface="Calibri" pitchFamily="34" charset="-122"/>
                <a:cs typeface="Calibri" pitchFamily="34" charset="-120"/>
              </a:rPr>
              <a:t>Analitika podataka za</a:t>
            </a:r>
            <a:endParaRPr lang="en-US" sz="4400" dirty="0"/>
          </a:p>
          <a:p>
            <a:pPr marL="0" indent="0">
              <a:buNone/>
            </a:pPr>
            <a:r>
              <a:rPr lang="en-US" sz="4400" b="1" dirty="0">
                <a:solidFill>
                  <a:srgbClr val="F8FAFC"/>
                </a:solidFill>
                <a:latin typeface="Calibri" pitchFamily="34" charset="0"/>
                <a:ea typeface="Calibri" pitchFamily="34" charset="-122"/>
                <a:cs typeface="Calibri" pitchFamily="34" charset="-120"/>
              </a:rPr>
              <a:t>crnogorski fudbal</a:t>
            </a:r>
            <a:endParaRPr lang="en-US" sz="4400" dirty="0"/>
          </a:p>
        </p:txBody>
      </p:sp>
      <p:sp>
        <p:nvSpPr>
          <p:cNvPr id="5" name="Text 3"/>
          <p:cNvSpPr/>
          <p:nvPr/>
        </p:nvSpPr>
        <p:spPr>
          <a:xfrm>
            <a:off x="640080" y="3383280"/>
            <a:ext cx="7863840" cy="822960"/>
          </a:xfrm>
          <a:prstGeom prst="rect">
            <a:avLst/>
          </a:prstGeom>
          <a:noFill/>
          <a:ln/>
        </p:spPr>
        <p:txBody>
          <a:bodyPr wrap="square" lIns="0" tIns="0" rIns="0" bIns="0" rtlCol="0" anchor="ctr"/>
          <a:lstStyle/>
          <a:p>
            <a:pPr marL="0" indent="0">
              <a:buNone/>
            </a:pPr>
            <a:r>
              <a:rPr lang="en-US" sz="1600" i="1" dirty="0" err="1">
                <a:solidFill>
                  <a:srgbClr val="94A3B8"/>
                </a:solidFill>
                <a:latin typeface="Calibri" pitchFamily="34" charset="0"/>
                <a:ea typeface="Calibri" pitchFamily="34" charset="-122"/>
                <a:cs typeface="Calibri" pitchFamily="34" charset="-120"/>
              </a:rPr>
              <a:t>Predlog da izgradimo tehničku bazu za crnogorski fudbal i dignemo naš fudbal na veći nivo</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0F1C"/>
        </a:solidFill>
        <a:effectLst/>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22C55E"/>
          </a:solidFill>
          <a:ln w="12700">
            <a:solidFill>
              <a:srgbClr val="22C55E"/>
            </a:solidFill>
            <a:prstDash val="solid"/>
          </a:ln>
        </p:spPr>
        <p:txBody>
          <a:bodyPr/>
          <a:lstStyle/>
          <a:p>
            <a:endParaRPr/>
          </a:p>
        </p:txBody>
      </p:sp>
      <p:sp>
        <p:nvSpPr>
          <p:cNvPr id="6" name="Text 3"/>
          <p:cNvSpPr/>
          <p:nvPr/>
        </p:nvSpPr>
        <p:spPr>
          <a:xfrm>
            <a:off x="640080" y="783771"/>
            <a:ext cx="5120640" cy="685800"/>
          </a:xfrm>
          <a:prstGeom prst="rect">
            <a:avLst/>
          </a:prstGeom>
          <a:noFill/>
          <a:ln/>
        </p:spPr>
        <p:txBody>
          <a:bodyPr wrap="square" lIns="0" tIns="0" rIns="0" bIns="0" rtlCol="0" anchor="ctr"/>
          <a:lstStyle/>
          <a:p>
            <a:pPr marL="0" indent="0">
              <a:buNone/>
            </a:pPr>
            <a:r>
              <a:rPr lang="en-US" sz="3600" b="1" dirty="0">
                <a:solidFill>
                  <a:srgbClr val="F8FAFC"/>
                </a:solidFill>
                <a:latin typeface="Calibri" pitchFamily="34" charset="0"/>
                <a:ea typeface="Calibri" pitchFamily="34" charset="-122"/>
                <a:cs typeface="Calibri" pitchFamily="34" charset="-120"/>
              </a:rPr>
              <a:t>Pavle Savković</a:t>
            </a:r>
            <a:endParaRPr lang="en-US" sz="3600" dirty="0"/>
          </a:p>
        </p:txBody>
      </p:sp>
      <p:sp>
        <p:nvSpPr>
          <p:cNvPr id="7" name="Shape 4"/>
          <p:cNvSpPr/>
          <p:nvPr/>
        </p:nvSpPr>
        <p:spPr>
          <a:xfrm>
            <a:off x="690256" y="1611956"/>
            <a:ext cx="1371600" cy="0"/>
          </a:xfrm>
          <a:prstGeom prst="line">
            <a:avLst/>
          </a:prstGeom>
          <a:noFill/>
          <a:ln w="25400">
            <a:solidFill>
              <a:srgbClr val="22C55E"/>
            </a:solidFill>
            <a:prstDash val="solid"/>
          </a:ln>
        </p:spPr>
        <p:txBody>
          <a:bodyPr/>
          <a:lstStyle/>
          <a:p>
            <a:endParaRPr/>
          </a:p>
        </p:txBody>
      </p:sp>
      <p:sp>
        <p:nvSpPr>
          <p:cNvPr id="8" name="Shape 5"/>
          <p:cNvSpPr/>
          <p:nvPr/>
        </p:nvSpPr>
        <p:spPr>
          <a:xfrm>
            <a:off x="640080" y="2084832"/>
            <a:ext cx="128016" cy="128016"/>
          </a:xfrm>
          <a:prstGeom prst="line">
            <a:avLst/>
          </a:prstGeom>
          <a:solidFill>
            <a:srgbClr val="22C55E"/>
          </a:solidFill>
          <a:ln w="12700">
            <a:solidFill>
              <a:srgbClr val="22C55E"/>
            </a:solidFill>
            <a:prstDash val="solid"/>
          </a:ln>
        </p:spPr>
        <p:txBody>
          <a:bodyPr/>
          <a:lstStyle/>
          <a:p>
            <a:endParaRPr/>
          </a:p>
        </p:txBody>
      </p:sp>
      <p:sp>
        <p:nvSpPr>
          <p:cNvPr id="9" name="Text 6"/>
          <p:cNvSpPr/>
          <p:nvPr/>
        </p:nvSpPr>
        <p:spPr>
          <a:xfrm>
            <a:off x="960120" y="1993392"/>
            <a:ext cx="4754880" cy="274320"/>
          </a:xfrm>
          <a:prstGeom prst="rect">
            <a:avLst/>
          </a:prstGeom>
          <a:noFill/>
          <a:ln/>
        </p:spPr>
        <p:txBody>
          <a:bodyPr wrap="square" lIns="0" tIns="0" rIns="0" bIns="0" rtlCol="0" anchor="ctr"/>
          <a:lstStyle/>
          <a:p>
            <a:pPr marL="0" indent="0">
              <a:buNone/>
            </a:pPr>
            <a:r>
              <a:rPr lang="en-US" sz="1400" b="1" dirty="0" err="1">
                <a:solidFill>
                  <a:srgbClr val="F8FAFC"/>
                </a:solidFill>
                <a:latin typeface="Calibri" pitchFamily="34" charset="0"/>
                <a:ea typeface="Calibri" pitchFamily="34" charset="-122"/>
                <a:cs typeface="Calibri" pitchFamily="34" charset="-120"/>
              </a:rPr>
              <a:t>Bivši</a:t>
            </a:r>
            <a:r>
              <a:rPr lang="en-US" sz="1400" b="1" dirty="0">
                <a:solidFill>
                  <a:srgbClr val="F8FAFC"/>
                </a:solidFill>
                <a:latin typeface="Calibri" pitchFamily="34" charset="0"/>
                <a:ea typeface="Calibri" pitchFamily="34" charset="-122"/>
                <a:cs typeface="Calibri" pitchFamily="34" charset="-120"/>
              </a:rPr>
              <a:t> </a:t>
            </a:r>
            <a:r>
              <a:rPr lang="en-US" sz="1400" b="1" dirty="0" err="1">
                <a:solidFill>
                  <a:srgbClr val="F8FAFC"/>
                </a:solidFill>
                <a:latin typeface="Calibri" pitchFamily="34" charset="0"/>
                <a:ea typeface="Calibri" pitchFamily="34" charset="-122"/>
                <a:cs typeface="Calibri" pitchFamily="34" charset="-120"/>
              </a:rPr>
              <a:t>fudbaler</a:t>
            </a:r>
            <a:endParaRPr lang="en-US" sz="1400" dirty="0"/>
          </a:p>
        </p:txBody>
      </p:sp>
      <p:sp>
        <p:nvSpPr>
          <p:cNvPr id="10" name="Text 7"/>
          <p:cNvSpPr/>
          <p:nvPr/>
        </p:nvSpPr>
        <p:spPr>
          <a:xfrm>
            <a:off x="960120" y="2286000"/>
            <a:ext cx="6645750" cy="384048"/>
          </a:xfrm>
          <a:prstGeom prst="rect">
            <a:avLst/>
          </a:prstGeom>
          <a:noFill/>
          <a:ln/>
        </p:spPr>
        <p:txBody>
          <a:bodyPr wrap="square" lIns="0" tIns="0" rIns="0" bIns="0" rtlCol="0" anchor="ctr"/>
          <a:lstStyle/>
          <a:p>
            <a:r>
              <a:rPr lang="en-US" sz="1100" dirty="0" err="1">
                <a:solidFill>
                  <a:srgbClr val="94A3B8"/>
                </a:solidFill>
                <a:latin typeface="Calibri" pitchFamily="34" charset="0"/>
                <a:ea typeface="Calibri" pitchFamily="34" charset="-122"/>
                <a:cs typeface="Calibri" pitchFamily="34" charset="-120"/>
              </a:rPr>
              <a:t>Igrao</a:t>
            </a:r>
            <a:r>
              <a:rPr lang="en-US" sz="1100" dirty="0">
                <a:solidFill>
                  <a:srgbClr val="94A3B8"/>
                </a:solidFill>
                <a:latin typeface="Calibri" pitchFamily="34" charset="0"/>
                <a:ea typeface="Calibri" pitchFamily="34" charset="-122"/>
                <a:cs typeface="Calibri" pitchFamily="34" charset="-120"/>
              </a:rPr>
              <a:t> </a:t>
            </a:r>
            <a:r>
              <a:rPr lang="en-US" sz="1100" dirty="0" err="1">
                <a:solidFill>
                  <a:srgbClr val="94A3B8"/>
                </a:solidFill>
                <a:latin typeface="Calibri" pitchFamily="34" charset="0"/>
                <a:ea typeface="Calibri" pitchFamily="34" charset="-122"/>
                <a:cs typeface="Calibri" pitchFamily="34" charset="-120"/>
              </a:rPr>
              <a:t>sam</a:t>
            </a:r>
            <a:r>
              <a:rPr lang="en-US" sz="1100" dirty="0">
                <a:solidFill>
                  <a:srgbClr val="94A3B8"/>
                </a:solidFill>
                <a:latin typeface="Calibri" pitchFamily="34" charset="0"/>
                <a:ea typeface="Calibri" pitchFamily="34" charset="-122"/>
                <a:cs typeface="Calibri" pitchFamily="34" charset="-120"/>
              </a:rPr>
              <a:t> u prvoj i drugoj crnogorskoj ligi. Znam kako funkcioniše sistem </a:t>
            </a:r>
            <a:r>
              <a:rPr lang="en-US" sz="1100" dirty="0" err="1">
                <a:solidFill>
                  <a:srgbClr val="94A3B8"/>
                </a:solidFill>
                <a:latin typeface="Calibri" pitchFamily="34" charset="0"/>
                <a:ea typeface="Calibri" pitchFamily="34" charset="-122"/>
                <a:cs typeface="Calibri" pitchFamily="34" charset="-120"/>
              </a:rPr>
              <a:t>i</a:t>
            </a:r>
            <a:r>
              <a:rPr lang="en-US" sz="1100" dirty="0">
                <a:solidFill>
                  <a:srgbClr val="94A3B8"/>
                </a:solidFill>
                <a:latin typeface="Calibri" pitchFamily="34" charset="0"/>
                <a:ea typeface="Calibri" pitchFamily="34" charset="-122"/>
                <a:cs typeface="Calibri" pitchFamily="34" charset="-120"/>
              </a:rPr>
              <a:t> </a:t>
            </a:r>
            <a:r>
              <a:rPr lang="en-US" sz="1100" dirty="0" err="1">
                <a:solidFill>
                  <a:srgbClr val="94A3B8"/>
                </a:solidFill>
                <a:latin typeface="Calibri" pitchFamily="34" charset="0"/>
                <a:ea typeface="Calibri" pitchFamily="34" charset="-122"/>
                <a:cs typeface="Calibri" pitchFamily="34" charset="-120"/>
              </a:rPr>
              <a:t>naš</a:t>
            </a:r>
            <a:r>
              <a:rPr lang="en-US" sz="1100" dirty="0">
                <a:solidFill>
                  <a:srgbClr val="94A3B8"/>
                </a:solidFill>
                <a:latin typeface="Calibri" pitchFamily="34" charset="0"/>
                <a:ea typeface="Calibri" pitchFamily="34" charset="-122"/>
                <a:cs typeface="Calibri" pitchFamily="34" charset="-120"/>
              </a:rPr>
              <a:t> fudbal.</a:t>
            </a:r>
            <a:endParaRPr lang="en-US" sz="1100" dirty="0"/>
          </a:p>
        </p:txBody>
      </p:sp>
      <p:sp>
        <p:nvSpPr>
          <p:cNvPr id="11" name="Shape 8"/>
          <p:cNvSpPr/>
          <p:nvPr/>
        </p:nvSpPr>
        <p:spPr>
          <a:xfrm>
            <a:off x="640080" y="2889504"/>
            <a:ext cx="128016" cy="128016"/>
          </a:xfrm>
          <a:prstGeom prst="line">
            <a:avLst/>
          </a:prstGeom>
          <a:solidFill>
            <a:srgbClr val="22C55E"/>
          </a:solidFill>
          <a:ln w="12700">
            <a:solidFill>
              <a:srgbClr val="22C55E"/>
            </a:solidFill>
            <a:prstDash val="solid"/>
          </a:ln>
        </p:spPr>
        <p:txBody>
          <a:bodyPr/>
          <a:lstStyle/>
          <a:p>
            <a:endParaRPr/>
          </a:p>
        </p:txBody>
      </p:sp>
      <p:sp>
        <p:nvSpPr>
          <p:cNvPr id="12" name="Text 9"/>
          <p:cNvSpPr/>
          <p:nvPr/>
        </p:nvSpPr>
        <p:spPr>
          <a:xfrm>
            <a:off x="960120" y="2798064"/>
            <a:ext cx="4754880" cy="274320"/>
          </a:xfrm>
          <a:prstGeom prst="rect">
            <a:avLst/>
          </a:prstGeom>
          <a:noFill/>
          <a:ln/>
        </p:spPr>
        <p:txBody>
          <a:bodyPr wrap="square" lIns="0" tIns="0" rIns="0" bIns="0" rtlCol="0" anchor="ctr"/>
          <a:lstStyle/>
          <a:p>
            <a:r>
              <a:rPr lang="en-US" sz="1400" b="1" dirty="0" err="1">
                <a:solidFill>
                  <a:srgbClr val="F8FAFC"/>
                </a:solidFill>
                <a:latin typeface="Calibri" pitchFamily="34" charset="0"/>
                <a:ea typeface="Calibri" pitchFamily="34" charset="-122"/>
                <a:cs typeface="Calibri" pitchFamily="34" charset="-120"/>
              </a:rPr>
              <a:t>Završen</a:t>
            </a:r>
            <a:r>
              <a:rPr lang="en-US" sz="1400" b="1" dirty="0">
                <a:solidFill>
                  <a:srgbClr val="F8FAFC"/>
                </a:solidFill>
                <a:latin typeface="Calibri" pitchFamily="34" charset="0"/>
                <a:ea typeface="Calibri" pitchFamily="34" charset="-122"/>
                <a:cs typeface="Calibri" pitchFamily="34" charset="-120"/>
              </a:rPr>
              <a:t> Master u </a:t>
            </a:r>
            <a:r>
              <a:rPr lang="en-US" sz="1400" b="1" dirty="0" err="1">
                <a:solidFill>
                  <a:srgbClr val="F8FAFC"/>
                </a:solidFill>
                <a:latin typeface="Calibri" pitchFamily="34" charset="0"/>
                <a:ea typeface="Calibri" pitchFamily="34" charset="-122"/>
                <a:cs typeface="Calibri" pitchFamily="34" charset="-120"/>
              </a:rPr>
              <a:t>Austriji</a:t>
            </a:r>
            <a:r>
              <a:rPr lang="en-US" sz="1400" b="1" dirty="0">
                <a:solidFill>
                  <a:srgbClr val="F8FAFC"/>
                </a:solidFill>
                <a:latin typeface="Calibri" pitchFamily="34" charset="0"/>
                <a:ea typeface="Calibri" pitchFamily="34" charset="-122"/>
                <a:cs typeface="Calibri" pitchFamily="34" charset="-120"/>
              </a:rPr>
              <a:t> — </a:t>
            </a:r>
            <a:r>
              <a:rPr lang="en-US" sz="1400" b="1" dirty="0" err="1">
                <a:solidFill>
                  <a:srgbClr val="F8FAFC"/>
                </a:solidFill>
                <a:latin typeface="Calibri" pitchFamily="34" charset="0"/>
                <a:ea typeface="Calibri" pitchFamily="34" charset="-122"/>
                <a:cs typeface="Calibri" pitchFamily="34" charset="-120"/>
              </a:rPr>
              <a:t>Tehnicki</a:t>
            </a:r>
            <a:r>
              <a:rPr lang="en-US" sz="1400" b="1" dirty="0">
                <a:solidFill>
                  <a:srgbClr val="F8FAFC"/>
                </a:solidFill>
                <a:latin typeface="Calibri" pitchFamily="34" charset="0"/>
                <a:ea typeface="Calibri" pitchFamily="34" charset="-122"/>
                <a:cs typeface="Calibri" pitchFamily="34" charset="-120"/>
              </a:rPr>
              <a:t> </a:t>
            </a:r>
            <a:r>
              <a:rPr lang="en-US" sz="1400" b="1" dirty="0" err="1">
                <a:solidFill>
                  <a:srgbClr val="F8FAFC"/>
                </a:solidFill>
                <a:latin typeface="Calibri" pitchFamily="34" charset="0"/>
                <a:ea typeface="Calibri" pitchFamily="34" charset="-122"/>
                <a:cs typeface="Calibri" pitchFamily="34" charset="-120"/>
              </a:rPr>
              <a:t>Univerzitet</a:t>
            </a:r>
            <a:r>
              <a:rPr lang="en-US" sz="1400" b="1" dirty="0">
                <a:solidFill>
                  <a:srgbClr val="F8FAFC"/>
                </a:solidFill>
                <a:latin typeface="Calibri" pitchFamily="34" charset="0"/>
                <a:ea typeface="Calibri" pitchFamily="34" charset="-122"/>
                <a:cs typeface="Calibri" pitchFamily="34" charset="-120"/>
              </a:rPr>
              <a:t> Graz</a:t>
            </a:r>
            <a:endParaRPr lang="en-US" sz="1400" dirty="0"/>
          </a:p>
        </p:txBody>
      </p:sp>
      <p:sp>
        <p:nvSpPr>
          <p:cNvPr id="13" name="Text 10"/>
          <p:cNvSpPr/>
          <p:nvPr/>
        </p:nvSpPr>
        <p:spPr>
          <a:xfrm>
            <a:off x="960120" y="3090672"/>
            <a:ext cx="4754880" cy="384048"/>
          </a:xfrm>
          <a:prstGeom prst="rect">
            <a:avLst/>
          </a:prstGeom>
          <a:noFill/>
          <a:ln/>
        </p:spPr>
        <p:txBody>
          <a:bodyPr wrap="square" lIns="0" tIns="0" rIns="0" bIns="0" rtlCol="0" anchor="ctr"/>
          <a:lstStyle/>
          <a:p>
            <a:pPr marL="0" indent="0">
              <a:buNone/>
            </a:pPr>
            <a:r>
              <a:rPr lang="en-US" sz="1100" dirty="0">
                <a:solidFill>
                  <a:srgbClr val="94A3B8"/>
                </a:solidFill>
                <a:latin typeface="Calibri" pitchFamily="34" charset="0"/>
                <a:ea typeface="Calibri" pitchFamily="34" charset="-122"/>
                <a:cs typeface="Calibri" pitchFamily="34" charset="-120"/>
              </a:rPr>
              <a:t>Specijalizacija iz mašinskog učenja i nauke o </a:t>
            </a:r>
            <a:r>
              <a:rPr lang="en-US" sz="1100" dirty="0" err="1">
                <a:solidFill>
                  <a:srgbClr val="94A3B8"/>
                </a:solidFill>
                <a:latin typeface="Calibri" pitchFamily="34" charset="0"/>
                <a:ea typeface="Calibri" pitchFamily="34" charset="-122"/>
                <a:cs typeface="Calibri" pitchFamily="34" charset="-120"/>
              </a:rPr>
              <a:t>podacima</a:t>
            </a:r>
            <a:r>
              <a:rPr lang="en-US" sz="1100" dirty="0">
                <a:solidFill>
                  <a:srgbClr val="94A3B8"/>
                </a:solidFill>
                <a:latin typeface="Calibri" pitchFamily="34" charset="0"/>
                <a:ea typeface="Calibri" pitchFamily="34" charset="-122"/>
                <a:cs typeface="Calibri" pitchFamily="34" charset="-120"/>
              </a:rPr>
              <a:t>.</a:t>
            </a:r>
            <a:endParaRPr lang="en-US" sz="1100" dirty="0"/>
          </a:p>
        </p:txBody>
      </p:sp>
      <p:sp>
        <p:nvSpPr>
          <p:cNvPr id="14" name="Shape 11"/>
          <p:cNvSpPr/>
          <p:nvPr/>
        </p:nvSpPr>
        <p:spPr>
          <a:xfrm>
            <a:off x="640080" y="3694176"/>
            <a:ext cx="128016" cy="128016"/>
          </a:xfrm>
          <a:prstGeom prst="line">
            <a:avLst/>
          </a:prstGeom>
          <a:solidFill>
            <a:srgbClr val="22C55E"/>
          </a:solidFill>
          <a:ln w="12700">
            <a:solidFill>
              <a:srgbClr val="22C55E"/>
            </a:solidFill>
            <a:prstDash val="solid"/>
          </a:ln>
        </p:spPr>
        <p:txBody>
          <a:bodyPr/>
          <a:lstStyle/>
          <a:p>
            <a:endParaRPr/>
          </a:p>
        </p:txBody>
      </p:sp>
      <p:sp>
        <p:nvSpPr>
          <p:cNvPr id="15" name="Text 12"/>
          <p:cNvSpPr/>
          <p:nvPr/>
        </p:nvSpPr>
        <p:spPr>
          <a:xfrm>
            <a:off x="960120" y="3602736"/>
            <a:ext cx="4754880" cy="274320"/>
          </a:xfrm>
          <a:prstGeom prst="rect">
            <a:avLst/>
          </a:prstGeom>
          <a:noFill/>
          <a:ln/>
        </p:spPr>
        <p:txBody>
          <a:bodyPr wrap="square" lIns="0" tIns="0" rIns="0" bIns="0" rtlCol="0" anchor="ctr"/>
          <a:lstStyle/>
          <a:p>
            <a:r>
              <a:rPr lang="en-US" sz="1400" b="1" dirty="0" err="1">
                <a:solidFill>
                  <a:schemeClr val="bg1">
                    <a:lumMod val="95000"/>
                  </a:schemeClr>
                </a:solidFill>
              </a:rPr>
              <a:t>Izgradnja</a:t>
            </a:r>
            <a:r>
              <a:rPr lang="en-US" sz="1400" b="1" dirty="0">
                <a:solidFill>
                  <a:schemeClr val="bg1">
                    <a:lumMod val="95000"/>
                  </a:schemeClr>
                </a:solidFill>
              </a:rPr>
              <a:t> </a:t>
            </a:r>
            <a:r>
              <a:rPr lang="en-US" sz="1400" b="1" dirty="0" err="1">
                <a:solidFill>
                  <a:schemeClr val="bg1">
                    <a:lumMod val="95000"/>
                  </a:schemeClr>
                </a:solidFill>
              </a:rPr>
              <a:t>prve</a:t>
            </a:r>
            <a:r>
              <a:rPr lang="en-US" sz="1400" b="1" dirty="0">
                <a:solidFill>
                  <a:schemeClr val="bg1">
                    <a:lumMod val="95000"/>
                  </a:schemeClr>
                </a:solidFill>
              </a:rPr>
              <a:t> </a:t>
            </a:r>
            <a:r>
              <a:rPr lang="en-US" sz="1400" b="1" dirty="0" err="1">
                <a:solidFill>
                  <a:schemeClr val="bg1">
                    <a:lumMod val="95000"/>
                  </a:schemeClr>
                </a:solidFill>
              </a:rPr>
              <a:t>infrastrukture</a:t>
            </a:r>
            <a:r>
              <a:rPr lang="en-US" sz="1400" b="1" dirty="0">
                <a:solidFill>
                  <a:schemeClr val="bg1">
                    <a:lumMod val="95000"/>
                  </a:schemeClr>
                </a:solidFill>
              </a:rPr>
              <a:t> </a:t>
            </a:r>
            <a:r>
              <a:rPr lang="en-US" sz="1400" b="1" dirty="0" err="1">
                <a:solidFill>
                  <a:schemeClr val="bg1">
                    <a:lumMod val="95000"/>
                  </a:schemeClr>
                </a:solidFill>
              </a:rPr>
              <a:t>podataka</a:t>
            </a:r>
            <a:r>
              <a:rPr lang="en-US" sz="1400" b="1" dirty="0">
                <a:solidFill>
                  <a:schemeClr val="bg1">
                    <a:lumMod val="95000"/>
                  </a:schemeClr>
                </a:solidFill>
              </a:rPr>
              <a:t> za </a:t>
            </a:r>
            <a:r>
              <a:rPr lang="en-US" sz="1400" b="1" dirty="0" err="1">
                <a:solidFill>
                  <a:schemeClr val="bg1">
                    <a:lumMod val="95000"/>
                  </a:schemeClr>
                </a:solidFill>
              </a:rPr>
              <a:t>crnogorski</a:t>
            </a:r>
            <a:r>
              <a:rPr lang="en-US" sz="1400" b="1" dirty="0">
                <a:solidFill>
                  <a:schemeClr val="bg1">
                    <a:lumMod val="95000"/>
                  </a:schemeClr>
                </a:solidFill>
              </a:rPr>
              <a:t> </a:t>
            </a:r>
            <a:r>
              <a:rPr lang="en-US" sz="1400" b="1" dirty="0" err="1">
                <a:solidFill>
                  <a:schemeClr val="bg1">
                    <a:lumMod val="95000"/>
                  </a:schemeClr>
                </a:solidFill>
              </a:rPr>
              <a:t>fudbal</a:t>
            </a:r>
            <a:endParaRPr lang="en-US" sz="1400" b="1" dirty="0">
              <a:solidFill>
                <a:schemeClr val="bg1">
                  <a:lumMod val="95000"/>
                </a:schemeClr>
              </a:solidFill>
            </a:endParaRPr>
          </a:p>
        </p:txBody>
      </p:sp>
      <p:sp>
        <p:nvSpPr>
          <p:cNvPr id="16" name="Text 13"/>
          <p:cNvSpPr/>
          <p:nvPr/>
        </p:nvSpPr>
        <p:spPr>
          <a:xfrm>
            <a:off x="960120" y="3895344"/>
            <a:ext cx="6324802" cy="384048"/>
          </a:xfrm>
          <a:prstGeom prst="rect">
            <a:avLst/>
          </a:prstGeom>
          <a:noFill/>
          <a:ln/>
        </p:spPr>
        <p:txBody>
          <a:bodyPr wrap="square" lIns="0" tIns="0" rIns="0" bIns="0" rtlCol="0" anchor="ctr"/>
          <a:lstStyle/>
          <a:p>
            <a:pPr marL="0" indent="0">
              <a:buNone/>
            </a:pPr>
            <a:r>
              <a:rPr lang="en-US" sz="1100" dirty="0">
                <a:solidFill>
                  <a:srgbClr val="94A3B8"/>
                </a:solidFill>
                <a:latin typeface="Calibri" pitchFamily="34" charset="0"/>
                <a:ea typeface="Calibri" pitchFamily="34" charset="-122"/>
                <a:cs typeface="Calibri" pitchFamily="34" charset="-120"/>
              </a:rPr>
              <a:t>U </a:t>
            </a:r>
            <a:r>
              <a:rPr lang="en-US" sz="1100" dirty="0" err="1">
                <a:solidFill>
                  <a:srgbClr val="94A3B8"/>
                </a:solidFill>
                <a:latin typeface="Calibri" pitchFamily="34" charset="0"/>
                <a:ea typeface="Calibri" pitchFamily="34" charset="-122"/>
                <a:cs typeface="Calibri" pitchFamily="34" charset="-120"/>
              </a:rPr>
              <a:t>poslednjih</a:t>
            </a:r>
            <a:r>
              <a:rPr lang="en-US" sz="1100" dirty="0">
                <a:solidFill>
                  <a:srgbClr val="94A3B8"/>
                </a:solidFill>
                <a:latin typeface="Calibri" pitchFamily="34" charset="0"/>
                <a:ea typeface="Calibri" pitchFamily="34" charset="-122"/>
                <a:cs typeface="Calibri" pitchFamily="34" charset="-120"/>
              </a:rPr>
              <a:t> </a:t>
            </a:r>
            <a:r>
              <a:rPr lang="en-US" sz="1100" dirty="0" err="1">
                <a:solidFill>
                  <a:srgbClr val="94A3B8"/>
                </a:solidFill>
                <a:latin typeface="Calibri" pitchFamily="34" charset="0"/>
                <a:ea typeface="Calibri" pitchFamily="34" charset="-122"/>
                <a:cs typeface="Calibri" pitchFamily="34" charset="-120"/>
              </a:rPr>
              <a:t>pola</a:t>
            </a:r>
            <a:r>
              <a:rPr lang="en-US" sz="1100" dirty="0">
                <a:solidFill>
                  <a:srgbClr val="94A3B8"/>
                </a:solidFill>
                <a:latin typeface="Calibri" pitchFamily="34" charset="0"/>
                <a:ea typeface="Calibri" pitchFamily="34" charset="-122"/>
                <a:cs typeface="Calibri" pitchFamily="34" charset="-120"/>
              </a:rPr>
              <a:t> </a:t>
            </a:r>
            <a:r>
              <a:rPr lang="en-US" sz="1100" dirty="0" err="1">
                <a:solidFill>
                  <a:srgbClr val="94A3B8"/>
                </a:solidFill>
                <a:latin typeface="Calibri" pitchFamily="34" charset="0"/>
                <a:ea typeface="Calibri" pitchFamily="34" charset="-122"/>
                <a:cs typeface="Calibri" pitchFamily="34" charset="-120"/>
              </a:rPr>
              <a:t>godine</a:t>
            </a:r>
            <a:r>
              <a:rPr lang="en-US" sz="1100" dirty="0">
                <a:solidFill>
                  <a:srgbClr val="94A3B8"/>
                </a:solidFill>
                <a:latin typeface="Calibri" pitchFamily="34" charset="0"/>
                <a:ea typeface="Calibri" pitchFamily="34" charset="-122"/>
                <a:cs typeface="Calibri" pitchFamily="34" charset="-120"/>
              </a:rPr>
              <a:t> </a:t>
            </a:r>
            <a:r>
              <a:rPr lang="en-US" sz="1100" dirty="0" err="1">
                <a:solidFill>
                  <a:srgbClr val="94A3B8"/>
                </a:solidFill>
                <a:latin typeface="Calibri" pitchFamily="34" charset="0"/>
                <a:ea typeface="Calibri" pitchFamily="34" charset="-122"/>
                <a:cs typeface="Calibri" pitchFamily="34" charset="-120"/>
              </a:rPr>
              <a:t>sam</a:t>
            </a:r>
            <a:r>
              <a:rPr lang="en-US" sz="1100" dirty="0">
                <a:solidFill>
                  <a:srgbClr val="94A3B8"/>
                </a:solidFill>
                <a:latin typeface="Calibri" pitchFamily="34" charset="0"/>
                <a:ea typeface="Calibri" pitchFamily="34" charset="-122"/>
                <a:cs typeface="Calibri" pitchFamily="34" charset="-120"/>
              </a:rPr>
              <a:t> proveo stotine sati gradeći prvu infrastrukturu za analitiku podataka crnogorskog fudbala. </a:t>
            </a:r>
            <a:r>
              <a:rPr lang="en-US" sz="1100" dirty="0" err="1">
                <a:solidFill>
                  <a:srgbClr val="94A3B8"/>
                </a:solidFill>
                <a:latin typeface="Calibri" pitchFamily="34" charset="0"/>
                <a:ea typeface="Calibri" pitchFamily="34" charset="-122"/>
                <a:cs typeface="Calibri" pitchFamily="34" charset="-120"/>
              </a:rPr>
              <a:t>Funkcionalna</a:t>
            </a:r>
            <a:r>
              <a:rPr lang="en-US" sz="1100" dirty="0">
                <a:solidFill>
                  <a:srgbClr val="94A3B8"/>
                </a:solidFill>
                <a:latin typeface="Calibri" pitchFamily="34" charset="0"/>
                <a:ea typeface="Calibri" pitchFamily="34" charset="-122"/>
                <a:cs typeface="Calibri" pitchFamily="34" charset="-120"/>
              </a:rPr>
              <a:t> </a:t>
            </a:r>
            <a:r>
              <a:rPr lang="en-US" sz="1100" dirty="0" err="1">
                <a:solidFill>
                  <a:srgbClr val="94A3B8"/>
                </a:solidFill>
                <a:latin typeface="Calibri" pitchFamily="34" charset="0"/>
                <a:ea typeface="Calibri" pitchFamily="34" charset="-122"/>
                <a:cs typeface="Calibri" pitchFamily="34" charset="-120"/>
              </a:rPr>
              <a:t>osnova</a:t>
            </a:r>
            <a:r>
              <a:rPr lang="en-US" sz="1100" dirty="0">
                <a:solidFill>
                  <a:srgbClr val="94A3B8"/>
                </a:solidFill>
                <a:latin typeface="Calibri" pitchFamily="34" charset="0"/>
                <a:ea typeface="Calibri" pitchFamily="34" charset="-122"/>
                <a:cs typeface="Calibri" pitchFamily="34" charset="-120"/>
              </a:rPr>
              <a:t> </a:t>
            </a:r>
            <a:r>
              <a:rPr lang="en-US" sz="1100" dirty="0" err="1">
                <a:solidFill>
                  <a:srgbClr val="94A3B8"/>
                </a:solidFill>
                <a:latin typeface="Calibri" pitchFamily="34" charset="0"/>
                <a:ea typeface="Calibri" pitchFamily="34" charset="-122"/>
                <a:cs typeface="Calibri" pitchFamily="34" charset="-120"/>
              </a:rPr>
              <a:t>vec</a:t>
            </a:r>
            <a:r>
              <a:rPr lang="en-US" sz="1100" dirty="0">
                <a:solidFill>
                  <a:srgbClr val="94A3B8"/>
                </a:solidFill>
                <a:latin typeface="Calibri" pitchFamily="34" charset="0"/>
                <a:ea typeface="Calibri" pitchFamily="34" charset="-122"/>
                <a:cs typeface="Calibri" pitchFamily="34" charset="-120"/>
              </a:rPr>
              <a:t> </a:t>
            </a:r>
            <a:r>
              <a:rPr lang="en-US" sz="1100" dirty="0" err="1">
                <a:solidFill>
                  <a:srgbClr val="94A3B8"/>
                </a:solidFill>
                <a:latin typeface="Calibri" pitchFamily="34" charset="0"/>
                <a:ea typeface="Calibri" pitchFamily="34" charset="-122"/>
                <a:cs typeface="Calibri" pitchFamily="34" charset="-120"/>
              </a:rPr>
              <a:t>postoji</a:t>
            </a:r>
            <a:r>
              <a:rPr lang="en-US" sz="1100" dirty="0">
                <a:solidFill>
                  <a:srgbClr val="94A3B8"/>
                </a:solidFill>
                <a:latin typeface="Calibri" pitchFamily="34" charset="0"/>
                <a:ea typeface="Calibri" pitchFamily="34" charset="-122"/>
                <a:cs typeface="Calibri" pitchFamily="34" charset="-120"/>
              </a:rPr>
              <a:t>.</a:t>
            </a:r>
            <a:endParaRPr lang="en-US" sz="1100" dirty="0"/>
          </a:p>
        </p:txBody>
      </p:sp>
      <p:sp>
        <p:nvSpPr>
          <p:cNvPr id="19" name="Text 16"/>
          <p:cNvSpPr/>
          <p:nvPr/>
        </p:nvSpPr>
        <p:spPr>
          <a:xfrm>
            <a:off x="7955280" y="4777740"/>
            <a:ext cx="9144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02 / 21</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0F1C"/>
        </a:solidFill>
        <a:effectLst/>
      </p:bgPr>
    </p:bg>
    <p:spTree>
      <p:nvGrpSpPr>
        <p:cNvPr id="1" name=""/>
        <p:cNvGrpSpPr/>
        <p:nvPr/>
      </p:nvGrpSpPr>
      <p:grpSpPr>
        <a:xfrm>
          <a:off x="0" y="0"/>
          <a:ext cx="0" cy="0"/>
          <a:chOff x="0" y="0"/>
          <a:chExt cx="0" cy="0"/>
        </a:xfrm>
      </p:grpSpPr>
      <p:sp>
        <p:nvSpPr>
          <p:cNvPr id="2" name="Shape 0"/>
          <p:cNvSpPr/>
          <p:nvPr/>
        </p:nvSpPr>
        <p:spPr>
          <a:xfrm>
            <a:off x="457200" y="411480"/>
            <a:ext cx="164592" cy="164592"/>
          </a:xfrm>
          <a:prstGeom prst="rect">
            <a:avLst/>
          </a:prstGeom>
          <a:solidFill>
            <a:srgbClr val="22C55E"/>
          </a:solidFill>
          <a:ln w="12700">
            <a:solidFill>
              <a:srgbClr val="22C55E"/>
            </a:solidFill>
            <a:prstDash val="solid"/>
          </a:ln>
        </p:spPr>
        <p:txBody>
          <a:bodyPr/>
          <a:lstStyle/>
          <a:p>
            <a:endParaRPr/>
          </a:p>
        </p:txBody>
      </p:sp>
      <p:sp>
        <p:nvSpPr>
          <p:cNvPr id="3" name="Text 1"/>
          <p:cNvSpPr/>
          <p:nvPr/>
        </p:nvSpPr>
        <p:spPr>
          <a:xfrm>
            <a:off x="749808" y="384048"/>
            <a:ext cx="7315200" cy="228600"/>
          </a:xfrm>
          <a:prstGeom prst="rect">
            <a:avLst/>
          </a:prstGeom>
          <a:noFill/>
          <a:ln/>
        </p:spPr>
        <p:txBody>
          <a:bodyPr wrap="square" lIns="0" tIns="0" rIns="0" bIns="0" rtlCol="0" anchor="ctr"/>
          <a:lstStyle/>
          <a:p>
            <a:pPr marL="0" indent="0">
              <a:buNone/>
            </a:pPr>
            <a:r>
              <a:rPr lang="en-US" sz="1000" b="1" kern="0" spc="400" dirty="0">
                <a:solidFill>
                  <a:srgbClr val="22C55E"/>
                </a:solidFill>
                <a:latin typeface="Calibri" pitchFamily="34" charset="0"/>
                <a:ea typeface="Calibri" pitchFamily="34" charset="-122"/>
                <a:cs typeface="Calibri" pitchFamily="34" charset="-120"/>
              </a:rPr>
              <a:t>PAD</a:t>
            </a:r>
            <a:endParaRPr lang="en-US" sz="1000" dirty="0"/>
          </a:p>
        </p:txBody>
      </p:sp>
      <p:sp>
        <p:nvSpPr>
          <p:cNvPr id="4" name="Text 2"/>
          <p:cNvSpPr/>
          <p:nvPr/>
        </p:nvSpPr>
        <p:spPr>
          <a:xfrm>
            <a:off x="457200" y="685800"/>
            <a:ext cx="8229600" cy="640080"/>
          </a:xfrm>
          <a:prstGeom prst="rect">
            <a:avLst/>
          </a:prstGeom>
          <a:noFill/>
          <a:ln/>
        </p:spPr>
        <p:txBody>
          <a:bodyPr wrap="square" lIns="0" tIns="0" rIns="0" bIns="0" rtlCol="0" anchor="ctr"/>
          <a:lstStyle/>
          <a:p>
            <a:pPr marL="0" indent="0">
              <a:buNone/>
            </a:pPr>
            <a:r>
              <a:rPr lang="en-US" sz="2600" b="1" dirty="0">
                <a:solidFill>
                  <a:srgbClr val="F8FAFC"/>
                </a:solidFill>
                <a:latin typeface="Calibri" pitchFamily="34" charset="0"/>
                <a:ea typeface="Calibri" pitchFamily="34" charset="-122"/>
                <a:cs typeface="Calibri" pitchFamily="34" charset="-120"/>
              </a:rPr>
              <a:t>Petnaest godina jednog smjera</a:t>
            </a:r>
            <a:endParaRPr lang="en-US" sz="2600" dirty="0"/>
          </a:p>
        </p:txBody>
      </p:sp>
      <p:sp>
        <p:nvSpPr>
          <p:cNvPr id="5" name="Text 3"/>
          <p:cNvSpPr/>
          <p:nvPr/>
        </p:nvSpPr>
        <p:spPr>
          <a:xfrm>
            <a:off x="457200" y="1417320"/>
            <a:ext cx="4114800" cy="274320"/>
          </a:xfrm>
          <a:prstGeom prst="rect">
            <a:avLst/>
          </a:prstGeom>
          <a:noFill/>
          <a:ln/>
        </p:spPr>
        <p:txBody>
          <a:bodyPr wrap="square" lIns="0" tIns="0" rIns="0" bIns="0" rtlCol="0" anchor="ctr"/>
          <a:lstStyle/>
          <a:p>
            <a:pPr marL="0" indent="0">
              <a:buNone/>
            </a:pPr>
            <a:r>
              <a:rPr lang="en-US" sz="1100" b="1" dirty="0">
                <a:solidFill>
                  <a:srgbClr val="F8FAFC"/>
                </a:solidFill>
                <a:latin typeface="Calibri" pitchFamily="34" charset="0"/>
                <a:ea typeface="Calibri" pitchFamily="34" charset="-122"/>
                <a:cs typeface="Calibri" pitchFamily="34" charset="-120"/>
              </a:rPr>
              <a:t>Muška reprezentacija — FIFA </a:t>
            </a:r>
            <a:r>
              <a:rPr lang="en-US" sz="1100" b="1" dirty="0" err="1">
                <a:solidFill>
                  <a:srgbClr val="F8FAFC"/>
                </a:solidFill>
                <a:latin typeface="Calibri" pitchFamily="34" charset="0"/>
                <a:ea typeface="Calibri" pitchFamily="34" charset="-122"/>
                <a:cs typeface="Calibri" pitchFamily="34" charset="-120"/>
              </a:rPr>
              <a:t>svjetska</a:t>
            </a:r>
            <a:r>
              <a:rPr lang="en-US" sz="1100" b="1" dirty="0">
                <a:solidFill>
                  <a:srgbClr val="F8FAFC"/>
                </a:solidFill>
                <a:latin typeface="Calibri" pitchFamily="34" charset="0"/>
                <a:ea typeface="Calibri" pitchFamily="34" charset="-122"/>
                <a:cs typeface="Calibri" pitchFamily="34" charset="-120"/>
              </a:rPr>
              <a:t> rang </a:t>
            </a:r>
            <a:r>
              <a:rPr lang="en-US" sz="1100" b="1" dirty="0" err="1">
                <a:solidFill>
                  <a:srgbClr val="F8FAFC"/>
                </a:solidFill>
                <a:latin typeface="Calibri" pitchFamily="34" charset="0"/>
                <a:ea typeface="Calibri" pitchFamily="34" charset="-122"/>
                <a:cs typeface="Calibri" pitchFamily="34" charset="-120"/>
              </a:rPr>
              <a:t>lista</a:t>
            </a:r>
            <a:endParaRPr lang="en-US" sz="1100" dirty="0"/>
          </a:p>
        </p:txBody>
      </p:sp>
      <p:graphicFrame>
        <p:nvGraphicFramePr>
          <p:cNvPr id="6" name="Chart 0"/>
          <p:cNvGraphicFramePr/>
          <p:nvPr>
            <p:extLst>
              <p:ext uri="{D42A27DB-BD31-4B8C-83A1-F6EECF244321}">
                <p14:modId xmlns:p14="http://schemas.microsoft.com/office/powerpoint/2010/main" val="2289854265"/>
              </p:ext>
            </p:extLst>
          </p:nvPr>
        </p:nvGraphicFramePr>
        <p:xfrm>
          <a:off x="320040" y="1691640"/>
          <a:ext cx="4251960" cy="2377440"/>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 4"/>
          <p:cNvSpPr/>
          <p:nvPr/>
        </p:nvSpPr>
        <p:spPr>
          <a:xfrm>
            <a:off x="457200" y="4069080"/>
            <a:ext cx="1920240" cy="228600"/>
          </a:xfrm>
          <a:prstGeom prst="rect">
            <a:avLst/>
          </a:prstGeom>
          <a:noFill/>
          <a:ln/>
        </p:spPr>
        <p:txBody>
          <a:bodyPr wrap="square" lIns="0" tIns="0" rIns="0" bIns="0" rtlCol="0" anchor="ctr"/>
          <a:lstStyle/>
          <a:p>
            <a:pPr marL="0" indent="0">
              <a:buNone/>
            </a:pPr>
            <a:r>
              <a:rPr lang="en-US" sz="950" b="1" dirty="0">
                <a:solidFill>
                  <a:srgbClr val="22C55E"/>
                </a:solidFill>
                <a:latin typeface="Calibri" pitchFamily="34" charset="0"/>
                <a:ea typeface="Calibri" pitchFamily="34" charset="-122"/>
                <a:cs typeface="Calibri" pitchFamily="34" charset="-120"/>
              </a:rPr>
              <a:t>#16 — vrhunac (2011)</a:t>
            </a:r>
            <a:endParaRPr lang="en-US" sz="950" dirty="0"/>
          </a:p>
        </p:txBody>
      </p:sp>
      <p:sp>
        <p:nvSpPr>
          <p:cNvPr id="8" name="Text 5"/>
          <p:cNvSpPr/>
          <p:nvPr/>
        </p:nvSpPr>
        <p:spPr>
          <a:xfrm>
            <a:off x="2468880" y="4069080"/>
            <a:ext cx="2103120" cy="228600"/>
          </a:xfrm>
          <a:prstGeom prst="rect">
            <a:avLst/>
          </a:prstGeom>
          <a:noFill/>
          <a:ln/>
        </p:spPr>
        <p:txBody>
          <a:bodyPr wrap="square" lIns="0" tIns="0" rIns="0" bIns="0" rtlCol="0" anchor="ctr"/>
          <a:lstStyle/>
          <a:p>
            <a:pPr marL="0" indent="0">
              <a:buNone/>
            </a:pPr>
            <a:r>
              <a:rPr lang="en-US" sz="950" b="1" dirty="0">
                <a:solidFill>
                  <a:srgbClr val="EF4444"/>
                </a:solidFill>
                <a:latin typeface="Calibri" pitchFamily="34" charset="0"/>
                <a:ea typeface="Calibri" pitchFamily="34" charset="-122"/>
                <a:cs typeface="Calibri" pitchFamily="34" charset="-120"/>
              </a:rPr>
              <a:t>#70 — danas</a:t>
            </a:r>
            <a:endParaRPr lang="en-US" sz="950" dirty="0"/>
          </a:p>
        </p:txBody>
      </p:sp>
      <p:sp>
        <p:nvSpPr>
          <p:cNvPr id="9" name="Text 6"/>
          <p:cNvSpPr/>
          <p:nvPr/>
        </p:nvSpPr>
        <p:spPr>
          <a:xfrm>
            <a:off x="4572000" y="1417320"/>
            <a:ext cx="4114800" cy="274320"/>
          </a:xfrm>
          <a:prstGeom prst="rect">
            <a:avLst/>
          </a:prstGeom>
          <a:noFill/>
          <a:ln/>
        </p:spPr>
        <p:txBody>
          <a:bodyPr wrap="square" lIns="0" tIns="0" rIns="0" bIns="0" rtlCol="0" anchor="ctr"/>
          <a:lstStyle/>
          <a:p>
            <a:pPr marL="0" indent="0">
              <a:buNone/>
            </a:pPr>
            <a:r>
              <a:rPr lang="en-US" sz="1100" b="1" dirty="0">
                <a:solidFill>
                  <a:srgbClr val="F8FAFC"/>
                </a:solidFill>
                <a:latin typeface="Calibri" pitchFamily="34" charset="0"/>
                <a:ea typeface="Calibri" pitchFamily="34" charset="-122"/>
                <a:cs typeface="Calibri" pitchFamily="34" charset="-120"/>
              </a:rPr>
              <a:t>1. CFL — UEFA rang po koeficijentu</a:t>
            </a:r>
            <a:endParaRPr lang="en-US" sz="1100" dirty="0"/>
          </a:p>
        </p:txBody>
      </p:sp>
      <p:graphicFrame>
        <p:nvGraphicFramePr>
          <p:cNvPr id="10" name="Chart 1"/>
          <p:cNvGraphicFramePr/>
          <p:nvPr>
            <p:extLst>
              <p:ext uri="{D42A27DB-BD31-4B8C-83A1-F6EECF244321}">
                <p14:modId xmlns:p14="http://schemas.microsoft.com/office/powerpoint/2010/main" val="3177091417"/>
              </p:ext>
            </p:extLst>
          </p:nvPr>
        </p:nvGraphicFramePr>
        <p:xfrm>
          <a:off x="4434840" y="1691640"/>
          <a:ext cx="4389120" cy="2377440"/>
        </p:xfrm>
        <a:graphic>
          <a:graphicData uri="http://schemas.openxmlformats.org/drawingml/2006/chart">
            <c:chart xmlns:c="http://schemas.openxmlformats.org/drawingml/2006/chart" xmlns:r="http://schemas.openxmlformats.org/officeDocument/2006/relationships" r:id="rId4"/>
          </a:graphicData>
        </a:graphic>
      </p:graphicFrame>
      <p:sp>
        <p:nvSpPr>
          <p:cNvPr id="11" name="Text 7"/>
          <p:cNvSpPr/>
          <p:nvPr/>
        </p:nvSpPr>
        <p:spPr>
          <a:xfrm>
            <a:off x="4572000" y="4069080"/>
            <a:ext cx="4114800" cy="228600"/>
          </a:xfrm>
          <a:prstGeom prst="rect">
            <a:avLst/>
          </a:prstGeom>
          <a:noFill/>
          <a:ln/>
        </p:spPr>
        <p:txBody>
          <a:bodyPr wrap="square" lIns="0" tIns="0" rIns="0" bIns="0" rtlCol="0" anchor="ctr"/>
          <a:lstStyle/>
          <a:p>
            <a:pPr marL="0" indent="0">
              <a:buNone/>
            </a:pPr>
            <a:r>
              <a:rPr lang="en-US" sz="950" b="1" dirty="0">
                <a:solidFill>
                  <a:srgbClr val="EF4444"/>
                </a:solidFill>
                <a:latin typeface="Calibri" pitchFamily="34" charset="0"/>
                <a:ea typeface="Calibri" pitchFamily="34" charset="-122"/>
                <a:cs typeface="Calibri" pitchFamily="34" charset="-120"/>
              </a:rPr>
              <a:t>52 od 55 — danas</a:t>
            </a:r>
            <a:endParaRPr lang="en-US" sz="950" dirty="0"/>
          </a:p>
        </p:txBody>
      </p:sp>
      <p:sp>
        <p:nvSpPr>
          <p:cNvPr id="12" name="Text 8"/>
          <p:cNvSpPr/>
          <p:nvPr/>
        </p:nvSpPr>
        <p:spPr>
          <a:xfrm>
            <a:off x="4572000" y="4297680"/>
            <a:ext cx="4114800" cy="228600"/>
          </a:xfrm>
          <a:prstGeom prst="rect">
            <a:avLst/>
          </a:prstGeom>
          <a:noFill/>
          <a:ln/>
        </p:spPr>
        <p:txBody>
          <a:bodyPr wrap="square" lIns="0" tIns="0" rIns="0" bIns="0" rtlCol="0" anchor="ctr"/>
          <a:lstStyle/>
          <a:p>
            <a:pPr marL="0" indent="0">
              <a:buNone/>
            </a:pPr>
            <a:r>
              <a:rPr lang="en-US" sz="900" i="1" dirty="0">
                <a:solidFill>
                  <a:srgbClr val="94A3B8"/>
                </a:solidFill>
                <a:latin typeface="Calibri" pitchFamily="34" charset="0"/>
                <a:ea typeface="Calibri" pitchFamily="34" charset="-122"/>
                <a:cs typeface="Calibri" pitchFamily="34" charset="-120"/>
              </a:rPr>
              <a:t>Samo </a:t>
            </a:r>
            <a:r>
              <a:rPr lang="en-US" sz="900" i="1" dirty="0" err="1">
                <a:solidFill>
                  <a:srgbClr val="94A3B8"/>
                </a:solidFill>
                <a:latin typeface="Calibri" pitchFamily="34" charset="0"/>
                <a:ea typeface="Calibri" pitchFamily="34" charset="-122"/>
                <a:cs typeface="Calibri" pitchFamily="34" charset="-120"/>
              </a:rPr>
              <a:t>Luksemburg</a:t>
            </a:r>
            <a:r>
              <a:rPr lang="en-US" sz="900" i="1" dirty="0">
                <a:solidFill>
                  <a:srgbClr val="94A3B8"/>
                </a:solidFill>
                <a:latin typeface="Calibri" pitchFamily="34" charset="0"/>
                <a:ea typeface="Calibri" pitchFamily="34" charset="-122"/>
                <a:cs typeface="Calibri" pitchFamily="34" charset="-120"/>
              </a:rPr>
              <a:t>, Vels i San Marino imaju niži rang.</a:t>
            </a:r>
            <a:endParaRPr lang="en-US" sz="900" dirty="0"/>
          </a:p>
        </p:txBody>
      </p:sp>
      <p:sp>
        <p:nvSpPr>
          <p:cNvPr id="14" name="Text 10"/>
          <p:cNvSpPr/>
          <p:nvPr/>
        </p:nvSpPr>
        <p:spPr>
          <a:xfrm>
            <a:off x="457200" y="4777740"/>
            <a:ext cx="5486400" cy="274320"/>
          </a:xfrm>
          <a:prstGeom prst="rect">
            <a:avLst/>
          </a:prstGeom>
          <a:noFill/>
          <a:ln/>
        </p:spPr>
        <p:txBody>
          <a:bodyPr wrap="square" lIns="0" tIns="0" rIns="0" bIns="0" rtlCol="0" anchor="ctr"/>
          <a:lstStyle/>
          <a:p>
            <a:pPr marL="0" indent="0">
              <a:buNone/>
            </a:pPr>
            <a:r>
              <a:rPr lang="en-US" sz="800" b="1" kern="0" spc="300" dirty="0">
                <a:solidFill>
                  <a:srgbClr val="64748B"/>
                </a:solidFill>
                <a:latin typeface="Calibri" pitchFamily="34" charset="0"/>
                <a:ea typeface="Calibri" pitchFamily="34" charset="-122"/>
                <a:cs typeface="Calibri" pitchFamily="34" charset="-120"/>
              </a:rPr>
              <a:t>ANALITIKA PODATAKA ZA CRNOGORSKI FUDBAL</a:t>
            </a:r>
            <a:endParaRPr lang="en-US" sz="800" dirty="0"/>
          </a:p>
        </p:txBody>
      </p:sp>
      <p:sp>
        <p:nvSpPr>
          <p:cNvPr id="15" name="Text 11"/>
          <p:cNvSpPr/>
          <p:nvPr/>
        </p:nvSpPr>
        <p:spPr>
          <a:xfrm>
            <a:off x="7955280" y="4777740"/>
            <a:ext cx="9144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03 / 21</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0F1C"/>
        </a:solidFill>
        <a:effectLst/>
      </p:bgPr>
    </p:bg>
    <p:spTree>
      <p:nvGrpSpPr>
        <p:cNvPr id="1" name=""/>
        <p:cNvGrpSpPr/>
        <p:nvPr/>
      </p:nvGrpSpPr>
      <p:grpSpPr>
        <a:xfrm>
          <a:off x="0" y="0"/>
          <a:ext cx="0" cy="0"/>
          <a:chOff x="0" y="0"/>
          <a:chExt cx="0" cy="0"/>
        </a:xfrm>
      </p:grpSpPr>
      <p:sp>
        <p:nvSpPr>
          <p:cNvPr id="2" name="Shape 0"/>
          <p:cNvSpPr/>
          <p:nvPr/>
        </p:nvSpPr>
        <p:spPr>
          <a:xfrm>
            <a:off x="457200" y="411480"/>
            <a:ext cx="164592" cy="164592"/>
          </a:xfrm>
          <a:prstGeom prst="rect">
            <a:avLst/>
          </a:prstGeom>
          <a:solidFill>
            <a:srgbClr val="22C55E"/>
          </a:solidFill>
          <a:ln w="12700">
            <a:solidFill>
              <a:srgbClr val="22C55E"/>
            </a:solidFill>
            <a:prstDash val="solid"/>
          </a:ln>
        </p:spPr>
        <p:txBody>
          <a:bodyPr/>
          <a:lstStyle/>
          <a:p>
            <a:endParaRPr/>
          </a:p>
        </p:txBody>
      </p:sp>
      <p:sp>
        <p:nvSpPr>
          <p:cNvPr id="3" name="Text 1"/>
          <p:cNvSpPr/>
          <p:nvPr/>
        </p:nvSpPr>
        <p:spPr>
          <a:xfrm>
            <a:off x="749808" y="384048"/>
            <a:ext cx="7315200" cy="228600"/>
          </a:xfrm>
          <a:prstGeom prst="rect">
            <a:avLst/>
          </a:prstGeom>
          <a:noFill/>
          <a:ln/>
        </p:spPr>
        <p:txBody>
          <a:bodyPr wrap="square" lIns="0" tIns="0" rIns="0" bIns="0" rtlCol="0" anchor="ctr"/>
          <a:lstStyle/>
          <a:p>
            <a:pPr marL="0" indent="0">
              <a:buNone/>
            </a:pPr>
            <a:r>
              <a:rPr lang="en-US" sz="1000" b="1" kern="0" spc="400" dirty="0">
                <a:solidFill>
                  <a:srgbClr val="22C55E"/>
                </a:solidFill>
                <a:latin typeface="Calibri" pitchFamily="34" charset="0"/>
                <a:ea typeface="Calibri" pitchFamily="34" charset="-122"/>
                <a:cs typeface="Calibri" pitchFamily="34" charset="-120"/>
              </a:rPr>
              <a:t>RAZLIKA U POREĐENJU</a:t>
            </a:r>
            <a:endParaRPr lang="en-US" sz="1000" dirty="0"/>
          </a:p>
        </p:txBody>
      </p:sp>
      <p:sp>
        <p:nvSpPr>
          <p:cNvPr id="4" name="Text 2"/>
          <p:cNvSpPr/>
          <p:nvPr/>
        </p:nvSpPr>
        <p:spPr>
          <a:xfrm>
            <a:off x="463731" y="692331"/>
            <a:ext cx="8229600" cy="640080"/>
          </a:xfrm>
          <a:prstGeom prst="rect">
            <a:avLst/>
          </a:prstGeom>
          <a:noFill/>
          <a:ln/>
        </p:spPr>
        <p:txBody>
          <a:bodyPr wrap="square" lIns="0" tIns="0" rIns="0" bIns="0" rtlCol="0" anchor="ctr"/>
          <a:lstStyle/>
          <a:p>
            <a:pPr marL="0" indent="0">
              <a:buNone/>
            </a:pPr>
            <a:r>
              <a:rPr lang="en-US" sz="2600" b="1" dirty="0">
                <a:solidFill>
                  <a:srgbClr val="F8FAFC"/>
                </a:solidFill>
                <a:latin typeface="Calibri" pitchFamily="34" charset="0"/>
                <a:ea typeface="Calibri" pitchFamily="34" charset="-122"/>
                <a:cs typeface="Calibri" pitchFamily="34" charset="-120"/>
              </a:rPr>
              <a:t>Dok smo mi </a:t>
            </a:r>
            <a:r>
              <a:rPr lang="en-US" sz="2600" b="1" dirty="0" err="1">
                <a:solidFill>
                  <a:srgbClr val="F8FAFC"/>
                </a:solidFill>
                <a:latin typeface="Calibri" pitchFamily="34" charset="0"/>
                <a:ea typeface="Calibri" pitchFamily="34" charset="-122"/>
                <a:cs typeface="Calibri" pitchFamily="34" charset="-120"/>
              </a:rPr>
              <a:t>stagnirali</a:t>
            </a:r>
            <a:r>
              <a:rPr lang="en-US" sz="2600" b="1" dirty="0">
                <a:solidFill>
                  <a:srgbClr val="F8FAFC"/>
                </a:solidFill>
                <a:latin typeface="Calibri" pitchFamily="34" charset="0"/>
                <a:ea typeface="Calibri" pitchFamily="34" charset="-122"/>
                <a:cs typeface="Calibri" pitchFamily="34" charset="-120"/>
              </a:rPr>
              <a:t>, drugi </a:t>
            </a:r>
            <a:r>
              <a:rPr lang="en-US" sz="2600" b="1" dirty="0" err="1">
                <a:solidFill>
                  <a:srgbClr val="F8FAFC"/>
                </a:solidFill>
                <a:latin typeface="Calibri" pitchFamily="34" charset="0"/>
                <a:ea typeface="Calibri" pitchFamily="34" charset="-122"/>
                <a:cs typeface="Calibri" pitchFamily="34" charset="-120"/>
              </a:rPr>
              <a:t>su</a:t>
            </a:r>
            <a:r>
              <a:rPr lang="en-US" sz="2600" b="1" dirty="0">
                <a:solidFill>
                  <a:srgbClr val="F8FAFC"/>
                </a:solidFill>
                <a:latin typeface="Calibri" pitchFamily="34" charset="0"/>
                <a:ea typeface="Calibri" pitchFamily="34" charset="-122"/>
                <a:cs typeface="Calibri" pitchFamily="34" charset="-120"/>
              </a:rPr>
              <a:t> </a:t>
            </a:r>
            <a:r>
              <a:rPr lang="en-US" sz="2600" b="1" dirty="0" err="1">
                <a:solidFill>
                  <a:srgbClr val="F8FAFC"/>
                </a:solidFill>
                <a:latin typeface="Calibri" pitchFamily="34" charset="0"/>
                <a:ea typeface="Calibri" pitchFamily="34" charset="-122"/>
                <a:cs typeface="Calibri" pitchFamily="34" charset="-120"/>
              </a:rPr>
              <a:t>gradili</a:t>
            </a:r>
            <a:r>
              <a:rPr lang="en-US" sz="2600" b="1" dirty="0">
                <a:solidFill>
                  <a:srgbClr val="F8FAFC"/>
                </a:solidFill>
                <a:latin typeface="Calibri" pitchFamily="34" charset="0"/>
                <a:ea typeface="Calibri" pitchFamily="34" charset="-122"/>
                <a:cs typeface="Calibri" pitchFamily="34" charset="-120"/>
              </a:rPr>
              <a:t> </a:t>
            </a:r>
            <a:r>
              <a:rPr lang="en-US" sz="2600" b="1" dirty="0" err="1">
                <a:solidFill>
                  <a:srgbClr val="F8FAFC"/>
                </a:solidFill>
                <a:latin typeface="Calibri" pitchFamily="34" charset="0"/>
                <a:ea typeface="Calibri" pitchFamily="34" charset="-122"/>
                <a:cs typeface="Calibri" pitchFamily="34" charset="-120"/>
              </a:rPr>
              <a:t>i</a:t>
            </a:r>
            <a:r>
              <a:rPr lang="en-US" sz="2600" b="1" dirty="0">
                <a:solidFill>
                  <a:srgbClr val="F8FAFC"/>
                </a:solidFill>
                <a:latin typeface="Calibri" pitchFamily="34" charset="0"/>
                <a:ea typeface="Calibri" pitchFamily="34" charset="-122"/>
                <a:cs typeface="Calibri" pitchFamily="34" charset="-120"/>
              </a:rPr>
              <a:t> </a:t>
            </a:r>
            <a:r>
              <a:rPr lang="en-US" sz="2600" b="1" dirty="0" err="1">
                <a:solidFill>
                  <a:srgbClr val="F8FAFC"/>
                </a:solidFill>
                <a:latin typeface="Calibri" pitchFamily="34" charset="0"/>
                <a:ea typeface="Calibri" pitchFamily="34" charset="-122"/>
                <a:cs typeface="Calibri" pitchFamily="34" charset="-120"/>
              </a:rPr>
              <a:t>napredovali</a:t>
            </a:r>
            <a:endParaRPr lang="en-US" sz="2600" dirty="0"/>
          </a:p>
        </p:txBody>
      </p:sp>
      <p:sp>
        <p:nvSpPr>
          <p:cNvPr id="5" name="Shape 3"/>
          <p:cNvSpPr/>
          <p:nvPr/>
        </p:nvSpPr>
        <p:spPr>
          <a:xfrm>
            <a:off x="457200" y="1645920"/>
            <a:ext cx="4023360" cy="2286000"/>
          </a:xfrm>
          <a:prstGeom prst="rect">
            <a:avLst/>
          </a:prstGeom>
          <a:solidFill>
            <a:srgbClr val="141B2E"/>
          </a:solidFill>
          <a:ln w="12700">
            <a:solidFill>
              <a:srgbClr val="243049"/>
            </a:solidFill>
            <a:prstDash val="solid"/>
          </a:ln>
        </p:spPr>
        <p:txBody>
          <a:bodyPr/>
          <a:lstStyle/>
          <a:p>
            <a:endParaRPr/>
          </a:p>
        </p:txBody>
      </p:sp>
      <p:sp>
        <p:nvSpPr>
          <p:cNvPr id="6" name="Text 4"/>
          <p:cNvSpPr/>
          <p:nvPr/>
        </p:nvSpPr>
        <p:spPr>
          <a:xfrm>
            <a:off x="640080" y="1874520"/>
            <a:ext cx="3657600" cy="274320"/>
          </a:xfrm>
          <a:prstGeom prst="rect">
            <a:avLst/>
          </a:prstGeom>
          <a:noFill/>
          <a:ln/>
        </p:spPr>
        <p:txBody>
          <a:bodyPr wrap="square" lIns="0" tIns="0" rIns="0" bIns="0" rtlCol="0" anchor="ctr"/>
          <a:lstStyle/>
          <a:p>
            <a:pPr marL="0" indent="0">
              <a:buNone/>
            </a:pPr>
            <a:r>
              <a:rPr lang="en-US" sz="1000" b="1" kern="0" spc="300" dirty="0">
                <a:solidFill>
                  <a:srgbClr val="94A3B8"/>
                </a:solidFill>
                <a:latin typeface="Calibri" pitchFamily="34" charset="0"/>
                <a:ea typeface="Calibri" pitchFamily="34" charset="-122"/>
                <a:cs typeface="Calibri" pitchFamily="34" charset="-120"/>
              </a:rPr>
              <a:t>PREMIER LIGA</a:t>
            </a:r>
            <a:endParaRPr lang="en-US" sz="1000" dirty="0"/>
          </a:p>
        </p:txBody>
      </p:sp>
      <p:sp>
        <p:nvSpPr>
          <p:cNvPr id="7" name="Text 5"/>
          <p:cNvSpPr/>
          <p:nvPr/>
        </p:nvSpPr>
        <p:spPr>
          <a:xfrm>
            <a:off x="640080" y="2148840"/>
            <a:ext cx="3657600" cy="1188720"/>
          </a:xfrm>
          <a:prstGeom prst="rect">
            <a:avLst/>
          </a:prstGeom>
          <a:noFill/>
          <a:ln/>
        </p:spPr>
        <p:txBody>
          <a:bodyPr wrap="square" lIns="0" tIns="0" rIns="0" bIns="0" rtlCol="0" anchor="ctr"/>
          <a:lstStyle/>
          <a:p>
            <a:pPr marL="0" indent="0">
              <a:buNone/>
            </a:pPr>
            <a:r>
              <a:rPr lang="en-US" sz="9000" b="1" dirty="0">
                <a:solidFill>
                  <a:srgbClr val="F8FAFC"/>
                </a:solidFill>
                <a:latin typeface="Calibri" pitchFamily="34" charset="0"/>
                <a:ea typeface="Calibri" pitchFamily="34" charset="-122"/>
                <a:cs typeface="Calibri" pitchFamily="34" charset="-120"/>
              </a:rPr>
              <a:t>280+</a:t>
            </a:r>
            <a:endParaRPr lang="en-US" sz="9000" dirty="0"/>
          </a:p>
        </p:txBody>
      </p:sp>
      <p:sp>
        <p:nvSpPr>
          <p:cNvPr id="8" name="Text 6"/>
          <p:cNvSpPr/>
          <p:nvPr/>
        </p:nvSpPr>
        <p:spPr>
          <a:xfrm>
            <a:off x="640080" y="3337560"/>
            <a:ext cx="3657600" cy="274320"/>
          </a:xfrm>
          <a:prstGeom prst="rect">
            <a:avLst/>
          </a:prstGeom>
          <a:noFill/>
          <a:ln/>
        </p:spPr>
        <p:txBody>
          <a:bodyPr wrap="square" lIns="0" tIns="0" rIns="0" bIns="0" rtlCol="0" anchor="ctr"/>
          <a:lstStyle/>
          <a:p>
            <a:pPr marL="0" indent="0">
              <a:buNone/>
            </a:pPr>
            <a:r>
              <a:rPr lang="en-US" sz="1400" dirty="0">
                <a:solidFill>
                  <a:srgbClr val="F8FAFC"/>
                </a:solidFill>
                <a:latin typeface="Calibri" pitchFamily="34" charset="0"/>
                <a:ea typeface="Calibri" pitchFamily="34" charset="-122"/>
                <a:cs typeface="Calibri" pitchFamily="34" charset="-120"/>
              </a:rPr>
              <a:t>analitičara podataka</a:t>
            </a:r>
            <a:endParaRPr lang="en-US" sz="1400" dirty="0"/>
          </a:p>
        </p:txBody>
      </p:sp>
      <p:sp>
        <p:nvSpPr>
          <p:cNvPr id="9" name="Text 7"/>
          <p:cNvSpPr/>
          <p:nvPr/>
        </p:nvSpPr>
        <p:spPr>
          <a:xfrm>
            <a:off x="640080" y="3593592"/>
            <a:ext cx="3657600" cy="27432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I </a:t>
            </a:r>
            <a:r>
              <a:rPr lang="en-US" sz="1100" dirty="0" err="1">
                <a:solidFill>
                  <a:srgbClr val="64748B"/>
                </a:solidFill>
                <a:latin typeface="Calibri" pitchFamily="34" charset="0"/>
                <a:ea typeface="Calibri" pitchFamily="34" charset="-122"/>
                <a:cs typeface="Calibri" pitchFamily="34" charset="-120"/>
              </a:rPr>
              <a:t>preko</a:t>
            </a:r>
            <a:r>
              <a:rPr lang="en-US" sz="1100" dirty="0">
                <a:solidFill>
                  <a:srgbClr val="64748B"/>
                </a:solidFill>
                <a:latin typeface="Calibri" pitchFamily="34" charset="0"/>
                <a:ea typeface="Calibri" pitchFamily="34" charset="-122"/>
                <a:cs typeface="Calibri" pitchFamily="34" charset="-120"/>
              </a:rPr>
              <a:t> 500 </a:t>
            </a:r>
            <a:r>
              <a:rPr lang="en-US" sz="1100" dirty="0" err="1">
                <a:solidFill>
                  <a:srgbClr val="64748B"/>
                </a:solidFill>
                <a:latin typeface="Calibri" pitchFamily="34" charset="0"/>
                <a:ea typeface="Calibri" pitchFamily="34" charset="-122"/>
                <a:cs typeface="Calibri" pitchFamily="34" charset="-120"/>
              </a:rPr>
              <a:t>ljudi</a:t>
            </a:r>
            <a:r>
              <a:rPr lang="en-US" sz="1100" dirty="0">
                <a:solidFill>
                  <a:srgbClr val="64748B"/>
                </a:solidFill>
                <a:latin typeface="Calibri" pitchFamily="34" charset="0"/>
                <a:ea typeface="Calibri" pitchFamily="34" charset="-122"/>
                <a:cs typeface="Calibri" pitchFamily="34" charset="-120"/>
              </a:rPr>
              <a:t> </a:t>
            </a:r>
            <a:r>
              <a:rPr lang="en-US" sz="1100" dirty="0" err="1">
                <a:solidFill>
                  <a:srgbClr val="64748B"/>
                </a:solidFill>
                <a:latin typeface="Calibri" pitchFamily="34" charset="0"/>
                <a:ea typeface="Calibri" pitchFamily="34" charset="-122"/>
                <a:cs typeface="Calibri" pitchFamily="34" charset="-120"/>
              </a:rPr>
              <a:t>zaposlenih</a:t>
            </a:r>
            <a:r>
              <a:rPr lang="en-US" sz="1100" dirty="0">
                <a:solidFill>
                  <a:srgbClr val="64748B"/>
                </a:solidFill>
                <a:latin typeface="Calibri" pitchFamily="34" charset="0"/>
                <a:ea typeface="Calibri" pitchFamily="34" charset="-122"/>
                <a:cs typeface="Calibri" pitchFamily="34" charset="-120"/>
              </a:rPr>
              <a:t> u </a:t>
            </a:r>
            <a:r>
              <a:rPr lang="en-US" sz="1100" dirty="0" err="1">
                <a:solidFill>
                  <a:srgbClr val="64748B"/>
                </a:solidFill>
                <a:latin typeface="Calibri" pitchFamily="34" charset="0"/>
                <a:ea typeface="Calibri" pitchFamily="34" charset="-122"/>
                <a:cs typeface="Calibri" pitchFamily="34" charset="-120"/>
              </a:rPr>
              <a:t>ovoj</a:t>
            </a:r>
            <a:r>
              <a:rPr lang="en-US" sz="1100" dirty="0">
                <a:solidFill>
                  <a:srgbClr val="64748B"/>
                </a:solidFill>
                <a:latin typeface="Calibri" pitchFamily="34" charset="0"/>
                <a:ea typeface="Calibri" pitchFamily="34" charset="-122"/>
                <a:cs typeface="Calibri" pitchFamily="34" charset="-120"/>
              </a:rPr>
              <a:t> </a:t>
            </a:r>
            <a:r>
              <a:rPr lang="en-US" sz="1100" dirty="0" err="1">
                <a:solidFill>
                  <a:srgbClr val="64748B"/>
                </a:solidFill>
                <a:latin typeface="Calibri" pitchFamily="34" charset="0"/>
                <a:ea typeface="Calibri" pitchFamily="34" charset="-122"/>
                <a:cs typeface="Calibri" pitchFamily="34" charset="-120"/>
              </a:rPr>
              <a:t>industriji</a:t>
            </a:r>
            <a:endParaRPr lang="en-US" sz="1100" dirty="0"/>
          </a:p>
        </p:txBody>
      </p:sp>
      <p:sp>
        <p:nvSpPr>
          <p:cNvPr id="10" name="Shape 8"/>
          <p:cNvSpPr/>
          <p:nvPr/>
        </p:nvSpPr>
        <p:spPr>
          <a:xfrm>
            <a:off x="4663440" y="1645920"/>
            <a:ext cx="4023360" cy="2286000"/>
          </a:xfrm>
          <a:prstGeom prst="rect">
            <a:avLst/>
          </a:prstGeom>
          <a:solidFill>
            <a:srgbClr val="141B2E"/>
          </a:solidFill>
          <a:ln w="25400">
            <a:solidFill>
              <a:srgbClr val="EF4444"/>
            </a:solidFill>
            <a:prstDash val="solid"/>
          </a:ln>
        </p:spPr>
        <p:txBody>
          <a:bodyPr/>
          <a:lstStyle/>
          <a:p>
            <a:endParaRPr/>
          </a:p>
        </p:txBody>
      </p:sp>
      <p:sp>
        <p:nvSpPr>
          <p:cNvPr id="11" name="Text 9"/>
          <p:cNvSpPr/>
          <p:nvPr/>
        </p:nvSpPr>
        <p:spPr>
          <a:xfrm>
            <a:off x="4846320" y="1874520"/>
            <a:ext cx="3657600" cy="274320"/>
          </a:xfrm>
          <a:prstGeom prst="rect">
            <a:avLst/>
          </a:prstGeom>
          <a:noFill/>
          <a:ln/>
        </p:spPr>
        <p:txBody>
          <a:bodyPr wrap="square" lIns="0" tIns="0" rIns="0" bIns="0" rtlCol="0" anchor="ctr"/>
          <a:lstStyle/>
          <a:p>
            <a:pPr marL="0" indent="0">
              <a:buNone/>
            </a:pPr>
            <a:r>
              <a:rPr lang="en-US" sz="1000" b="1" kern="0" spc="300" dirty="0">
                <a:solidFill>
                  <a:srgbClr val="94A3B8"/>
                </a:solidFill>
                <a:latin typeface="Calibri" pitchFamily="34" charset="0"/>
                <a:ea typeface="Calibri" pitchFamily="34" charset="-122"/>
                <a:cs typeface="Calibri" pitchFamily="34" charset="-120"/>
              </a:rPr>
              <a:t>CRNOGORSKI FUDBAL</a:t>
            </a:r>
            <a:endParaRPr lang="en-US" sz="1000" dirty="0"/>
          </a:p>
        </p:txBody>
      </p:sp>
      <p:sp>
        <p:nvSpPr>
          <p:cNvPr id="12" name="Text 10"/>
          <p:cNvSpPr/>
          <p:nvPr/>
        </p:nvSpPr>
        <p:spPr>
          <a:xfrm>
            <a:off x="4846320" y="2148840"/>
            <a:ext cx="3657600" cy="1188720"/>
          </a:xfrm>
          <a:prstGeom prst="rect">
            <a:avLst/>
          </a:prstGeom>
          <a:noFill/>
          <a:ln/>
        </p:spPr>
        <p:txBody>
          <a:bodyPr wrap="square" lIns="0" tIns="0" rIns="0" bIns="0" rtlCol="0" anchor="ctr"/>
          <a:lstStyle/>
          <a:p>
            <a:pPr marL="0" indent="0">
              <a:buNone/>
            </a:pPr>
            <a:r>
              <a:rPr lang="en-US" sz="9000" b="1" dirty="0">
                <a:solidFill>
                  <a:srgbClr val="EF4444"/>
                </a:solidFill>
                <a:latin typeface="Calibri" pitchFamily="34" charset="0"/>
                <a:ea typeface="Calibri" pitchFamily="34" charset="-122"/>
                <a:cs typeface="Calibri" pitchFamily="34" charset="-120"/>
              </a:rPr>
              <a:t>0</a:t>
            </a:r>
            <a:endParaRPr lang="en-US" sz="9000" dirty="0"/>
          </a:p>
        </p:txBody>
      </p:sp>
      <p:sp>
        <p:nvSpPr>
          <p:cNvPr id="13" name="Text 11"/>
          <p:cNvSpPr/>
          <p:nvPr/>
        </p:nvSpPr>
        <p:spPr>
          <a:xfrm>
            <a:off x="4846320" y="3337560"/>
            <a:ext cx="3657600" cy="274320"/>
          </a:xfrm>
          <a:prstGeom prst="rect">
            <a:avLst/>
          </a:prstGeom>
          <a:noFill/>
          <a:ln/>
        </p:spPr>
        <p:txBody>
          <a:bodyPr wrap="square" lIns="0" tIns="0" rIns="0" bIns="0" rtlCol="0" anchor="ctr"/>
          <a:lstStyle/>
          <a:p>
            <a:pPr marL="0" indent="0">
              <a:buNone/>
            </a:pPr>
            <a:r>
              <a:rPr lang="en-US" sz="1400" dirty="0">
                <a:solidFill>
                  <a:srgbClr val="F8FAFC"/>
                </a:solidFill>
                <a:latin typeface="Calibri" pitchFamily="34" charset="0"/>
                <a:ea typeface="Calibri" pitchFamily="34" charset="-122"/>
                <a:cs typeface="Calibri" pitchFamily="34" charset="-120"/>
              </a:rPr>
              <a:t>analitičara podataka</a:t>
            </a:r>
            <a:endParaRPr lang="en-US" sz="1400" dirty="0"/>
          </a:p>
        </p:txBody>
      </p:sp>
      <p:sp>
        <p:nvSpPr>
          <p:cNvPr id="14" name="Text 12"/>
          <p:cNvSpPr/>
          <p:nvPr/>
        </p:nvSpPr>
        <p:spPr>
          <a:xfrm>
            <a:off x="4846320" y="3593592"/>
            <a:ext cx="3657600" cy="27432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u 10 klubova + </a:t>
            </a:r>
            <a:r>
              <a:rPr lang="en-US" sz="1100" dirty="0" err="1">
                <a:solidFill>
                  <a:srgbClr val="64748B"/>
                </a:solidFill>
                <a:latin typeface="Calibri" pitchFamily="34" charset="0"/>
                <a:ea typeface="Calibri" pitchFamily="34" charset="-122"/>
                <a:cs typeface="Calibri" pitchFamily="34" charset="-120"/>
              </a:rPr>
              <a:t>savez</a:t>
            </a:r>
            <a:r>
              <a:rPr lang="en-US" sz="1100" dirty="0">
                <a:solidFill>
                  <a:srgbClr val="64748B"/>
                </a:solidFill>
                <a:latin typeface="Calibri" pitchFamily="34" charset="0"/>
                <a:ea typeface="Calibri" pitchFamily="34" charset="-122"/>
                <a:cs typeface="Calibri" pitchFamily="34" charset="-120"/>
              </a:rPr>
              <a:t> + </a:t>
            </a:r>
            <a:r>
              <a:rPr lang="en-US" sz="1100" dirty="0" err="1">
                <a:solidFill>
                  <a:srgbClr val="64748B"/>
                </a:solidFill>
                <a:latin typeface="Calibri" pitchFamily="34" charset="0"/>
                <a:ea typeface="Calibri" pitchFamily="34" charset="-122"/>
                <a:cs typeface="Calibri" pitchFamily="34" charset="-120"/>
              </a:rPr>
              <a:t>reprezentativni</a:t>
            </a:r>
            <a:r>
              <a:rPr lang="en-US" sz="1100" dirty="0">
                <a:solidFill>
                  <a:srgbClr val="64748B"/>
                </a:solidFill>
                <a:latin typeface="Calibri" pitchFamily="34" charset="0"/>
                <a:ea typeface="Calibri" pitchFamily="34" charset="-122"/>
                <a:cs typeface="Calibri" pitchFamily="34" charset="-120"/>
              </a:rPr>
              <a:t> timovi</a:t>
            </a:r>
            <a:endParaRPr lang="en-US" sz="1100" dirty="0"/>
          </a:p>
        </p:txBody>
      </p:sp>
      <p:sp>
        <p:nvSpPr>
          <p:cNvPr id="15" name="Text 13"/>
          <p:cNvSpPr/>
          <p:nvPr/>
        </p:nvSpPr>
        <p:spPr>
          <a:xfrm>
            <a:off x="457200" y="4343400"/>
            <a:ext cx="8229600" cy="457200"/>
          </a:xfrm>
          <a:prstGeom prst="rect">
            <a:avLst/>
          </a:prstGeom>
          <a:noFill/>
          <a:ln/>
        </p:spPr>
        <p:txBody>
          <a:bodyPr wrap="square" lIns="0" tIns="0" rIns="0" bIns="0" rtlCol="0" anchor="ctr"/>
          <a:lstStyle/>
          <a:p>
            <a:pPr marL="0" indent="0" algn="ctr">
              <a:buNone/>
            </a:pPr>
            <a:r>
              <a:rPr lang="en-US" sz="1200" i="1" dirty="0">
                <a:solidFill>
                  <a:srgbClr val="94A3B8"/>
                </a:solidFill>
                <a:latin typeface="Calibri" pitchFamily="34" charset="0"/>
                <a:ea typeface="Calibri" pitchFamily="34" charset="-122"/>
                <a:cs typeface="Calibri" pitchFamily="34" charset="-120"/>
              </a:rPr>
              <a:t>Ovo je ustaljena velika industrija i mislim da je vrijeme da mi počnemo da je shvatamo ozbiljno</a:t>
            </a:r>
            <a:endParaRPr lang="en-US" sz="1200" b="1" i="1" dirty="0">
              <a:solidFill>
                <a:srgbClr val="EF4444"/>
              </a:solidFill>
              <a:latin typeface="Calibri" pitchFamily="34" charset="0"/>
              <a:ea typeface="Calibri" pitchFamily="34" charset="-122"/>
              <a:cs typeface="Calibri" pitchFamily="34" charset="-120"/>
            </a:endParaRPr>
          </a:p>
        </p:txBody>
      </p:sp>
      <p:sp>
        <p:nvSpPr>
          <p:cNvPr id="16" name="Text 14"/>
          <p:cNvSpPr/>
          <p:nvPr/>
        </p:nvSpPr>
        <p:spPr>
          <a:xfrm>
            <a:off x="457200" y="4777740"/>
            <a:ext cx="5486400" cy="274320"/>
          </a:xfrm>
          <a:prstGeom prst="rect">
            <a:avLst/>
          </a:prstGeom>
          <a:noFill/>
          <a:ln/>
        </p:spPr>
        <p:txBody>
          <a:bodyPr wrap="square" lIns="0" tIns="0" rIns="0" bIns="0" rtlCol="0" anchor="ctr"/>
          <a:lstStyle/>
          <a:p>
            <a:pPr marL="0" indent="0">
              <a:buNone/>
            </a:pPr>
            <a:r>
              <a:rPr lang="en-US" sz="800" b="1" kern="0" spc="300" dirty="0">
                <a:solidFill>
                  <a:srgbClr val="64748B"/>
                </a:solidFill>
                <a:latin typeface="Calibri" pitchFamily="34" charset="0"/>
                <a:ea typeface="Calibri" pitchFamily="34" charset="-122"/>
                <a:cs typeface="Calibri" pitchFamily="34" charset="-120"/>
              </a:rPr>
              <a:t>ANALITIKA PODATAKA ZA CRNOGORSKI FUDBAL</a:t>
            </a:r>
            <a:endParaRPr lang="en-US" sz="800" dirty="0"/>
          </a:p>
        </p:txBody>
      </p:sp>
      <p:sp>
        <p:nvSpPr>
          <p:cNvPr id="17" name="Text 15"/>
          <p:cNvSpPr/>
          <p:nvPr/>
        </p:nvSpPr>
        <p:spPr>
          <a:xfrm>
            <a:off x="7955280" y="4777740"/>
            <a:ext cx="9144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04 / 21</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0F1C"/>
        </a:solidFill>
        <a:effectLst/>
      </p:bgPr>
    </p:bg>
    <p:spTree>
      <p:nvGrpSpPr>
        <p:cNvPr id="1" name=""/>
        <p:cNvGrpSpPr/>
        <p:nvPr/>
      </p:nvGrpSpPr>
      <p:grpSpPr>
        <a:xfrm>
          <a:off x="0" y="0"/>
          <a:ext cx="0" cy="0"/>
          <a:chOff x="0" y="0"/>
          <a:chExt cx="0" cy="0"/>
        </a:xfrm>
      </p:grpSpPr>
      <p:sp>
        <p:nvSpPr>
          <p:cNvPr id="2" name="Shape 0"/>
          <p:cNvSpPr/>
          <p:nvPr/>
        </p:nvSpPr>
        <p:spPr>
          <a:xfrm>
            <a:off x="457200" y="411480"/>
            <a:ext cx="164592" cy="164592"/>
          </a:xfrm>
          <a:prstGeom prst="rect">
            <a:avLst/>
          </a:prstGeom>
          <a:solidFill>
            <a:srgbClr val="22C55E"/>
          </a:solidFill>
          <a:ln w="12700">
            <a:solidFill>
              <a:srgbClr val="22C55E"/>
            </a:solidFill>
            <a:prstDash val="solid"/>
          </a:ln>
        </p:spPr>
        <p:txBody>
          <a:bodyPr/>
          <a:lstStyle/>
          <a:p>
            <a:endParaRPr/>
          </a:p>
        </p:txBody>
      </p:sp>
      <p:sp>
        <p:nvSpPr>
          <p:cNvPr id="3" name="Text 1"/>
          <p:cNvSpPr/>
          <p:nvPr/>
        </p:nvSpPr>
        <p:spPr>
          <a:xfrm>
            <a:off x="749808" y="384048"/>
            <a:ext cx="7315200" cy="228600"/>
          </a:xfrm>
          <a:prstGeom prst="rect">
            <a:avLst/>
          </a:prstGeom>
          <a:noFill/>
          <a:ln/>
        </p:spPr>
        <p:txBody>
          <a:bodyPr wrap="square" lIns="0" tIns="0" rIns="0" bIns="0" rtlCol="0" anchor="ctr"/>
          <a:lstStyle/>
          <a:p>
            <a:pPr marL="0" indent="0">
              <a:buNone/>
            </a:pPr>
            <a:r>
              <a:rPr lang="en-US" sz="1000" b="1" kern="0" spc="400" dirty="0">
                <a:solidFill>
                  <a:srgbClr val="22C55E"/>
                </a:solidFill>
                <a:latin typeface="Calibri" pitchFamily="34" charset="0"/>
                <a:ea typeface="Calibri" pitchFamily="34" charset="-122"/>
                <a:cs typeface="Calibri" pitchFamily="34" charset="-120"/>
              </a:rPr>
              <a:t>ZAOSTAJANJE</a:t>
            </a:r>
            <a:endParaRPr lang="en-US" sz="1000" dirty="0"/>
          </a:p>
        </p:txBody>
      </p:sp>
      <p:sp>
        <p:nvSpPr>
          <p:cNvPr id="4" name="Text 2"/>
          <p:cNvSpPr/>
          <p:nvPr/>
        </p:nvSpPr>
        <p:spPr>
          <a:xfrm>
            <a:off x="457200" y="685800"/>
            <a:ext cx="8229600" cy="640080"/>
          </a:xfrm>
          <a:prstGeom prst="rect">
            <a:avLst/>
          </a:prstGeom>
          <a:noFill/>
          <a:ln/>
        </p:spPr>
        <p:txBody>
          <a:bodyPr wrap="square" lIns="0" tIns="0" rIns="0" bIns="0" rtlCol="0" anchor="ctr"/>
          <a:lstStyle/>
          <a:p>
            <a:pPr marL="0" indent="0">
              <a:buNone/>
            </a:pPr>
            <a:r>
              <a:rPr lang="en-US" sz="2600" b="1" dirty="0">
                <a:solidFill>
                  <a:srgbClr val="F8FAFC"/>
                </a:solidFill>
                <a:latin typeface="Calibri" pitchFamily="34" charset="0"/>
                <a:ea typeface="Calibri" pitchFamily="34" charset="-122"/>
                <a:cs typeface="Calibri" pitchFamily="34" charset="-120"/>
              </a:rPr>
              <a:t>Koliko </a:t>
            </a:r>
            <a:r>
              <a:rPr lang="en-US" sz="2600" b="1" dirty="0" err="1">
                <a:solidFill>
                  <a:srgbClr val="F8FAFC"/>
                </a:solidFill>
                <a:latin typeface="Calibri" pitchFamily="34" charset="0"/>
                <a:ea typeface="Calibri" pitchFamily="34" charset="-122"/>
                <a:cs typeface="Calibri" pitchFamily="34" charset="-120"/>
              </a:rPr>
              <a:t>kasnimo</a:t>
            </a:r>
            <a:r>
              <a:rPr lang="en-US" sz="2600" b="1" dirty="0">
                <a:solidFill>
                  <a:srgbClr val="F8FAFC"/>
                </a:solidFill>
                <a:latin typeface="Calibri" pitchFamily="34" charset="0"/>
                <a:ea typeface="Calibri" pitchFamily="34" charset="-122"/>
                <a:cs typeface="Calibri" pitchFamily="34" charset="-120"/>
              </a:rPr>
              <a:t> za </a:t>
            </a:r>
            <a:r>
              <a:rPr lang="en-US" sz="2600" b="1" dirty="0" err="1">
                <a:solidFill>
                  <a:srgbClr val="F8FAFC"/>
                </a:solidFill>
                <a:latin typeface="Calibri" pitchFamily="34" charset="0"/>
                <a:ea typeface="Calibri" pitchFamily="34" charset="-122"/>
                <a:cs typeface="Calibri" pitchFamily="34" charset="-120"/>
              </a:rPr>
              <a:t>drugima</a:t>
            </a:r>
            <a:endParaRPr lang="en-US" sz="2600" dirty="0"/>
          </a:p>
        </p:txBody>
      </p:sp>
      <p:sp>
        <p:nvSpPr>
          <p:cNvPr id="5" name="Shape 3"/>
          <p:cNvSpPr/>
          <p:nvPr/>
        </p:nvSpPr>
        <p:spPr>
          <a:xfrm>
            <a:off x="608076" y="1892808"/>
            <a:ext cx="7927848" cy="0"/>
          </a:xfrm>
          <a:prstGeom prst="line">
            <a:avLst/>
          </a:prstGeom>
          <a:noFill/>
          <a:ln w="25400">
            <a:solidFill>
              <a:srgbClr val="243049"/>
            </a:solidFill>
            <a:prstDash val="solid"/>
          </a:ln>
        </p:spPr>
        <p:txBody>
          <a:bodyPr/>
          <a:lstStyle/>
          <a:p>
            <a:endParaRPr/>
          </a:p>
        </p:txBody>
      </p:sp>
      <p:sp>
        <p:nvSpPr>
          <p:cNvPr id="6" name="Shape 4"/>
          <p:cNvSpPr/>
          <p:nvPr/>
        </p:nvSpPr>
        <p:spPr>
          <a:xfrm>
            <a:off x="333756" y="1600200"/>
            <a:ext cx="1600200" cy="2808514"/>
          </a:xfrm>
          <a:prstGeom prst="rect">
            <a:avLst/>
          </a:prstGeom>
          <a:solidFill>
            <a:srgbClr val="141B2E"/>
          </a:solidFill>
          <a:ln w="12700">
            <a:solidFill>
              <a:srgbClr val="243049"/>
            </a:solidFill>
            <a:prstDash val="solid"/>
          </a:ln>
        </p:spPr>
        <p:txBody>
          <a:bodyPr/>
          <a:lstStyle/>
          <a:p>
            <a:endParaRPr/>
          </a:p>
        </p:txBody>
      </p:sp>
      <p:sp>
        <p:nvSpPr>
          <p:cNvPr id="8" name="Text 6"/>
          <p:cNvSpPr/>
          <p:nvPr/>
        </p:nvSpPr>
        <p:spPr>
          <a:xfrm>
            <a:off x="392866" y="1901952"/>
            <a:ext cx="1417320" cy="347472"/>
          </a:xfrm>
          <a:prstGeom prst="rect">
            <a:avLst/>
          </a:prstGeom>
          <a:noFill/>
          <a:ln/>
        </p:spPr>
        <p:txBody>
          <a:bodyPr wrap="square" lIns="0" tIns="0" rIns="0" bIns="0" rtlCol="0" anchor="ctr"/>
          <a:lstStyle/>
          <a:p>
            <a:pPr marL="0" indent="0" algn="ctr">
              <a:buNone/>
            </a:pPr>
            <a:r>
              <a:rPr lang="en-US" sz="1800" b="1" dirty="0">
                <a:solidFill>
                  <a:srgbClr val="22C55E"/>
                </a:solidFill>
                <a:latin typeface="Calibri" pitchFamily="34" charset="0"/>
                <a:ea typeface="Calibri" pitchFamily="34" charset="-122"/>
                <a:cs typeface="Calibri" pitchFamily="34" charset="-120"/>
              </a:rPr>
              <a:t>1996</a:t>
            </a:r>
            <a:endParaRPr lang="en-US" sz="1800" dirty="0"/>
          </a:p>
        </p:txBody>
      </p:sp>
      <p:sp>
        <p:nvSpPr>
          <p:cNvPr id="9" name="Text 7"/>
          <p:cNvSpPr/>
          <p:nvPr/>
        </p:nvSpPr>
        <p:spPr>
          <a:xfrm>
            <a:off x="425196" y="2330085"/>
            <a:ext cx="1417320" cy="256032"/>
          </a:xfrm>
          <a:prstGeom prst="rect">
            <a:avLst/>
          </a:prstGeom>
          <a:noFill/>
          <a:ln/>
        </p:spPr>
        <p:txBody>
          <a:bodyPr wrap="square" lIns="0" tIns="0" rIns="0" bIns="0" rtlCol="0" anchor="ctr"/>
          <a:lstStyle/>
          <a:p>
            <a:pPr marL="0" indent="0" algn="ctr">
              <a:buNone/>
            </a:pPr>
            <a:r>
              <a:rPr lang="en-US" sz="1400" b="1" dirty="0">
                <a:solidFill>
                  <a:srgbClr val="F8FAFC"/>
                </a:solidFill>
                <a:latin typeface="Calibri" pitchFamily="34" charset="0"/>
                <a:ea typeface="Calibri" pitchFamily="34" charset="-122"/>
                <a:cs typeface="Calibri" pitchFamily="34" charset="-120"/>
              </a:rPr>
              <a:t>Premier Liga</a:t>
            </a:r>
            <a:endParaRPr lang="en-US" sz="1400" dirty="0"/>
          </a:p>
        </p:txBody>
      </p:sp>
      <p:sp>
        <p:nvSpPr>
          <p:cNvPr id="10" name="Shape 8"/>
          <p:cNvSpPr/>
          <p:nvPr/>
        </p:nvSpPr>
        <p:spPr>
          <a:xfrm>
            <a:off x="950976" y="2734056"/>
            <a:ext cx="365760" cy="0"/>
          </a:xfrm>
          <a:prstGeom prst="line">
            <a:avLst/>
          </a:prstGeom>
          <a:noFill/>
          <a:ln w="19050">
            <a:solidFill>
              <a:srgbClr val="22C55E"/>
            </a:solidFill>
            <a:prstDash val="solid"/>
          </a:ln>
        </p:spPr>
        <p:txBody>
          <a:bodyPr/>
          <a:lstStyle/>
          <a:p>
            <a:endParaRPr/>
          </a:p>
        </p:txBody>
      </p:sp>
      <p:sp>
        <p:nvSpPr>
          <p:cNvPr id="11" name="Text 9"/>
          <p:cNvSpPr/>
          <p:nvPr/>
        </p:nvSpPr>
        <p:spPr>
          <a:xfrm>
            <a:off x="529046" y="2898647"/>
            <a:ext cx="1267750" cy="1312161"/>
          </a:xfrm>
          <a:prstGeom prst="rect">
            <a:avLst/>
          </a:prstGeom>
          <a:noFill/>
          <a:ln/>
        </p:spPr>
        <p:txBody>
          <a:bodyPr wrap="square" lIns="0" tIns="0" rIns="0" bIns="0" rtlCol="0" anchor="t"/>
          <a:lstStyle/>
          <a:p>
            <a:pPr marL="0" indent="0" algn="ctr">
              <a:buNone/>
            </a:pPr>
            <a:r>
              <a:rPr lang="en-US" sz="1000" dirty="0">
                <a:solidFill>
                  <a:srgbClr val="94A3B8"/>
                </a:solidFill>
                <a:latin typeface="Calibri" pitchFamily="34" charset="0"/>
                <a:ea typeface="Calibri" pitchFamily="34" charset="-122"/>
                <a:cs typeface="Calibri" pitchFamily="34" charset="-120"/>
              </a:rPr>
              <a:t>Opta </a:t>
            </a:r>
            <a:r>
              <a:rPr lang="en-US" sz="1000" dirty="0" err="1">
                <a:solidFill>
                  <a:srgbClr val="94A3B8"/>
                </a:solidFill>
                <a:latin typeface="Calibri" pitchFamily="34" charset="0"/>
                <a:ea typeface="Calibri" pitchFamily="34" charset="-122"/>
                <a:cs typeface="Calibri" pitchFamily="34" charset="-120"/>
              </a:rPr>
              <a:t>pocinje</a:t>
            </a:r>
            <a:r>
              <a:rPr lang="en-US" sz="1000" dirty="0">
                <a:solidFill>
                  <a:srgbClr val="94A3B8"/>
                </a:solidFill>
                <a:latin typeface="Calibri" pitchFamily="34" charset="0"/>
                <a:ea typeface="Calibri" pitchFamily="34" charset="-122"/>
                <a:cs typeface="Calibri" pitchFamily="34" charset="-120"/>
              </a:rPr>
              <a:t> da </a:t>
            </a:r>
            <a:r>
              <a:rPr lang="en-US" sz="1000" dirty="0" err="1">
                <a:solidFill>
                  <a:srgbClr val="94A3B8"/>
                </a:solidFill>
                <a:latin typeface="Calibri" pitchFamily="34" charset="0"/>
                <a:ea typeface="Calibri" pitchFamily="34" charset="-122"/>
                <a:cs typeface="Calibri" pitchFamily="34" charset="-120"/>
              </a:rPr>
              <a:t>biljezi</a:t>
            </a:r>
            <a:r>
              <a:rPr lang="en-US" sz="1000" dirty="0">
                <a:solidFill>
                  <a:srgbClr val="94A3B8"/>
                </a:solidFill>
                <a:latin typeface="Calibri" pitchFamily="34" charset="0"/>
                <a:ea typeface="Calibri" pitchFamily="34" charset="-122"/>
                <a:cs typeface="Calibri" pitchFamily="34" charset="-120"/>
              </a:rPr>
              <a:t> </a:t>
            </a:r>
            <a:r>
              <a:rPr lang="en-US" sz="1000" dirty="0" err="1">
                <a:solidFill>
                  <a:srgbClr val="94A3B8"/>
                </a:solidFill>
                <a:latin typeface="Calibri" pitchFamily="34" charset="0"/>
                <a:ea typeface="Calibri" pitchFamily="34" charset="-122"/>
                <a:cs typeface="Calibri" pitchFamily="34" charset="-120"/>
              </a:rPr>
              <a:t>svaku</a:t>
            </a:r>
            <a:r>
              <a:rPr lang="en-US" sz="1000" dirty="0">
                <a:solidFill>
                  <a:srgbClr val="94A3B8"/>
                </a:solidFill>
                <a:latin typeface="Calibri" pitchFamily="34" charset="0"/>
                <a:ea typeface="Calibri" pitchFamily="34" charset="-122"/>
                <a:cs typeface="Calibri" pitchFamily="34" charset="-120"/>
              </a:rPr>
              <a:t> </a:t>
            </a:r>
            <a:r>
              <a:rPr lang="en-US" sz="1000" dirty="0" err="1">
                <a:solidFill>
                  <a:srgbClr val="94A3B8"/>
                </a:solidFill>
                <a:latin typeface="Calibri" pitchFamily="34" charset="0"/>
                <a:ea typeface="Calibri" pitchFamily="34" charset="-122"/>
                <a:cs typeface="Calibri" pitchFamily="34" charset="-120"/>
              </a:rPr>
              <a:t>utakmicu</a:t>
            </a:r>
            <a:r>
              <a:rPr lang="en-US" sz="1000" dirty="0">
                <a:solidFill>
                  <a:srgbClr val="94A3B8"/>
                </a:solidFill>
                <a:latin typeface="Calibri" pitchFamily="34" charset="0"/>
                <a:ea typeface="Calibri" pitchFamily="34" charset="-122"/>
                <a:cs typeface="Calibri" pitchFamily="34" charset="-120"/>
              </a:rPr>
              <a:t>. </a:t>
            </a:r>
            <a:r>
              <a:rPr lang="en-US" sz="1000" dirty="0" err="1">
                <a:solidFill>
                  <a:srgbClr val="94A3B8"/>
                </a:solidFill>
                <a:latin typeface="Calibri" pitchFamily="34" charset="0"/>
                <a:ea typeface="Calibri" pitchFamily="34" charset="-122"/>
                <a:cs typeface="Calibri" pitchFamily="34" charset="-120"/>
              </a:rPr>
              <a:t>Dodavanja</a:t>
            </a:r>
            <a:r>
              <a:rPr lang="en-US" sz="1000" dirty="0">
                <a:solidFill>
                  <a:srgbClr val="94A3B8"/>
                </a:solidFill>
                <a:latin typeface="Calibri" pitchFamily="34" charset="0"/>
                <a:ea typeface="Calibri" pitchFamily="34" charset="-122"/>
                <a:cs typeface="Calibri" pitchFamily="34" charset="-120"/>
              </a:rPr>
              <a:t>, </a:t>
            </a:r>
            <a:r>
              <a:rPr lang="en-US" sz="1000" dirty="0" err="1">
                <a:solidFill>
                  <a:srgbClr val="94A3B8"/>
                </a:solidFill>
                <a:latin typeface="Calibri" pitchFamily="34" charset="0"/>
                <a:ea typeface="Calibri" pitchFamily="34" charset="-122"/>
                <a:cs typeface="Calibri" pitchFamily="34" charset="-120"/>
              </a:rPr>
              <a:t>sutevi</a:t>
            </a:r>
            <a:r>
              <a:rPr lang="en-US" sz="1000" dirty="0">
                <a:solidFill>
                  <a:srgbClr val="94A3B8"/>
                </a:solidFill>
                <a:latin typeface="Calibri" pitchFamily="34" charset="0"/>
                <a:ea typeface="Calibri" pitchFamily="34" charset="-122"/>
                <a:cs typeface="Calibri" pitchFamily="34" charset="-120"/>
              </a:rPr>
              <a:t>, </a:t>
            </a:r>
            <a:r>
              <a:rPr lang="en-US" sz="1000" dirty="0" err="1">
                <a:solidFill>
                  <a:srgbClr val="94A3B8"/>
                </a:solidFill>
                <a:latin typeface="Calibri" pitchFamily="34" charset="0"/>
                <a:ea typeface="Calibri" pitchFamily="34" charset="-122"/>
                <a:cs typeface="Calibri" pitchFamily="34" charset="-120"/>
              </a:rPr>
              <a:t>dueli</a:t>
            </a:r>
            <a:r>
              <a:rPr lang="en-US" sz="1000" dirty="0">
                <a:solidFill>
                  <a:srgbClr val="94A3B8"/>
                </a:solidFill>
                <a:latin typeface="Calibri" pitchFamily="34" charset="0"/>
                <a:ea typeface="Calibri" pitchFamily="34" charset="-122"/>
                <a:cs typeface="Calibri" pitchFamily="34" charset="-120"/>
              </a:rPr>
              <a:t> — </a:t>
            </a:r>
            <a:r>
              <a:rPr lang="en-US" sz="1000" dirty="0" err="1">
                <a:solidFill>
                  <a:srgbClr val="94A3B8"/>
                </a:solidFill>
                <a:latin typeface="Calibri" pitchFamily="34" charset="0"/>
                <a:ea typeface="Calibri" pitchFamily="34" charset="-122"/>
                <a:cs typeface="Calibri" pitchFamily="34" charset="-120"/>
              </a:rPr>
              <a:t>sve</a:t>
            </a:r>
            <a:r>
              <a:rPr lang="en-US" sz="1000" dirty="0">
                <a:solidFill>
                  <a:srgbClr val="94A3B8"/>
                </a:solidFill>
                <a:latin typeface="Calibri" pitchFamily="34" charset="0"/>
                <a:ea typeface="Calibri" pitchFamily="34" charset="-122"/>
                <a:cs typeface="Calibri" pitchFamily="34" charset="-120"/>
              </a:rPr>
              <a:t> </a:t>
            </a:r>
            <a:r>
              <a:rPr lang="en-US" sz="1000" dirty="0" err="1">
                <a:solidFill>
                  <a:srgbClr val="94A3B8"/>
                </a:solidFill>
                <a:latin typeface="Calibri" pitchFamily="34" charset="0"/>
                <a:ea typeface="Calibri" pitchFamily="34" charset="-122"/>
                <a:cs typeface="Calibri" pitchFamily="34" charset="-120"/>
              </a:rPr>
              <a:t>zabilježeno</a:t>
            </a:r>
            <a:r>
              <a:rPr lang="en-US" sz="1000" dirty="0">
                <a:solidFill>
                  <a:srgbClr val="94A3B8"/>
                </a:solidFill>
                <a:latin typeface="Calibri" pitchFamily="34" charset="0"/>
                <a:ea typeface="Calibri" pitchFamily="34" charset="-122"/>
                <a:cs typeface="Calibri" pitchFamily="34" charset="-120"/>
              </a:rPr>
              <a:t>. </a:t>
            </a:r>
            <a:r>
              <a:rPr lang="en-US" sz="1000" dirty="0" err="1">
                <a:solidFill>
                  <a:srgbClr val="94A3B8"/>
                </a:solidFill>
                <a:latin typeface="Calibri" pitchFamily="34" charset="0"/>
                <a:ea typeface="Calibri" pitchFamily="34" charset="-122"/>
                <a:cs typeface="Calibri" pitchFamily="34" charset="-120"/>
              </a:rPr>
              <a:t>Podaci</a:t>
            </a:r>
            <a:r>
              <a:rPr lang="en-US" sz="1000" dirty="0">
                <a:solidFill>
                  <a:srgbClr val="94A3B8"/>
                </a:solidFill>
                <a:latin typeface="Calibri" pitchFamily="34" charset="0"/>
                <a:ea typeface="Calibri" pitchFamily="34" charset="-122"/>
                <a:cs typeface="Calibri" pitchFamily="34" charset="-120"/>
              </a:rPr>
              <a:t> </a:t>
            </a:r>
            <a:r>
              <a:rPr lang="en-US" sz="1000" dirty="0" err="1">
                <a:solidFill>
                  <a:srgbClr val="94A3B8"/>
                </a:solidFill>
                <a:latin typeface="Calibri" pitchFamily="34" charset="0"/>
                <a:ea typeface="Calibri" pitchFamily="34" charset="-122"/>
                <a:cs typeface="Calibri" pitchFamily="34" charset="-120"/>
              </a:rPr>
              <a:t>postaju</a:t>
            </a:r>
            <a:r>
              <a:rPr lang="en-US" sz="1000" dirty="0">
                <a:solidFill>
                  <a:srgbClr val="94A3B8"/>
                </a:solidFill>
                <a:latin typeface="Calibri" pitchFamily="34" charset="0"/>
                <a:ea typeface="Calibri" pitchFamily="34" charset="-122"/>
                <a:cs typeface="Calibri" pitchFamily="34" charset="-120"/>
              </a:rPr>
              <a:t> </a:t>
            </a:r>
            <a:r>
              <a:rPr lang="en-US" sz="1000" dirty="0" err="1">
                <a:solidFill>
                  <a:srgbClr val="94A3B8"/>
                </a:solidFill>
                <a:latin typeface="Calibri" pitchFamily="34" charset="0"/>
                <a:ea typeface="Calibri" pitchFamily="34" charset="-122"/>
                <a:cs typeface="Calibri" pitchFamily="34" charset="-120"/>
              </a:rPr>
              <a:t>imovina</a:t>
            </a:r>
            <a:r>
              <a:rPr lang="en-US" sz="1000" dirty="0">
                <a:solidFill>
                  <a:srgbClr val="94A3B8"/>
                </a:solidFill>
                <a:latin typeface="Calibri" pitchFamily="34" charset="0"/>
                <a:ea typeface="Calibri" pitchFamily="34" charset="-122"/>
                <a:cs typeface="Calibri" pitchFamily="34" charset="-120"/>
              </a:rPr>
              <a:t>.</a:t>
            </a:r>
            <a:endParaRPr lang="en-US" sz="1000" dirty="0"/>
          </a:p>
        </p:txBody>
      </p:sp>
      <p:sp>
        <p:nvSpPr>
          <p:cNvPr id="12" name="Shape 10"/>
          <p:cNvSpPr/>
          <p:nvPr/>
        </p:nvSpPr>
        <p:spPr>
          <a:xfrm>
            <a:off x="2052828" y="1600200"/>
            <a:ext cx="1600200" cy="2808514"/>
          </a:xfrm>
          <a:prstGeom prst="rect">
            <a:avLst/>
          </a:prstGeom>
          <a:solidFill>
            <a:srgbClr val="141B2E"/>
          </a:solidFill>
          <a:ln w="12700">
            <a:solidFill>
              <a:srgbClr val="243049"/>
            </a:solidFill>
            <a:prstDash val="solid"/>
          </a:ln>
        </p:spPr>
        <p:txBody>
          <a:bodyPr/>
          <a:lstStyle/>
          <a:p>
            <a:endParaRPr/>
          </a:p>
        </p:txBody>
      </p:sp>
      <p:sp>
        <p:nvSpPr>
          <p:cNvPr id="14" name="Text 12"/>
          <p:cNvSpPr/>
          <p:nvPr/>
        </p:nvSpPr>
        <p:spPr>
          <a:xfrm>
            <a:off x="2144268" y="1905871"/>
            <a:ext cx="1417320" cy="347472"/>
          </a:xfrm>
          <a:prstGeom prst="rect">
            <a:avLst/>
          </a:prstGeom>
          <a:noFill/>
          <a:ln/>
        </p:spPr>
        <p:txBody>
          <a:bodyPr wrap="square" lIns="0" tIns="0" rIns="0" bIns="0" rtlCol="0" anchor="ctr"/>
          <a:lstStyle/>
          <a:p>
            <a:pPr marL="0" indent="0" algn="ctr">
              <a:buNone/>
            </a:pPr>
            <a:r>
              <a:rPr lang="en-US" sz="1800" b="1" dirty="0">
                <a:solidFill>
                  <a:srgbClr val="22C55E"/>
                </a:solidFill>
                <a:latin typeface="Calibri" pitchFamily="34" charset="0"/>
                <a:ea typeface="Calibri" pitchFamily="34" charset="-122"/>
                <a:cs typeface="Calibri" pitchFamily="34" charset="-120"/>
              </a:rPr>
              <a:t>2004</a:t>
            </a:r>
            <a:endParaRPr lang="en-US" sz="1800" dirty="0"/>
          </a:p>
        </p:txBody>
      </p:sp>
      <p:sp>
        <p:nvSpPr>
          <p:cNvPr id="15" name="Text 13"/>
          <p:cNvSpPr/>
          <p:nvPr/>
        </p:nvSpPr>
        <p:spPr>
          <a:xfrm>
            <a:off x="2144268" y="2344782"/>
            <a:ext cx="1417320" cy="256032"/>
          </a:xfrm>
          <a:prstGeom prst="rect">
            <a:avLst/>
          </a:prstGeom>
          <a:noFill/>
          <a:ln/>
        </p:spPr>
        <p:txBody>
          <a:bodyPr wrap="square" lIns="0" tIns="0" rIns="0" bIns="0" rtlCol="0" anchor="ctr"/>
          <a:lstStyle/>
          <a:p>
            <a:pPr marL="0" indent="0" algn="ctr">
              <a:buNone/>
            </a:pPr>
            <a:r>
              <a:rPr lang="en-US" sz="1400" b="1" dirty="0">
                <a:solidFill>
                  <a:srgbClr val="F8FAFC"/>
                </a:solidFill>
                <a:latin typeface="Calibri" pitchFamily="34" charset="0"/>
                <a:ea typeface="Calibri" pitchFamily="34" charset="-122"/>
                <a:cs typeface="Calibri" pitchFamily="34" charset="-120"/>
              </a:rPr>
              <a:t>Digitalno skautiranje</a:t>
            </a:r>
            <a:endParaRPr lang="en-US" sz="1400" dirty="0"/>
          </a:p>
        </p:txBody>
      </p:sp>
      <p:sp>
        <p:nvSpPr>
          <p:cNvPr id="16" name="Shape 14"/>
          <p:cNvSpPr/>
          <p:nvPr/>
        </p:nvSpPr>
        <p:spPr>
          <a:xfrm>
            <a:off x="2670048" y="2734056"/>
            <a:ext cx="365760" cy="0"/>
          </a:xfrm>
          <a:prstGeom prst="line">
            <a:avLst/>
          </a:prstGeom>
          <a:noFill/>
          <a:ln w="19050">
            <a:solidFill>
              <a:srgbClr val="22C55E"/>
            </a:solidFill>
            <a:prstDash val="solid"/>
          </a:ln>
        </p:spPr>
        <p:txBody>
          <a:bodyPr/>
          <a:lstStyle/>
          <a:p>
            <a:endParaRPr/>
          </a:p>
        </p:txBody>
      </p:sp>
      <p:sp>
        <p:nvSpPr>
          <p:cNvPr id="17" name="Text 15"/>
          <p:cNvSpPr/>
          <p:nvPr/>
        </p:nvSpPr>
        <p:spPr>
          <a:xfrm>
            <a:off x="2189988" y="2825496"/>
            <a:ext cx="1284732" cy="1459121"/>
          </a:xfrm>
          <a:prstGeom prst="rect">
            <a:avLst/>
          </a:prstGeom>
          <a:noFill/>
          <a:ln/>
        </p:spPr>
        <p:txBody>
          <a:bodyPr wrap="square" lIns="0" tIns="0" rIns="0" bIns="0" rtlCol="0" anchor="t"/>
          <a:lstStyle/>
          <a:p>
            <a:pPr marL="0" indent="0" algn="ctr">
              <a:buNone/>
            </a:pPr>
            <a:r>
              <a:rPr lang="en-US" sz="1000" dirty="0" err="1">
                <a:solidFill>
                  <a:srgbClr val="94A3B8"/>
                </a:solidFill>
                <a:latin typeface="Calibri" pitchFamily="34" charset="0"/>
                <a:ea typeface="Calibri" pitchFamily="34" charset="-122"/>
                <a:cs typeface="Calibri" pitchFamily="34" charset="-120"/>
              </a:rPr>
              <a:t>Klubovi</a:t>
            </a:r>
            <a:r>
              <a:rPr lang="en-US" sz="1000" dirty="0">
                <a:solidFill>
                  <a:srgbClr val="94A3B8"/>
                </a:solidFill>
                <a:latin typeface="Calibri" pitchFamily="34" charset="0"/>
                <a:ea typeface="Calibri" pitchFamily="34" charset="-122"/>
                <a:cs typeface="Calibri" pitchFamily="34" charset="-120"/>
              </a:rPr>
              <a:t> </a:t>
            </a:r>
            <a:r>
              <a:rPr lang="en-US" sz="1000" dirty="0" err="1">
                <a:solidFill>
                  <a:srgbClr val="94A3B8"/>
                </a:solidFill>
                <a:latin typeface="Calibri" pitchFamily="34" charset="0"/>
                <a:ea typeface="Calibri" pitchFamily="34" charset="-122"/>
                <a:cs typeface="Calibri" pitchFamily="34" charset="-120"/>
              </a:rPr>
              <a:t>sirom</a:t>
            </a:r>
            <a:r>
              <a:rPr lang="en-US" sz="1000" dirty="0">
                <a:solidFill>
                  <a:srgbClr val="94A3B8"/>
                </a:solidFill>
                <a:latin typeface="Calibri" pitchFamily="34" charset="0"/>
                <a:ea typeface="Calibri" pitchFamily="34" charset="-122"/>
                <a:cs typeface="Calibri" pitchFamily="34" charset="-120"/>
              </a:rPr>
              <a:t> </a:t>
            </a:r>
            <a:r>
              <a:rPr lang="en-US" sz="1000" dirty="0" err="1">
                <a:solidFill>
                  <a:srgbClr val="94A3B8"/>
                </a:solidFill>
                <a:latin typeface="Calibri" pitchFamily="34" charset="0"/>
                <a:ea typeface="Calibri" pitchFamily="34" charset="-122"/>
                <a:cs typeface="Calibri" pitchFamily="34" charset="-120"/>
              </a:rPr>
              <a:t>Evrope</a:t>
            </a:r>
            <a:r>
              <a:rPr lang="en-US" sz="1000" dirty="0">
                <a:solidFill>
                  <a:srgbClr val="94A3B8"/>
                </a:solidFill>
                <a:latin typeface="Calibri" pitchFamily="34" charset="0"/>
                <a:ea typeface="Calibri" pitchFamily="34" charset="-122"/>
                <a:cs typeface="Calibri" pitchFamily="34" charset="-120"/>
              </a:rPr>
              <a:t> grade digitalne baze podataka. </a:t>
            </a:r>
            <a:r>
              <a:rPr lang="en-US" sz="1000" dirty="0" err="1">
                <a:solidFill>
                  <a:srgbClr val="94A3B8"/>
                </a:solidFill>
                <a:latin typeface="Calibri" pitchFamily="34" charset="0"/>
                <a:ea typeface="Calibri" pitchFamily="34" charset="-122"/>
                <a:cs typeface="Calibri" pitchFamily="34" charset="-120"/>
              </a:rPr>
              <a:t>Skautiranje</a:t>
            </a:r>
            <a:r>
              <a:rPr lang="en-US" sz="1000" dirty="0">
                <a:solidFill>
                  <a:srgbClr val="94A3B8"/>
                </a:solidFill>
                <a:latin typeface="Calibri" pitchFamily="34" charset="0"/>
                <a:ea typeface="Calibri" pitchFamily="34" charset="-122"/>
                <a:cs typeface="Calibri" pitchFamily="34" charset="-120"/>
              </a:rPr>
              <a:t> u </a:t>
            </a:r>
            <a:r>
              <a:rPr lang="en-US" sz="1000" dirty="0" err="1">
                <a:solidFill>
                  <a:srgbClr val="94A3B8"/>
                </a:solidFill>
                <a:latin typeface="Calibri" pitchFamily="34" charset="0"/>
                <a:ea typeface="Calibri" pitchFamily="34" charset="-122"/>
                <a:cs typeface="Calibri" pitchFamily="34" charset="-120"/>
              </a:rPr>
              <a:t>inotrsanstvu</a:t>
            </a:r>
            <a:r>
              <a:rPr lang="en-US" sz="1000" dirty="0">
                <a:solidFill>
                  <a:srgbClr val="94A3B8"/>
                </a:solidFill>
                <a:latin typeface="Calibri" pitchFamily="34" charset="0"/>
                <a:ea typeface="Calibri" pitchFamily="34" charset="-122"/>
                <a:cs typeface="Calibri" pitchFamily="34" charset="-120"/>
              </a:rPr>
              <a:t> </a:t>
            </a:r>
            <a:r>
              <a:rPr lang="en-US" sz="1000" dirty="0" err="1">
                <a:solidFill>
                  <a:srgbClr val="94A3B8"/>
                </a:solidFill>
                <a:latin typeface="Calibri" pitchFamily="34" charset="0"/>
                <a:ea typeface="Calibri" pitchFamily="34" charset="-122"/>
                <a:cs typeface="Calibri" pitchFamily="34" charset="-120"/>
              </a:rPr>
              <a:t>postaje</a:t>
            </a:r>
            <a:r>
              <a:rPr lang="en-US" sz="1000" dirty="0">
                <a:solidFill>
                  <a:srgbClr val="94A3B8"/>
                </a:solidFill>
                <a:latin typeface="Calibri" pitchFamily="34" charset="0"/>
                <a:ea typeface="Calibri" pitchFamily="34" charset="-122"/>
                <a:cs typeface="Calibri" pitchFamily="34" charset="-120"/>
              </a:rPr>
              <a:t> standard. Niko vise ne </a:t>
            </a:r>
            <a:r>
              <a:rPr lang="en-US" sz="1000" dirty="0" err="1">
                <a:solidFill>
                  <a:srgbClr val="94A3B8"/>
                </a:solidFill>
                <a:latin typeface="Calibri" pitchFamily="34" charset="0"/>
                <a:ea typeface="Calibri" pitchFamily="34" charset="-122"/>
                <a:cs typeface="Calibri" pitchFamily="34" charset="-120"/>
              </a:rPr>
              <a:t>potpisuje</a:t>
            </a:r>
            <a:r>
              <a:rPr lang="en-US" sz="1000" dirty="0">
                <a:solidFill>
                  <a:srgbClr val="94A3B8"/>
                </a:solidFill>
                <a:latin typeface="Calibri" pitchFamily="34" charset="0"/>
                <a:ea typeface="Calibri" pitchFamily="34" charset="-122"/>
                <a:cs typeface="Calibri" pitchFamily="34" charset="-120"/>
              </a:rPr>
              <a:t> </a:t>
            </a:r>
            <a:r>
              <a:rPr lang="en-US" sz="1000" dirty="0" err="1">
                <a:solidFill>
                  <a:srgbClr val="94A3B8"/>
                </a:solidFill>
                <a:latin typeface="Calibri" pitchFamily="34" charset="0"/>
                <a:ea typeface="Calibri" pitchFamily="34" charset="-122"/>
                <a:cs typeface="Calibri" pitchFamily="34" charset="-120"/>
              </a:rPr>
              <a:t>igraca</a:t>
            </a:r>
            <a:r>
              <a:rPr lang="en-US" sz="1000" dirty="0">
                <a:solidFill>
                  <a:srgbClr val="94A3B8"/>
                </a:solidFill>
                <a:latin typeface="Calibri" pitchFamily="34" charset="0"/>
                <a:ea typeface="Calibri" pitchFamily="34" charset="-122"/>
                <a:cs typeface="Calibri" pitchFamily="34" charset="-120"/>
              </a:rPr>
              <a:t> bez </a:t>
            </a:r>
            <a:r>
              <a:rPr lang="en-US" sz="1000" dirty="0" err="1">
                <a:solidFill>
                  <a:srgbClr val="94A3B8"/>
                </a:solidFill>
                <a:latin typeface="Calibri" pitchFamily="34" charset="0"/>
                <a:ea typeface="Calibri" pitchFamily="34" charset="-122"/>
                <a:cs typeface="Calibri" pitchFamily="34" charset="-120"/>
              </a:rPr>
              <a:t>ove</a:t>
            </a:r>
            <a:r>
              <a:rPr lang="en-US" sz="1000" dirty="0">
                <a:solidFill>
                  <a:srgbClr val="94A3B8"/>
                </a:solidFill>
                <a:latin typeface="Calibri" pitchFamily="34" charset="0"/>
                <a:ea typeface="Calibri" pitchFamily="34" charset="-122"/>
                <a:cs typeface="Calibri" pitchFamily="34" charset="-120"/>
              </a:rPr>
              <a:t> </a:t>
            </a:r>
            <a:r>
              <a:rPr lang="en-US" sz="1000" dirty="0" err="1">
                <a:solidFill>
                  <a:srgbClr val="94A3B8"/>
                </a:solidFill>
                <a:latin typeface="Calibri" pitchFamily="34" charset="0"/>
                <a:ea typeface="Calibri" pitchFamily="34" charset="-122"/>
                <a:cs typeface="Calibri" pitchFamily="34" charset="-120"/>
              </a:rPr>
              <a:t>provjere</a:t>
            </a:r>
            <a:endParaRPr lang="en-US" sz="1000" dirty="0"/>
          </a:p>
        </p:txBody>
      </p:sp>
      <p:sp>
        <p:nvSpPr>
          <p:cNvPr id="18" name="Shape 16"/>
          <p:cNvSpPr/>
          <p:nvPr/>
        </p:nvSpPr>
        <p:spPr>
          <a:xfrm>
            <a:off x="3771900" y="1600199"/>
            <a:ext cx="1600200" cy="2808513"/>
          </a:xfrm>
          <a:prstGeom prst="rect">
            <a:avLst/>
          </a:prstGeom>
          <a:solidFill>
            <a:srgbClr val="141B2E"/>
          </a:solidFill>
          <a:ln w="12700">
            <a:solidFill>
              <a:srgbClr val="243049"/>
            </a:solidFill>
            <a:prstDash val="solid"/>
          </a:ln>
        </p:spPr>
        <p:txBody>
          <a:bodyPr/>
          <a:lstStyle/>
          <a:p>
            <a:endParaRPr dirty="0"/>
          </a:p>
        </p:txBody>
      </p:sp>
      <p:sp>
        <p:nvSpPr>
          <p:cNvPr id="20" name="Text 18"/>
          <p:cNvSpPr/>
          <p:nvPr/>
        </p:nvSpPr>
        <p:spPr>
          <a:xfrm>
            <a:off x="3814355" y="1900645"/>
            <a:ext cx="1417320" cy="347472"/>
          </a:xfrm>
          <a:prstGeom prst="rect">
            <a:avLst/>
          </a:prstGeom>
          <a:noFill/>
          <a:ln/>
        </p:spPr>
        <p:txBody>
          <a:bodyPr wrap="square" lIns="0" tIns="0" rIns="0" bIns="0" rtlCol="0" anchor="ctr"/>
          <a:lstStyle/>
          <a:p>
            <a:pPr marL="0" indent="0" algn="ctr">
              <a:buNone/>
            </a:pPr>
            <a:r>
              <a:rPr lang="en-US" sz="1800" b="1" dirty="0">
                <a:solidFill>
                  <a:srgbClr val="22C55E"/>
                </a:solidFill>
                <a:latin typeface="Calibri" pitchFamily="34" charset="0"/>
                <a:ea typeface="Calibri" pitchFamily="34" charset="-122"/>
                <a:cs typeface="Calibri" pitchFamily="34" charset="-120"/>
              </a:rPr>
              <a:t>2015</a:t>
            </a:r>
            <a:endParaRPr lang="en-US" sz="1800" dirty="0"/>
          </a:p>
        </p:txBody>
      </p:sp>
      <p:sp>
        <p:nvSpPr>
          <p:cNvPr id="21" name="Text 19"/>
          <p:cNvSpPr/>
          <p:nvPr/>
        </p:nvSpPr>
        <p:spPr>
          <a:xfrm>
            <a:off x="3863340" y="2253342"/>
            <a:ext cx="1417320" cy="408867"/>
          </a:xfrm>
          <a:prstGeom prst="rect">
            <a:avLst/>
          </a:prstGeom>
          <a:noFill/>
          <a:ln/>
        </p:spPr>
        <p:txBody>
          <a:bodyPr wrap="square" lIns="0" tIns="0" rIns="0" bIns="0" rtlCol="0" anchor="ctr"/>
          <a:lstStyle/>
          <a:p>
            <a:pPr marL="0" indent="0" algn="ctr">
              <a:buNone/>
            </a:pPr>
            <a:r>
              <a:rPr lang="en-US" sz="1400" b="1" dirty="0" err="1">
                <a:solidFill>
                  <a:srgbClr val="F8FAFC"/>
                </a:solidFill>
                <a:latin typeface="Calibri" pitchFamily="34" charset="0"/>
                <a:ea typeface="Calibri" pitchFamily="34" charset="-122"/>
                <a:cs typeface="Calibri" pitchFamily="34" charset="-120"/>
              </a:rPr>
              <a:t>Analiticka</a:t>
            </a:r>
            <a:r>
              <a:rPr lang="en-US" sz="1400" b="1" dirty="0">
                <a:solidFill>
                  <a:srgbClr val="F8FAFC"/>
                </a:solidFill>
                <a:latin typeface="Calibri" pitchFamily="34" charset="0"/>
                <a:ea typeface="Calibri" pitchFamily="34" charset="-122"/>
                <a:cs typeface="Calibri" pitchFamily="34" charset="-120"/>
              </a:rPr>
              <a:t> </a:t>
            </a:r>
            <a:r>
              <a:rPr lang="en-US" sz="1400" b="1" dirty="0" err="1">
                <a:solidFill>
                  <a:srgbClr val="F8FAFC"/>
                </a:solidFill>
                <a:latin typeface="Calibri" pitchFamily="34" charset="0"/>
                <a:ea typeface="Calibri" pitchFamily="34" charset="-122"/>
                <a:cs typeface="Calibri" pitchFamily="34" charset="-120"/>
              </a:rPr>
              <a:t>odjeljenja</a:t>
            </a:r>
            <a:endParaRPr lang="en-US" sz="1400" dirty="0"/>
          </a:p>
        </p:txBody>
      </p:sp>
      <p:sp>
        <p:nvSpPr>
          <p:cNvPr id="22" name="Shape 20"/>
          <p:cNvSpPr/>
          <p:nvPr/>
        </p:nvSpPr>
        <p:spPr>
          <a:xfrm>
            <a:off x="4389120" y="2734056"/>
            <a:ext cx="365760" cy="0"/>
          </a:xfrm>
          <a:prstGeom prst="line">
            <a:avLst/>
          </a:prstGeom>
          <a:noFill/>
          <a:ln w="19050">
            <a:solidFill>
              <a:srgbClr val="22C55E"/>
            </a:solidFill>
            <a:prstDash val="solid"/>
          </a:ln>
        </p:spPr>
        <p:txBody>
          <a:bodyPr/>
          <a:lstStyle/>
          <a:p>
            <a:endParaRPr/>
          </a:p>
        </p:txBody>
      </p:sp>
      <p:sp>
        <p:nvSpPr>
          <p:cNvPr id="23" name="Text 21"/>
          <p:cNvSpPr/>
          <p:nvPr/>
        </p:nvSpPr>
        <p:spPr>
          <a:xfrm>
            <a:off x="3990703" y="2805902"/>
            <a:ext cx="1064624" cy="1354618"/>
          </a:xfrm>
          <a:prstGeom prst="rect">
            <a:avLst/>
          </a:prstGeom>
          <a:noFill/>
          <a:ln/>
        </p:spPr>
        <p:txBody>
          <a:bodyPr wrap="square" lIns="0" tIns="0" rIns="0" bIns="0" rtlCol="0" anchor="t"/>
          <a:lstStyle/>
          <a:p>
            <a:pPr marL="0" indent="0" algn="ctr">
              <a:buNone/>
            </a:pPr>
            <a:r>
              <a:rPr lang="en-US" sz="1000" dirty="0">
                <a:solidFill>
                  <a:srgbClr val="94A3B8"/>
                </a:solidFill>
                <a:latin typeface="Calibri" pitchFamily="34" charset="0"/>
                <a:ea typeface="Calibri" pitchFamily="34" charset="-122"/>
                <a:cs typeface="Calibri" pitchFamily="34" charset="-120"/>
              </a:rPr>
              <a:t>Svi </a:t>
            </a:r>
            <a:r>
              <a:rPr lang="en-US" sz="1000" dirty="0" err="1">
                <a:solidFill>
                  <a:srgbClr val="94A3B8"/>
                </a:solidFill>
                <a:latin typeface="Calibri" pitchFamily="34" charset="0"/>
                <a:ea typeface="Calibri" pitchFamily="34" charset="-122"/>
                <a:cs typeface="Calibri" pitchFamily="34" charset="-120"/>
              </a:rPr>
              <a:t>najveći</a:t>
            </a:r>
            <a:r>
              <a:rPr lang="en-US" sz="1000" dirty="0">
                <a:solidFill>
                  <a:srgbClr val="94A3B8"/>
                </a:solidFill>
                <a:latin typeface="Calibri" pitchFamily="34" charset="0"/>
                <a:ea typeface="Calibri" pitchFamily="34" charset="-122"/>
                <a:cs typeface="Calibri" pitchFamily="34" charset="-120"/>
              </a:rPr>
              <a:t> </a:t>
            </a:r>
            <a:r>
              <a:rPr lang="en-US" sz="1000" dirty="0" err="1">
                <a:solidFill>
                  <a:srgbClr val="94A3B8"/>
                </a:solidFill>
                <a:latin typeface="Calibri" pitchFamily="34" charset="0"/>
                <a:ea typeface="Calibri" pitchFamily="34" charset="-122"/>
                <a:cs typeface="Calibri" pitchFamily="34" charset="-120"/>
              </a:rPr>
              <a:t>klubovi</a:t>
            </a:r>
            <a:r>
              <a:rPr lang="en-US" sz="1000" dirty="0">
                <a:solidFill>
                  <a:srgbClr val="94A3B8"/>
                </a:solidFill>
                <a:latin typeface="Calibri" pitchFamily="34" charset="0"/>
                <a:ea typeface="Calibri" pitchFamily="34" charset="-122"/>
                <a:cs typeface="Calibri" pitchFamily="34" charset="-120"/>
              </a:rPr>
              <a:t> </a:t>
            </a:r>
            <a:r>
              <a:rPr lang="en-US" sz="1000" dirty="0" err="1">
                <a:solidFill>
                  <a:srgbClr val="94A3B8"/>
                </a:solidFill>
                <a:latin typeface="Calibri" pitchFamily="34" charset="0"/>
                <a:ea typeface="Calibri" pitchFamily="34" charset="-122"/>
                <a:cs typeface="Calibri" pitchFamily="34" charset="-120"/>
              </a:rPr>
              <a:t>imaju</a:t>
            </a:r>
            <a:r>
              <a:rPr lang="en-US" sz="1000" dirty="0">
                <a:solidFill>
                  <a:srgbClr val="94A3B8"/>
                </a:solidFill>
                <a:latin typeface="Calibri" pitchFamily="34" charset="0"/>
                <a:ea typeface="Calibri" pitchFamily="34" charset="-122"/>
                <a:cs typeface="Calibri" pitchFamily="34" charset="-120"/>
              </a:rPr>
              <a:t> </a:t>
            </a:r>
            <a:r>
              <a:rPr lang="en-US" sz="1000" dirty="0" err="1">
                <a:solidFill>
                  <a:srgbClr val="94A3B8"/>
                </a:solidFill>
                <a:latin typeface="Calibri" pitchFamily="34" charset="0"/>
                <a:ea typeface="Calibri" pitchFamily="34" charset="-122"/>
                <a:cs typeface="Calibri" pitchFamily="34" charset="-120"/>
              </a:rPr>
              <a:t>odjele</a:t>
            </a:r>
            <a:r>
              <a:rPr lang="en-US" sz="1000" dirty="0">
                <a:solidFill>
                  <a:srgbClr val="94A3B8"/>
                </a:solidFill>
                <a:latin typeface="Calibri" pitchFamily="34" charset="0"/>
                <a:ea typeface="Calibri" pitchFamily="34" charset="-122"/>
                <a:cs typeface="Calibri" pitchFamily="34" charset="-120"/>
              </a:rPr>
              <a:t> za </a:t>
            </a:r>
            <a:r>
              <a:rPr lang="en-US" sz="1000" dirty="0" err="1">
                <a:solidFill>
                  <a:srgbClr val="94A3B8"/>
                </a:solidFill>
                <a:latin typeface="Calibri" pitchFamily="34" charset="0"/>
                <a:ea typeface="Calibri" pitchFamily="34" charset="-122"/>
                <a:cs typeface="Calibri" pitchFamily="34" charset="-120"/>
              </a:rPr>
              <a:t>analitiku</a:t>
            </a:r>
            <a:r>
              <a:rPr lang="en-US" sz="1000" dirty="0">
                <a:solidFill>
                  <a:srgbClr val="94A3B8"/>
                </a:solidFill>
                <a:latin typeface="Calibri" pitchFamily="34" charset="0"/>
                <a:ea typeface="Calibri" pitchFamily="34" charset="-122"/>
                <a:cs typeface="Calibri" pitchFamily="34" charset="-120"/>
              </a:rPr>
              <a:t> </a:t>
            </a:r>
            <a:r>
              <a:rPr lang="en-US" sz="1000" dirty="0" err="1">
                <a:solidFill>
                  <a:srgbClr val="94A3B8"/>
                </a:solidFill>
                <a:latin typeface="Calibri" pitchFamily="34" charset="0"/>
                <a:ea typeface="Calibri" pitchFamily="34" charset="-122"/>
                <a:cs typeface="Calibri" pitchFamily="34" charset="-120"/>
              </a:rPr>
              <a:t>podataka</a:t>
            </a:r>
            <a:r>
              <a:rPr lang="en-US" sz="1000" dirty="0">
                <a:solidFill>
                  <a:srgbClr val="94A3B8"/>
                </a:solidFill>
                <a:latin typeface="Calibri" pitchFamily="34" charset="0"/>
                <a:ea typeface="Calibri" pitchFamily="34" charset="-122"/>
                <a:cs typeface="Calibri" pitchFamily="34" charset="-120"/>
              </a:rPr>
              <a:t>. </a:t>
            </a:r>
            <a:r>
              <a:rPr lang="en-US" sz="1000" dirty="0" err="1">
                <a:solidFill>
                  <a:srgbClr val="94A3B8"/>
                </a:solidFill>
                <a:latin typeface="Calibri" pitchFamily="34" charset="0"/>
                <a:ea typeface="Calibri" pitchFamily="34" charset="-122"/>
                <a:cs typeface="Calibri" pitchFamily="34" charset="-120"/>
              </a:rPr>
              <a:t>Srednji</a:t>
            </a:r>
            <a:r>
              <a:rPr lang="en-US" sz="1000" dirty="0">
                <a:solidFill>
                  <a:srgbClr val="94A3B8"/>
                </a:solidFill>
                <a:latin typeface="Calibri" pitchFamily="34" charset="0"/>
                <a:ea typeface="Calibri" pitchFamily="34" charset="-122"/>
                <a:cs typeface="Calibri" pitchFamily="34" charset="-120"/>
              </a:rPr>
              <a:t> </a:t>
            </a:r>
            <a:r>
              <a:rPr lang="en-US" sz="1000" dirty="0" err="1">
                <a:solidFill>
                  <a:srgbClr val="94A3B8"/>
                </a:solidFill>
                <a:latin typeface="Calibri" pitchFamily="34" charset="0"/>
                <a:ea typeface="Calibri" pitchFamily="34" charset="-122"/>
                <a:cs typeface="Calibri" pitchFamily="34" charset="-120"/>
              </a:rPr>
              <a:t>evropske</a:t>
            </a:r>
            <a:r>
              <a:rPr lang="en-US" sz="1000" dirty="0">
                <a:solidFill>
                  <a:srgbClr val="94A3B8"/>
                </a:solidFill>
                <a:latin typeface="Calibri" pitchFamily="34" charset="0"/>
                <a:ea typeface="Calibri" pitchFamily="34" charset="-122"/>
                <a:cs typeface="Calibri" pitchFamily="34" charset="-120"/>
              </a:rPr>
              <a:t> </a:t>
            </a:r>
            <a:r>
              <a:rPr lang="en-US" sz="1000" dirty="0" err="1">
                <a:solidFill>
                  <a:srgbClr val="94A3B8"/>
                </a:solidFill>
                <a:latin typeface="Calibri" pitchFamily="34" charset="0"/>
                <a:ea typeface="Calibri" pitchFamily="34" charset="-122"/>
                <a:cs typeface="Calibri" pitchFamily="34" charset="-120"/>
              </a:rPr>
              <a:t>lige</a:t>
            </a:r>
            <a:r>
              <a:rPr lang="en-US" sz="1000" dirty="0">
                <a:solidFill>
                  <a:srgbClr val="94A3B8"/>
                </a:solidFill>
                <a:latin typeface="Calibri" pitchFamily="34" charset="0"/>
                <a:ea typeface="Calibri" pitchFamily="34" charset="-122"/>
                <a:cs typeface="Calibri" pitchFamily="34" charset="-120"/>
              </a:rPr>
              <a:t> </a:t>
            </a:r>
            <a:r>
              <a:rPr lang="en-US" sz="1000" dirty="0" err="1">
                <a:solidFill>
                  <a:srgbClr val="94A3B8"/>
                </a:solidFill>
                <a:latin typeface="Calibri" pitchFamily="34" charset="0"/>
                <a:ea typeface="Calibri" pitchFamily="34" charset="-122"/>
                <a:cs typeface="Calibri" pitchFamily="34" charset="-120"/>
              </a:rPr>
              <a:t>pokrivene</a:t>
            </a:r>
            <a:r>
              <a:rPr lang="en-US" sz="1000" dirty="0">
                <a:solidFill>
                  <a:srgbClr val="94A3B8"/>
                </a:solidFill>
                <a:latin typeface="Calibri" pitchFamily="34" charset="0"/>
                <a:ea typeface="Calibri" pitchFamily="34" charset="-122"/>
                <a:cs typeface="Calibri" pitchFamily="34" charset="-120"/>
              </a:rPr>
              <a:t> od WyScout, </a:t>
            </a:r>
            <a:r>
              <a:rPr lang="en-US" sz="1000" dirty="0" err="1">
                <a:solidFill>
                  <a:srgbClr val="94A3B8"/>
                </a:solidFill>
                <a:latin typeface="Calibri" pitchFamily="34" charset="0"/>
                <a:ea typeface="Calibri" pitchFamily="34" charset="-122"/>
                <a:cs typeface="Calibri" pitchFamily="34" charset="-120"/>
              </a:rPr>
              <a:t>FBref</a:t>
            </a:r>
            <a:r>
              <a:rPr lang="en-US" sz="1000" dirty="0">
                <a:solidFill>
                  <a:srgbClr val="94A3B8"/>
                </a:solidFill>
                <a:latin typeface="Calibri" pitchFamily="34" charset="0"/>
                <a:ea typeface="Calibri" pitchFamily="34" charset="-122"/>
                <a:cs typeface="Calibri" pitchFamily="34" charset="-120"/>
              </a:rPr>
              <a:t> I </a:t>
            </a:r>
            <a:r>
              <a:rPr lang="en-US" sz="1000" dirty="0" err="1">
                <a:solidFill>
                  <a:srgbClr val="94A3B8"/>
                </a:solidFill>
                <a:latin typeface="Calibri" pitchFamily="34" charset="0"/>
                <a:ea typeface="Calibri" pitchFamily="34" charset="-122"/>
                <a:cs typeface="Calibri" pitchFamily="34" charset="-120"/>
              </a:rPr>
              <a:t>Instat</a:t>
            </a:r>
            <a:r>
              <a:rPr lang="en-US" sz="1000" dirty="0">
                <a:solidFill>
                  <a:srgbClr val="94A3B8"/>
                </a:solidFill>
                <a:latin typeface="Calibri" pitchFamily="34" charset="0"/>
                <a:ea typeface="Calibri" pitchFamily="34" charset="-122"/>
                <a:cs typeface="Calibri" pitchFamily="34" charset="-120"/>
              </a:rPr>
              <a:t>.</a:t>
            </a:r>
            <a:endParaRPr lang="en-US" sz="1000" dirty="0"/>
          </a:p>
        </p:txBody>
      </p:sp>
      <p:sp>
        <p:nvSpPr>
          <p:cNvPr id="24" name="Shape 22"/>
          <p:cNvSpPr/>
          <p:nvPr/>
        </p:nvSpPr>
        <p:spPr>
          <a:xfrm>
            <a:off x="5490972" y="1600200"/>
            <a:ext cx="1600200" cy="2808512"/>
          </a:xfrm>
          <a:prstGeom prst="rect">
            <a:avLst/>
          </a:prstGeom>
          <a:solidFill>
            <a:srgbClr val="141B2E"/>
          </a:solidFill>
          <a:ln w="12700">
            <a:solidFill>
              <a:srgbClr val="243049"/>
            </a:solidFill>
            <a:prstDash val="solid"/>
          </a:ln>
        </p:spPr>
        <p:txBody>
          <a:bodyPr/>
          <a:lstStyle/>
          <a:p>
            <a:endParaRPr/>
          </a:p>
        </p:txBody>
      </p:sp>
      <p:sp>
        <p:nvSpPr>
          <p:cNvPr id="26" name="Text 24"/>
          <p:cNvSpPr/>
          <p:nvPr/>
        </p:nvSpPr>
        <p:spPr>
          <a:xfrm>
            <a:off x="5582412" y="1907503"/>
            <a:ext cx="1417320" cy="347472"/>
          </a:xfrm>
          <a:prstGeom prst="rect">
            <a:avLst/>
          </a:prstGeom>
          <a:noFill/>
          <a:ln/>
        </p:spPr>
        <p:txBody>
          <a:bodyPr wrap="square" lIns="0" tIns="0" rIns="0" bIns="0" rtlCol="0" anchor="ctr"/>
          <a:lstStyle/>
          <a:p>
            <a:pPr marL="0" indent="0" algn="ctr">
              <a:buNone/>
            </a:pPr>
            <a:r>
              <a:rPr lang="en-US" sz="1800" b="1" dirty="0">
                <a:solidFill>
                  <a:srgbClr val="22C55E"/>
                </a:solidFill>
                <a:latin typeface="Calibri" pitchFamily="34" charset="0"/>
                <a:ea typeface="Calibri" pitchFamily="34" charset="-122"/>
                <a:cs typeface="Calibri" pitchFamily="34" charset="-120"/>
              </a:rPr>
              <a:t>2021</a:t>
            </a:r>
            <a:endParaRPr lang="en-US" sz="1800" dirty="0"/>
          </a:p>
        </p:txBody>
      </p:sp>
      <p:sp>
        <p:nvSpPr>
          <p:cNvPr id="27" name="Text 25"/>
          <p:cNvSpPr/>
          <p:nvPr/>
        </p:nvSpPr>
        <p:spPr>
          <a:xfrm>
            <a:off x="5582412" y="2310491"/>
            <a:ext cx="1417320" cy="256032"/>
          </a:xfrm>
          <a:prstGeom prst="rect">
            <a:avLst/>
          </a:prstGeom>
          <a:noFill/>
          <a:ln/>
        </p:spPr>
        <p:txBody>
          <a:bodyPr wrap="square" lIns="0" tIns="0" rIns="0" bIns="0" rtlCol="0" anchor="ctr"/>
          <a:lstStyle/>
          <a:p>
            <a:pPr marL="0" indent="0" algn="ctr">
              <a:buNone/>
            </a:pPr>
            <a:r>
              <a:rPr lang="en-US" sz="1400" b="1" dirty="0" err="1">
                <a:solidFill>
                  <a:srgbClr val="F8FAFC"/>
                </a:solidFill>
                <a:latin typeface="Calibri" pitchFamily="34" charset="0"/>
                <a:ea typeface="Calibri" pitchFamily="34" charset="-122"/>
                <a:cs typeface="Calibri" pitchFamily="34" charset="-120"/>
              </a:rPr>
              <a:t>Druge</a:t>
            </a:r>
            <a:r>
              <a:rPr lang="en-US" sz="1400" b="1" dirty="0">
                <a:solidFill>
                  <a:srgbClr val="F8FAFC"/>
                </a:solidFill>
                <a:latin typeface="Calibri" pitchFamily="34" charset="0"/>
                <a:ea typeface="Calibri" pitchFamily="34" charset="-122"/>
                <a:cs typeface="Calibri" pitchFamily="34" charset="-120"/>
              </a:rPr>
              <a:t>, </a:t>
            </a:r>
            <a:r>
              <a:rPr lang="en-US" sz="1400" b="1" dirty="0" err="1">
                <a:solidFill>
                  <a:srgbClr val="F8FAFC"/>
                </a:solidFill>
                <a:latin typeface="Calibri" pitchFamily="34" charset="0"/>
                <a:ea typeface="Calibri" pitchFamily="34" charset="-122"/>
                <a:cs typeface="Calibri" pitchFamily="34" charset="-120"/>
              </a:rPr>
              <a:t>trece</a:t>
            </a:r>
            <a:r>
              <a:rPr lang="en-US" sz="1400" b="1" dirty="0">
                <a:solidFill>
                  <a:srgbClr val="F8FAFC"/>
                </a:solidFill>
                <a:latin typeface="Calibri" pitchFamily="34" charset="0"/>
                <a:ea typeface="Calibri" pitchFamily="34" charset="-122"/>
                <a:cs typeface="Calibri" pitchFamily="34" charset="-120"/>
              </a:rPr>
              <a:t> </a:t>
            </a:r>
            <a:r>
              <a:rPr lang="en-US" sz="1400" b="1" dirty="0" err="1">
                <a:solidFill>
                  <a:srgbClr val="F8FAFC"/>
                </a:solidFill>
                <a:latin typeface="Calibri" pitchFamily="34" charset="0"/>
                <a:ea typeface="Calibri" pitchFamily="34" charset="-122"/>
                <a:cs typeface="Calibri" pitchFamily="34" charset="-120"/>
              </a:rPr>
              <a:t>lige</a:t>
            </a:r>
            <a:endParaRPr lang="en-US" sz="1400" dirty="0"/>
          </a:p>
        </p:txBody>
      </p:sp>
      <p:sp>
        <p:nvSpPr>
          <p:cNvPr id="28" name="Shape 26"/>
          <p:cNvSpPr/>
          <p:nvPr/>
        </p:nvSpPr>
        <p:spPr>
          <a:xfrm>
            <a:off x="6108192" y="2734056"/>
            <a:ext cx="365760" cy="0"/>
          </a:xfrm>
          <a:prstGeom prst="line">
            <a:avLst/>
          </a:prstGeom>
          <a:noFill/>
          <a:ln w="19050">
            <a:solidFill>
              <a:srgbClr val="22C55E"/>
            </a:solidFill>
            <a:prstDash val="solid"/>
          </a:ln>
        </p:spPr>
        <p:txBody>
          <a:bodyPr/>
          <a:lstStyle/>
          <a:p>
            <a:endParaRPr/>
          </a:p>
        </p:txBody>
      </p:sp>
      <p:sp>
        <p:nvSpPr>
          <p:cNvPr id="29" name="Text 27"/>
          <p:cNvSpPr/>
          <p:nvPr/>
        </p:nvSpPr>
        <p:spPr>
          <a:xfrm>
            <a:off x="5734594" y="2880359"/>
            <a:ext cx="1219418" cy="1330445"/>
          </a:xfrm>
          <a:prstGeom prst="rect">
            <a:avLst/>
          </a:prstGeom>
          <a:noFill/>
          <a:ln/>
        </p:spPr>
        <p:txBody>
          <a:bodyPr wrap="square" lIns="0" tIns="0" rIns="0" bIns="0" rtlCol="0" anchor="t"/>
          <a:lstStyle/>
          <a:p>
            <a:pPr marL="0" indent="0" algn="ctr">
              <a:buNone/>
            </a:pPr>
            <a:r>
              <a:rPr lang="en-US" sz="1000" dirty="0" err="1">
                <a:solidFill>
                  <a:srgbClr val="94A3B8"/>
                </a:solidFill>
                <a:latin typeface="Calibri" pitchFamily="34" charset="0"/>
                <a:ea typeface="Calibri" pitchFamily="34" charset="-122"/>
                <a:cs typeface="Calibri" pitchFamily="34" charset="-120"/>
              </a:rPr>
              <a:t>Analitika</a:t>
            </a:r>
            <a:r>
              <a:rPr lang="en-US" sz="1000" dirty="0">
                <a:solidFill>
                  <a:srgbClr val="94A3B8"/>
                </a:solidFill>
                <a:latin typeface="Calibri" pitchFamily="34" charset="0"/>
                <a:ea typeface="Calibri" pitchFamily="34" charset="-122"/>
                <a:cs typeface="Calibri" pitchFamily="34" charset="-120"/>
              </a:rPr>
              <a:t> se </a:t>
            </a:r>
            <a:r>
              <a:rPr lang="en-US" sz="1000" dirty="0" err="1">
                <a:solidFill>
                  <a:srgbClr val="94A3B8"/>
                </a:solidFill>
                <a:latin typeface="Calibri" pitchFamily="34" charset="0"/>
                <a:ea typeface="Calibri" pitchFamily="34" charset="-122"/>
                <a:cs typeface="Calibri" pitchFamily="34" charset="-120"/>
              </a:rPr>
              <a:t>siri</a:t>
            </a:r>
            <a:r>
              <a:rPr lang="en-US" sz="1000" dirty="0">
                <a:solidFill>
                  <a:srgbClr val="94A3B8"/>
                </a:solidFill>
                <a:latin typeface="Calibri" pitchFamily="34" charset="0"/>
                <a:ea typeface="Calibri" pitchFamily="34" charset="-122"/>
                <a:cs typeface="Calibri" pitchFamily="34" charset="-120"/>
              </a:rPr>
              <a:t> </a:t>
            </a:r>
            <a:r>
              <a:rPr lang="en-US" sz="1000" dirty="0" err="1">
                <a:solidFill>
                  <a:srgbClr val="94A3B8"/>
                </a:solidFill>
                <a:latin typeface="Calibri" pitchFamily="34" charset="0"/>
                <a:ea typeface="Calibri" pitchFamily="34" charset="-122"/>
                <a:cs typeface="Calibri" pitchFamily="34" charset="-120"/>
              </a:rPr>
              <a:t>na</a:t>
            </a:r>
            <a:r>
              <a:rPr lang="en-US" sz="1000" dirty="0">
                <a:solidFill>
                  <a:srgbClr val="94A3B8"/>
                </a:solidFill>
                <a:latin typeface="Calibri" pitchFamily="34" charset="0"/>
                <a:ea typeface="Calibri" pitchFamily="34" charset="-122"/>
                <a:cs typeface="Calibri" pitchFamily="34" charset="-120"/>
              </a:rPr>
              <a:t> </a:t>
            </a:r>
            <a:r>
              <a:rPr lang="en-US" sz="1000" dirty="0" err="1">
                <a:solidFill>
                  <a:srgbClr val="94A3B8"/>
                </a:solidFill>
                <a:latin typeface="Calibri" pitchFamily="34" charset="0"/>
                <a:ea typeface="Calibri" pitchFamily="34" charset="-122"/>
                <a:cs typeface="Calibri" pitchFamily="34" charset="-120"/>
              </a:rPr>
              <a:t>nize</a:t>
            </a:r>
            <a:r>
              <a:rPr lang="en-US" sz="1000" dirty="0">
                <a:solidFill>
                  <a:srgbClr val="94A3B8"/>
                </a:solidFill>
                <a:latin typeface="Calibri" pitchFamily="34" charset="0"/>
                <a:ea typeface="Calibri" pitchFamily="34" charset="-122"/>
                <a:cs typeface="Calibri" pitchFamily="34" charset="-120"/>
              </a:rPr>
              <a:t> </a:t>
            </a:r>
            <a:r>
              <a:rPr lang="en-US" sz="1000" dirty="0" err="1">
                <a:solidFill>
                  <a:srgbClr val="94A3B8"/>
                </a:solidFill>
                <a:latin typeface="Calibri" pitchFamily="34" charset="0"/>
                <a:ea typeface="Calibri" pitchFamily="34" charset="-122"/>
                <a:cs typeface="Calibri" pitchFamily="34" charset="-120"/>
              </a:rPr>
              <a:t>nivoe</a:t>
            </a:r>
            <a:r>
              <a:rPr lang="en-US" sz="1000" dirty="0">
                <a:solidFill>
                  <a:srgbClr val="94A3B8"/>
                </a:solidFill>
                <a:latin typeface="Calibri" pitchFamily="34" charset="0"/>
                <a:ea typeface="Calibri" pitchFamily="34" charset="-122"/>
                <a:cs typeface="Calibri" pitchFamily="34" charset="-120"/>
              </a:rPr>
              <a:t>. WyScout </a:t>
            </a:r>
            <a:r>
              <a:rPr lang="en-US" sz="1000" dirty="0" err="1">
                <a:solidFill>
                  <a:srgbClr val="94A3B8"/>
                </a:solidFill>
                <a:latin typeface="Calibri" pitchFamily="34" charset="0"/>
                <a:ea typeface="Calibri" pitchFamily="34" charset="-122"/>
                <a:cs typeface="Calibri" pitchFamily="34" charset="-120"/>
              </a:rPr>
              <a:t>i</a:t>
            </a:r>
            <a:r>
              <a:rPr lang="en-US" sz="1000" dirty="0">
                <a:solidFill>
                  <a:srgbClr val="94A3B8"/>
                </a:solidFill>
                <a:latin typeface="Calibri" pitchFamily="34" charset="0"/>
                <a:ea typeface="Calibri" pitchFamily="34" charset="-122"/>
                <a:cs typeface="Calibri" pitchFamily="34" charset="-120"/>
              </a:rPr>
              <a:t> </a:t>
            </a:r>
            <a:r>
              <a:rPr lang="en-US" sz="1000" dirty="0" err="1">
                <a:solidFill>
                  <a:srgbClr val="94A3B8"/>
                </a:solidFill>
                <a:latin typeface="Calibri" pitchFamily="34" charset="0"/>
                <a:ea typeface="Calibri" pitchFamily="34" charset="-122"/>
                <a:cs typeface="Calibri" pitchFamily="34" charset="-120"/>
              </a:rPr>
              <a:t>InStat</a:t>
            </a:r>
            <a:r>
              <a:rPr lang="en-US" sz="1000" dirty="0">
                <a:solidFill>
                  <a:srgbClr val="94A3B8"/>
                </a:solidFill>
                <a:latin typeface="Calibri" pitchFamily="34" charset="0"/>
                <a:ea typeface="Calibri" pitchFamily="34" charset="-122"/>
                <a:cs typeface="Calibri" pitchFamily="34" charset="-120"/>
              </a:rPr>
              <a:t> </a:t>
            </a:r>
            <a:r>
              <a:rPr lang="en-US" sz="1000" dirty="0" err="1">
                <a:solidFill>
                  <a:srgbClr val="94A3B8"/>
                </a:solidFill>
                <a:latin typeface="Calibri" pitchFamily="34" charset="0"/>
                <a:ea typeface="Calibri" pitchFamily="34" charset="-122"/>
                <a:cs typeface="Calibri" pitchFamily="34" charset="-120"/>
              </a:rPr>
              <a:t>pokrivaju</a:t>
            </a:r>
            <a:r>
              <a:rPr lang="en-US" sz="1000" dirty="0">
                <a:solidFill>
                  <a:srgbClr val="94A3B8"/>
                </a:solidFill>
                <a:latin typeface="Calibri" pitchFamily="34" charset="0"/>
                <a:ea typeface="Calibri" pitchFamily="34" charset="-122"/>
                <a:cs typeface="Calibri" pitchFamily="34" charset="-120"/>
              </a:rPr>
              <a:t> </a:t>
            </a:r>
            <a:r>
              <a:rPr lang="en-US" sz="1000" dirty="0" err="1">
                <a:solidFill>
                  <a:srgbClr val="94A3B8"/>
                </a:solidFill>
                <a:latin typeface="Calibri" pitchFamily="34" charset="0"/>
                <a:ea typeface="Calibri" pitchFamily="34" charset="-122"/>
                <a:cs typeface="Calibri" pitchFamily="34" charset="-120"/>
              </a:rPr>
              <a:t>preko</a:t>
            </a:r>
            <a:r>
              <a:rPr lang="en-US" sz="1000" dirty="0">
                <a:solidFill>
                  <a:srgbClr val="94A3B8"/>
                </a:solidFill>
                <a:latin typeface="Calibri" pitchFamily="34" charset="0"/>
                <a:ea typeface="Calibri" pitchFamily="34" charset="-122"/>
                <a:cs typeface="Calibri" pitchFamily="34" charset="-120"/>
              </a:rPr>
              <a:t> 600 </a:t>
            </a:r>
            <a:r>
              <a:rPr lang="en-US" sz="1000" dirty="0" err="1">
                <a:solidFill>
                  <a:srgbClr val="94A3B8"/>
                </a:solidFill>
                <a:latin typeface="Calibri" pitchFamily="34" charset="0"/>
                <a:ea typeface="Calibri" pitchFamily="34" charset="-122"/>
                <a:cs typeface="Calibri" pitchFamily="34" charset="-120"/>
              </a:rPr>
              <a:t>takmicenja</a:t>
            </a:r>
            <a:r>
              <a:rPr lang="en-US" sz="1000" dirty="0">
                <a:solidFill>
                  <a:srgbClr val="94A3B8"/>
                </a:solidFill>
                <a:latin typeface="Calibri" pitchFamily="34" charset="0"/>
                <a:ea typeface="Calibri" pitchFamily="34" charset="-122"/>
                <a:cs typeface="Calibri" pitchFamily="34" charset="-120"/>
              </a:rPr>
              <a:t> </a:t>
            </a:r>
            <a:r>
              <a:rPr lang="en-US" sz="1000" dirty="0" err="1">
                <a:solidFill>
                  <a:srgbClr val="94A3B8"/>
                </a:solidFill>
                <a:latin typeface="Calibri" pitchFamily="34" charset="0"/>
                <a:ea typeface="Calibri" pitchFamily="34" charset="-122"/>
                <a:cs typeface="Calibri" pitchFamily="34" charset="-120"/>
              </a:rPr>
              <a:t>globalno</a:t>
            </a:r>
            <a:r>
              <a:rPr lang="en-US" sz="1000" dirty="0">
                <a:solidFill>
                  <a:srgbClr val="94A3B8"/>
                </a:solidFill>
                <a:latin typeface="Calibri" pitchFamily="34" charset="0"/>
                <a:ea typeface="Calibri" pitchFamily="34" charset="-122"/>
                <a:cs typeface="Calibri" pitchFamily="34" charset="-120"/>
              </a:rPr>
              <a:t>. </a:t>
            </a:r>
            <a:r>
              <a:rPr lang="en-US" sz="1000" dirty="0" err="1">
                <a:solidFill>
                  <a:srgbClr val="94A3B8"/>
                </a:solidFill>
                <a:latin typeface="Calibri" pitchFamily="34" charset="0"/>
                <a:ea typeface="Calibri" pitchFamily="34" charset="-122"/>
                <a:cs typeface="Calibri" pitchFamily="34" charset="-120"/>
              </a:rPr>
              <a:t>Skautske</a:t>
            </a:r>
            <a:r>
              <a:rPr lang="en-US" sz="1000" dirty="0">
                <a:solidFill>
                  <a:srgbClr val="94A3B8"/>
                </a:solidFill>
                <a:latin typeface="Calibri" pitchFamily="34" charset="0"/>
                <a:ea typeface="Calibri" pitchFamily="34" charset="-122"/>
                <a:cs typeface="Calibri" pitchFamily="34" charset="-120"/>
              </a:rPr>
              <a:t> </a:t>
            </a:r>
            <a:r>
              <a:rPr lang="en-US" sz="1000" dirty="0" err="1">
                <a:solidFill>
                  <a:srgbClr val="94A3B8"/>
                </a:solidFill>
                <a:latin typeface="Calibri" pitchFamily="34" charset="0"/>
                <a:ea typeface="Calibri" pitchFamily="34" charset="-122"/>
                <a:cs typeface="Calibri" pitchFamily="34" charset="-120"/>
              </a:rPr>
              <a:t>baze</a:t>
            </a:r>
            <a:r>
              <a:rPr lang="en-US" sz="1000" dirty="0">
                <a:solidFill>
                  <a:srgbClr val="94A3B8"/>
                </a:solidFill>
                <a:latin typeface="Calibri" pitchFamily="34" charset="0"/>
                <a:ea typeface="Calibri" pitchFamily="34" charset="-122"/>
                <a:cs typeface="Calibri" pitchFamily="34" charset="-120"/>
              </a:rPr>
              <a:t> </a:t>
            </a:r>
            <a:r>
              <a:rPr lang="en-US" sz="1000" dirty="0" err="1">
                <a:solidFill>
                  <a:srgbClr val="94A3B8"/>
                </a:solidFill>
                <a:latin typeface="Calibri" pitchFamily="34" charset="0"/>
                <a:ea typeface="Calibri" pitchFamily="34" charset="-122"/>
                <a:cs typeface="Calibri" pitchFamily="34" charset="-120"/>
              </a:rPr>
              <a:t>sadrze</a:t>
            </a:r>
            <a:r>
              <a:rPr lang="en-US" sz="1000" dirty="0">
                <a:solidFill>
                  <a:srgbClr val="94A3B8"/>
                </a:solidFill>
                <a:latin typeface="Calibri" pitchFamily="34" charset="0"/>
                <a:ea typeface="Calibri" pitchFamily="34" charset="-122"/>
                <a:cs typeface="Calibri" pitchFamily="34" charset="-120"/>
              </a:rPr>
              <a:t> </a:t>
            </a:r>
            <a:r>
              <a:rPr lang="en-US" sz="1000" dirty="0" err="1">
                <a:solidFill>
                  <a:srgbClr val="94A3B8"/>
                </a:solidFill>
                <a:latin typeface="Calibri" pitchFamily="34" charset="0"/>
                <a:ea typeface="Calibri" pitchFamily="34" charset="-122"/>
                <a:cs typeface="Calibri" pitchFamily="34" charset="-120"/>
              </a:rPr>
              <a:t>cak</a:t>
            </a:r>
            <a:r>
              <a:rPr lang="en-US" sz="1000" dirty="0">
                <a:solidFill>
                  <a:srgbClr val="94A3B8"/>
                </a:solidFill>
                <a:latin typeface="Calibri" pitchFamily="34" charset="0"/>
                <a:ea typeface="Calibri" pitchFamily="34" charset="-122"/>
                <a:cs typeface="Calibri" pitchFamily="34" charset="-120"/>
              </a:rPr>
              <a:t> </a:t>
            </a:r>
            <a:r>
              <a:rPr lang="en-US" sz="1000" dirty="0" err="1">
                <a:solidFill>
                  <a:srgbClr val="94A3B8"/>
                </a:solidFill>
                <a:latin typeface="Calibri" pitchFamily="34" charset="0"/>
                <a:ea typeface="Calibri" pitchFamily="34" charset="-122"/>
                <a:cs typeface="Calibri" pitchFamily="34" charset="-120"/>
              </a:rPr>
              <a:t>i</a:t>
            </a:r>
            <a:r>
              <a:rPr lang="en-US" sz="1000" dirty="0">
                <a:solidFill>
                  <a:srgbClr val="94A3B8"/>
                </a:solidFill>
                <a:latin typeface="Calibri" pitchFamily="34" charset="0"/>
                <a:ea typeface="Calibri" pitchFamily="34" charset="-122"/>
                <a:cs typeface="Calibri" pitchFamily="34" charset="-120"/>
              </a:rPr>
              <a:t> </a:t>
            </a:r>
            <a:r>
              <a:rPr lang="en-US" sz="1000" dirty="0" err="1">
                <a:solidFill>
                  <a:srgbClr val="94A3B8"/>
                </a:solidFill>
                <a:latin typeface="Calibri" pitchFamily="34" charset="0"/>
                <a:ea typeface="Calibri" pitchFamily="34" charset="-122"/>
                <a:cs typeface="Calibri" pitchFamily="34" charset="-120"/>
              </a:rPr>
              <a:t>poluprofesionalne</a:t>
            </a:r>
            <a:r>
              <a:rPr lang="en-US" sz="1000" dirty="0">
                <a:solidFill>
                  <a:srgbClr val="94A3B8"/>
                </a:solidFill>
                <a:latin typeface="Calibri" pitchFamily="34" charset="0"/>
                <a:ea typeface="Calibri" pitchFamily="34" charset="-122"/>
                <a:cs typeface="Calibri" pitchFamily="34" charset="-120"/>
              </a:rPr>
              <a:t> </a:t>
            </a:r>
            <a:r>
              <a:rPr lang="en-US" sz="1000" dirty="0" err="1">
                <a:solidFill>
                  <a:srgbClr val="94A3B8"/>
                </a:solidFill>
                <a:latin typeface="Calibri" pitchFamily="34" charset="0"/>
                <a:ea typeface="Calibri" pitchFamily="34" charset="-122"/>
                <a:cs typeface="Calibri" pitchFamily="34" charset="-120"/>
              </a:rPr>
              <a:t>lige</a:t>
            </a:r>
            <a:r>
              <a:rPr lang="en-US" sz="1000" dirty="0">
                <a:solidFill>
                  <a:srgbClr val="94A3B8"/>
                </a:solidFill>
                <a:latin typeface="Calibri" pitchFamily="34" charset="0"/>
                <a:ea typeface="Calibri" pitchFamily="34" charset="-122"/>
                <a:cs typeface="Calibri" pitchFamily="34" charset="-120"/>
              </a:rPr>
              <a:t> </a:t>
            </a:r>
            <a:r>
              <a:rPr lang="en-US" sz="1000" dirty="0" err="1">
                <a:solidFill>
                  <a:srgbClr val="94A3B8"/>
                </a:solidFill>
                <a:latin typeface="Calibri" pitchFamily="34" charset="0"/>
                <a:ea typeface="Calibri" pitchFamily="34" charset="-122"/>
                <a:cs typeface="Calibri" pitchFamily="34" charset="-120"/>
              </a:rPr>
              <a:t>Evrope</a:t>
            </a:r>
            <a:r>
              <a:rPr lang="en-US" sz="1000" dirty="0">
                <a:solidFill>
                  <a:srgbClr val="94A3B8"/>
                </a:solidFill>
                <a:latin typeface="Calibri" pitchFamily="34" charset="0"/>
                <a:ea typeface="Calibri" pitchFamily="34" charset="-122"/>
                <a:cs typeface="Calibri" pitchFamily="34" charset="-120"/>
              </a:rPr>
              <a:t>.</a:t>
            </a:r>
            <a:endParaRPr lang="en-US" sz="1000" dirty="0"/>
          </a:p>
        </p:txBody>
      </p:sp>
      <p:sp>
        <p:nvSpPr>
          <p:cNvPr id="30" name="Shape 28"/>
          <p:cNvSpPr/>
          <p:nvPr/>
        </p:nvSpPr>
        <p:spPr>
          <a:xfrm>
            <a:off x="7210044" y="1600199"/>
            <a:ext cx="1600200" cy="2808511"/>
          </a:xfrm>
          <a:prstGeom prst="rect">
            <a:avLst/>
          </a:prstGeom>
          <a:solidFill>
            <a:srgbClr val="141B2E"/>
          </a:solidFill>
          <a:ln w="25400">
            <a:solidFill>
              <a:srgbClr val="EF4444"/>
            </a:solidFill>
            <a:prstDash val="solid"/>
          </a:ln>
        </p:spPr>
        <p:txBody>
          <a:bodyPr/>
          <a:lstStyle/>
          <a:p>
            <a:endParaRPr/>
          </a:p>
        </p:txBody>
      </p:sp>
      <p:sp>
        <p:nvSpPr>
          <p:cNvPr id="32" name="Text 30"/>
          <p:cNvSpPr/>
          <p:nvPr/>
        </p:nvSpPr>
        <p:spPr>
          <a:xfrm>
            <a:off x="7299851" y="1929385"/>
            <a:ext cx="1417320" cy="347472"/>
          </a:xfrm>
          <a:prstGeom prst="rect">
            <a:avLst/>
          </a:prstGeom>
          <a:noFill/>
          <a:ln/>
        </p:spPr>
        <p:txBody>
          <a:bodyPr wrap="square" lIns="0" tIns="0" rIns="0" bIns="0" rtlCol="0" anchor="ctr"/>
          <a:lstStyle/>
          <a:p>
            <a:pPr marL="0" indent="0" algn="ctr">
              <a:buNone/>
            </a:pPr>
            <a:r>
              <a:rPr lang="en-US" sz="2000" b="1" dirty="0">
                <a:solidFill>
                  <a:srgbClr val="EF4444"/>
                </a:solidFill>
                <a:latin typeface="Calibri" pitchFamily="34" charset="0"/>
                <a:ea typeface="Calibri" pitchFamily="34" charset="-122"/>
                <a:cs typeface="Calibri" pitchFamily="34" charset="-120"/>
              </a:rPr>
              <a:t>2026</a:t>
            </a:r>
            <a:endParaRPr lang="en-US" sz="2000" dirty="0"/>
          </a:p>
        </p:txBody>
      </p:sp>
      <p:sp>
        <p:nvSpPr>
          <p:cNvPr id="33" name="Text 31"/>
          <p:cNvSpPr/>
          <p:nvPr/>
        </p:nvSpPr>
        <p:spPr>
          <a:xfrm>
            <a:off x="7301484" y="2351963"/>
            <a:ext cx="1417320" cy="256032"/>
          </a:xfrm>
          <a:prstGeom prst="rect">
            <a:avLst/>
          </a:prstGeom>
          <a:noFill/>
          <a:ln/>
        </p:spPr>
        <p:txBody>
          <a:bodyPr wrap="square" lIns="0" tIns="0" rIns="0" bIns="0" rtlCol="0" anchor="ctr"/>
          <a:lstStyle/>
          <a:p>
            <a:pPr marL="0" indent="0" algn="ctr">
              <a:buNone/>
            </a:pPr>
            <a:r>
              <a:rPr lang="en-US" sz="1400" b="1" dirty="0" err="1">
                <a:solidFill>
                  <a:srgbClr val="EF4444"/>
                </a:solidFill>
                <a:latin typeface="Calibri" pitchFamily="34" charset="0"/>
                <a:ea typeface="Calibri" pitchFamily="34" charset="-122"/>
                <a:cs typeface="Calibri" pitchFamily="34" charset="-120"/>
              </a:rPr>
              <a:t>Crna</a:t>
            </a:r>
            <a:r>
              <a:rPr lang="en-US" sz="1400" b="1" dirty="0">
                <a:solidFill>
                  <a:srgbClr val="EF4444"/>
                </a:solidFill>
                <a:latin typeface="Calibri" pitchFamily="34" charset="0"/>
                <a:ea typeface="Calibri" pitchFamily="34" charset="-122"/>
                <a:cs typeface="Calibri" pitchFamily="34" charset="-120"/>
              </a:rPr>
              <a:t> Gora</a:t>
            </a:r>
            <a:endParaRPr lang="en-US" sz="1400" dirty="0"/>
          </a:p>
        </p:txBody>
      </p:sp>
      <p:sp>
        <p:nvSpPr>
          <p:cNvPr id="34" name="Shape 32"/>
          <p:cNvSpPr/>
          <p:nvPr/>
        </p:nvSpPr>
        <p:spPr>
          <a:xfrm>
            <a:off x="7827264" y="2734056"/>
            <a:ext cx="365760" cy="0"/>
          </a:xfrm>
          <a:prstGeom prst="line">
            <a:avLst/>
          </a:prstGeom>
          <a:noFill/>
          <a:ln w="19050">
            <a:solidFill>
              <a:srgbClr val="22C55E"/>
            </a:solidFill>
            <a:prstDash val="solid"/>
          </a:ln>
        </p:spPr>
        <p:txBody>
          <a:bodyPr/>
          <a:lstStyle/>
          <a:p>
            <a:endParaRPr/>
          </a:p>
        </p:txBody>
      </p:sp>
      <p:sp>
        <p:nvSpPr>
          <p:cNvPr id="35" name="Text 33"/>
          <p:cNvSpPr/>
          <p:nvPr/>
        </p:nvSpPr>
        <p:spPr>
          <a:xfrm>
            <a:off x="7360920" y="2903873"/>
            <a:ext cx="1175004" cy="1256646"/>
          </a:xfrm>
          <a:prstGeom prst="rect">
            <a:avLst/>
          </a:prstGeom>
          <a:noFill/>
          <a:ln/>
        </p:spPr>
        <p:txBody>
          <a:bodyPr wrap="square" lIns="0" tIns="0" rIns="0" bIns="0" rtlCol="0" anchor="t"/>
          <a:lstStyle/>
          <a:p>
            <a:pPr marL="171450" indent="-171450">
              <a:buFont typeface="Arial" panose="020B0604020202020204" pitchFamily="34" charset="0"/>
              <a:buChar char="•"/>
            </a:pPr>
            <a:r>
              <a:rPr lang="en-US" sz="1050" dirty="0">
                <a:solidFill>
                  <a:srgbClr val="94A3B8"/>
                </a:solidFill>
                <a:latin typeface="Calibri" pitchFamily="34" charset="0"/>
                <a:ea typeface="Calibri" pitchFamily="34" charset="-122"/>
                <a:cs typeface="Calibri" pitchFamily="34" charset="-120"/>
              </a:rPr>
              <a:t>Bez </a:t>
            </a:r>
            <a:r>
              <a:rPr lang="en-US" sz="1050" dirty="0" err="1">
                <a:solidFill>
                  <a:srgbClr val="94A3B8"/>
                </a:solidFill>
                <a:latin typeface="Calibri" pitchFamily="34" charset="0"/>
                <a:ea typeface="Calibri" pitchFamily="34" charset="-122"/>
                <a:cs typeface="Calibri" pitchFamily="34" charset="-120"/>
              </a:rPr>
              <a:t>arhive</a:t>
            </a:r>
            <a:r>
              <a:rPr lang="en-US" sz="1050" dirty="0">
                <a:solidFill>
                  <a:srgbClr val="94A3B8"/>
                </a:solidFill>
                <a:latin typeface="Calibri" pitchFamily="34" charset="0"/>
                <a:ea typeface="Calibri" pitchFamily="34" charset="-122"/>
                <a:cs typeface="Calibri" pitchFamily="34" charset="-120"/>
              </a:rPr>
              <a:t> podataka. </a:t>
            </a:r>
          </a:p>
          <a:p>
            <a:pPr marL="171450" indent="-171450">
              <a:buFont typeface="Arial" panose="020B0604020202020204" pitchFamily="34" charset="0"/>
              <a:buChar char="•"/>
            </a:pPr>
            <a:r>
              <a:rPr lang="en-US" sz="1050" dirty="0">
                <a:solidFill>
                  <a:srgbClr val="94A3B8"/>
                </a:solidFill>
                <a:latin typeface="Calibri" pitchFamily="34" charset="0"/>
                <a:ea typeface="Calibri" pitchFamily="34" charset="-122"/>
                <a:cs typeface="Calibri" pitchFamily="34" charset="-120"/>
              </a:rPr>
              <a:t>Nula </a:t>
            </a:r>
            <a:r>
              <a:rPr lang="en-US" sz="1050" dirty="0" err="1">
                <a:solidFill>
                  <a:srgbClr val="94A3B8"/>
                </a:solidFill>
                <a:latin typeface="Calibri" pitchFamily="34" charset="0"/>
                <a:ea typeface="Calibri" pitchFamily="34" charset="-122"/>
                <a:cs typeface="Calibri" pitchFamily="34" charset="-120"/>
              </a:rPr>
              <a:t>analitičara</a:t>
            </a:r>
            <a:r>
              <a:rPr lang="en-US" sz="1050" dirty="0">
                <a:solidFill>
                  <a:srgbClr val="94A3B8"/>
                </a:solidFill>
                <a:latin typeface="Calibri" pitchFamily="34" charset="0"/>
                <a:ea typeface="Calibri" pitchFamily="34" charset="-122"/>
                <a:cs typeface="Calibri" pitchFamily="34" charset="-120"/>
              </a:rPr>
              <a:t>.</a:t>
            </a:r>
          </a:p>
          <a:p>
            <a:pPr marL="171450" indent="-171450">
              <a:buFont typeface="Arial" panose="020B0604020202020204" pitchFamily="34" charset="0"/>
              <a:buChar char="•"/>
            </a:pPr>
            <a:r>
              <a:rPr lang="en-US" sz="1050" dirty="0" err="1">
                <a:solidFill>
                  <a:srgbClr val="94A3B8"/>
                </a:solidFill>
                <a:latin typeface="Calibri" pitchFamily="34" charset="0"/>
                <a:ea typeface="Calibri" pitchFamily="34" charset="-122"/>
                <a:cs typeface="Calibri" pitchFamily="34" charset="-120"/>
              </a:rPr>
              <a:t>Nepostojeća</a:t>
            </a:r>
            <a:r>
              <a:rPr lang="en-US" sz="1050" dirty="0">
                <a:solidFill>
                  <a:srgbClr val="94A3B8"/>
                </a:solidFill>
                <a:latin typeface="Calibri" pitchFamily="34" charset="0"/>
                <a:ea typeface="Calibri" pitchFamily="34" charset="-122"/>
                <a:cs typeface="Calibri" pitchFamily="34" charset="-120"/>
              </a:rPr>
              <a:t> </a:t>
            </a:r>
            <a:r>
              <a:rPr lang="en-US" sz="1050" dirty="0" err="1">
                <a:solidFill>
                  <a:srgbClr val="94A3B8"/>
                </a:solidFill>
                <a:latin typeface="Calibri" pitchFamily="34" charset="0"/>
                <a:ea typeface="Calibri" pitchFamily="34" charset="-122"/>
                <a:cs typeface="Calibri" pitchFamily="34" charset="-120"/>
              </a:rPr>
              <a:t>infrastruktura</a:t>
            </a:r>
            <a:r>
              <a:rPr lang="en-US" sz="1050" dirty="0">
                <a:solidFill>
                  <a:srgbClr val="94A3B8"/>
                </a:solidFill>
                <a:latin typeface="Calibri" pitchFamily="34" charset="0"/>
                <a:ea typeface="Calibri" pitchFamily="34" charset="-122"/>
                <a:cs typeface="Calibri" pitchFamily="34" charset="-120"/>
              </a:rPr>
              <a:t>.</a:t>
            </a:r>
            <a:endParaRPr lang="en-US" sz="1050" dirty="0"/>
          </a:p>
        </p:txBody>
      </p:sp>
      <p:sp>
        <p:nvSpPr>
          <p:cNvPr id="51" name="Text 49"/>
          <p:cNvSpPr/>
          <p:nvPr/>
        </p:nvSpPr>
        <p:spPr>
          <a:xfrm>
            <a:off x="457200" y="4777740"/>
            <a:ext cx="5486400" cy="274320"/>
          </a:xfrm>
          <a:prstGeom prst="rect">
            <a:avLst/>
          </a:prstGeom>
          <a:noFill/>
          <a:ln/>
        </p:spPr>
        <p:txBody>
          <a:bodyPr wrap="square" lIns="0" tIns="0" rIns="0" bIns="0" rtlCol="0" anchor="ctr"/>
          <a:lstStyle/>
          <a:p>
            <a:pPr marL="0" indent="0">
              <a:buNone/>
            </a:pPr>
            <a:r>
              <a:rPr lang="en-US" sz="800" b="1" kern="0" spc="300" dirty="0">
                <a:solidFill>
                  <a:srgbClr val="64748B"/>
                </a:solidFill>
                <a:latin typeface="Calibri" pitchFamily="34" charset="0"/>
                <a:ea typeface="Calibri" pitchFamily="34" charset="-122"/>
                <a:cs typeface="Calibri" pitchFamily="34" charset="-120"/>
              </a:rPr>
              <a:t>ANALITIKA PODATAKA ZA CRNOGORSKI FUDBAL</a:t>
            </a:r>
            <a:endParaRPr lang="en-US" sz="800" dirty="0"/>
          </a:p>
        </p:txBody>
      </p:sp>
      <p:sp>
        <p:nvSpPr>
          <p:cNvPr id="52" name="Text 50"/>
          <p:cNvSpPr/>
          <p:nvPr/>
        </p:nvSpPr>
        <p:spPr>
          <a:xfrm>
            <a:off x="7955280" y="4777740"/>
            <a:ext cx="9144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05 / 21</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0F1C"/>
        </a:solidFill>
        <a:effectLst/>
      </p:bgPr>
    </p:bg>
    <p:spTree>
      <p:nvGrpSpPr>
        <p:cNvPr id="1" name=""/>
        <p:cNvGrpSpPr/>
        <p:nvPr/>
      </p:nvGrpSpPr>
      <p:grpSpPr>
        <a:xfrm>
          <a:off x="0" y="0"/>
          <a:ext cx="0" cy="0"/>
          <a:chOff x="0" y="0"/>
          <a:chExt cx="0" cy="0"/>
        </a:xfrm>
      </p:grpSpPr>
      <p:sp>
        <p:nvSpPr>
          <p:cNvPr id="2" name="Shape 0"/>
          <p:cNvSpPr/>
          <p:nvPr/>
        </p:nvSpPr>
        <p:spPr>
          <a:xfrm>
            <a:off x="457200" y="411480"/>
            <a:ext cx="164592" cy="164592"/>
          </a:xfrm>
          <a:prstGeom prst="rect">
            <a:avLst/>
          </a:prstGeom>
          <a:solidFill>
            <a:srgbClr val="22C55E"/>
          </a:solidFill>
          <a:ln w="12700">
            <a:solidFill>
              <a:srgbClr val="22C55E"/>
            </a:solidFill>
            <a:prstDash val="solid"/>
          </a:ln>
        </p:spPr>
        <p:txBody>
          <a:bodyPr/>
          <a:lstStyle/>
          <a:p>
            <a:endParaRPr/>
          </a:p>
        </p:txBody>
      </p:sp>
      <p:sp>
        <p:nvSpPr>
          <p:cNvPr id="3" name="Text 1"/>
          <p:cNvSpPr/>
          <p:nvPr/>
        </p:nvSpPr>
        <p:spPr>
          <a:xfrm>
            <a:off x="749808" y="384048"/>
            <a:ext cx="7315200" cy="228600"/>
          </a:xfrm>
          <a:prstGeom prst="rect">
            <a:avLst/>
          </a:prstGeom>
          <a:noFill/>
          <a:ln/>
        </p:spPr>
        <p:txBody>
          <a:bodyPr wrap="square" lIns="0" tIns="0" rIns="0" bIns="0" rtlCol="0" anchor="ctr"/>
          <a:lstStyle/>
          <a:p>
            <a:pPr marL="0" indent="0">
              <a:buNone/>
            </a:pPr>
            <a:r>
              <a:rPr lang="en-US" sz="1000" b="1" kern="0" spc="400" dirty="0">
                <a:solidFill>
                  <a:srgbClr val="22C55E"/>
                </a:solidFill>
                <a:latin typeface="Calibri" pitchFamily="34" charset="0"/>
                <a:ea typeface="Calibri" pitchFamily="34" charset="-122"/>
                <a:cs typeface="Calibri" pitchFamily="34" charset="-120"/>
              </a:rPr>
              <a:t>NAŠE KOMŠIJE, U OVOM TRENUTKU</a:t>
            </a:r>
            <a:endParaRPr lang="en-US" sz="1000" dirty="0"/>
          </a:p>
        </p:txBody>
      </p:sp>
      <p:sp>
        <p:nvSpPr>
          <p:cNvPr id="4" name="Text 2"/>
          <p:cNvSpPr/>
          <p:nvPr/>
        </p:nvSpPr>
        <p:spPr>
          <a:xfrm>
            <a:off x="457200" y="685800"/>
            <a:ext cx="8229600" cy="640080"/>
          </a:xfrm>
          <a:prstGeom prst="rect">
            <a:avLst/>
          </a:prstGeom>
          <a:noFill/>
          <a:ln/>
        </p:spPr>
        <p:txBody>
          <a:bodyPr wrap="square" lIns="0" tIns="0" rIns="0" bIns="0" rtlCol="0" anchor="ctr"/>
          <a:lstStyle/>
          <a:p>
            <a:pPr marL="0" indent="0">
              <a:buNone/>
            </a:pPr>
            <a:r>
              <a:rPr lang="en-US" sz="2600" b="1" dirty="0">
                <a:solidFill>
                  <a:srgbClr val="F8FAFC"/>
                </a:solidFill>
                <a:latin typeface="Calibri" pitchFamily="34" charset="0"/>
                <a:ea typeface="Calibri" pitchFamily="34" charset="-122"/>
                <a:cs typeface="Calibri" pitchFamily="34" charset="-120"/>
              </a:rPr>
              <a:t>Dok smo čekali, oni su </a:t>
            </a:r>
            <a:r>
              <a:rPr lang="en-US" sz="2600" b="1" dirty="0" err="1">
                <a:solidFill>
                  <a:srgbClr val="F8FAFC"/>
                </a:solidFill>
                <a:latin typeface="Calibri" pitchFamily="34" charset="0"/>
                <a:ea typeface="Calibri" pitchFamily="34" charset="-122"/>
                <a:cs typeface="Calibri" pitchFamily="34" charset="-120"/>
              </a:rPr>
              <a:t>izgradili</a:t>
            </a:r>
            <a:r>
              <a:rPr lang="en-US" sz="2600" b="1" dirty="0">
                <a:solidFill>
                  <a:srgbClr val="F8FAFC"/>
                </a:solidFill>
                <a:latin typeface="Calibri" pitchFamily="34" charset="0"/>
                <a:ea typeface="Calibri" pitchFamily="34" charset="-122"/>
                <a:cs typeface="Calibri" pitchFamily="34" charset="-120"/>
              </a:rPr>
              <a:t> </a:t>
            </a:r>
            <a:r>
              <a:rPr lang="en-US" sz="2600" b="1" dirty="0" err="1">
                <a:solidFill>
                  <a:srgbClr val="F8FAFC"/>
                </a:solidFill>
                <a:latin typeface="Calibri" pitchFamily="34" charset="0"/>
                <a:ea typeface="Calibri" pitchFamily="34" charset="-122"/>
                <a:cs typeface="Calibri" pitchFamily="34" charset="-120"/>
              </a:rPr>
              <a:t>sisteme</a:t>
            </a:r>
            <a:endParaRPr lang="en-US" sz="2600" dirty="0"/>
          </a:p>
        </p:txBody>
      </p:sp>
      <p:sp>
        <p:nvSpPr>
          <p:cNvPr id="5" name="Shape 3"/>
          <p:cNvSpPr/>
          <p:nvPr/>
        </p:nvSpPr>
        <p:spPr>
          <a:xfrm>
            <a:off x="457200" y="1554480"/>
            <a:ext cx="8229600" cy="658368"/>
          </a:xfrm>
          <a:prstGeom prst="rect">
            <a:avLst/>
          </a:prstGeom>
          <a:solidFill>
            <a:srgbClr val="141B2E"/>
          </a:solidFill>
          <a:ln w="12700">
            <a:solidFill>
              <a:srgbClr val="243049"/>
            </a:solidFill>
            <a:prstDash val="solid"/>
          </a:ln>
        </p:spPr>
        <p:txBody>
          <a:bodyPr/>
          <a:lstStyle/>
          <a:p>
            <a:endParaRPr/>
          </a:p>
        </p:txBody>
      </p:sp>
      <p:sp>
        <p:nvSpPr>
          <p:cNvPr id="6" name="Shape 4"/>
          <p:cNvSpPr/>
          <p:nvPr/>
        </p:nvSpPr>
        <p:spPr>
          <a:xfrm>
            <a:off x="457200" y="1554480"/>
            <a:ext cx="73152" cy="658368"/>
          </a:xfrm>
          <a:prstGeom prst="rect">
            <a:avLst/>
          </a:prstGeom>
          <a:solidFill>
            <a:srgbClr val="22C55E"/>
          </a:solidFill>
          <a:ln w="12700">
            <a:solidFill>
              <a:srgbClr val="22C55E"/>
            </a:solidFill>
            <a:prstDash val="solid"/>
          </a:ln>
        </p:spPr>
        <p:txBody>
          <a:bodyPr/>
          <a:lstStyle/>
          <a:p>
            <a:endParaRPr/>
          </a:p>
        </p:txBody>
      </p:sp>
      <p:sp>
        <p:nvSpPr>
          <p:cNvPr id="8" name="Text 6"/>
          <p:cNvSpPr/>
          <p:nvPr/>
        </p:nvSpPr>
        <p:spPr>
          <a:xfrm>
            <a:off x="685800" y="1735401"/>
            <a:ext cx="2651760" cy="274320"/>
          </a:xfrm>
          <a:prstGeom prst="rect">
            <a:avLst/>
          </a:prstGeom>
          <a:noFill/>
          <a:ln/>
        </p:spPr>
        <p:txBody>
          <a:bodyPr wrap="square" lIns="0" tIns="0" rIns="0" bIns="0" rtlCol="0" anchor="ctr"/>
          <a:lstStyle/>
          <a:p>
            <a:pPr marL="0" indent="0">
              <a:buNone/>
            </a:pPr>
            <a:r>
              <a:rPr lang="en-US" sz="1200" b="1" dirty="0">
                <a:solidFill>
                  <a:srgbClr val="F8FAFC"/>
                </a:solidFill>
                <a:latin typeface="Calibri" pitchFamily="34" charset="0"/>
                <a:ea typeface="Calibri" pitchFamily="34" charset="-122"/>
                <a:cs typeface="Calibri" pitchFamily="34" charset="-120"/>
              </a:rPr>
              <a:t>Hrvatska</a:t>
            </a:r>
            <a:endParaRPr lang="en-US" sz="1200" dirty="0"/>
          </a:p>
        </p:txBody>
      </p:sp>
      <p:sp>
        <p:nvSpPr>
          <p:cNvPr id="9" name="Text 7"/>
          <p:cNvSpPr/>
          <p:nvPr/>
        </p:nvSpPr>
        <p:spPr>
          <a:xfrm>
            <a:off x="3474720" y="1664208"/>
            <a:ext cx="5029200" cy="493776"/>
          </a:xfrm>
          <a:prstGeom prst="rect">
            <a:avLst/>
          </a:prstGeom>
          <a:noFill/>
          <a:ln/>
        </p:spPr>
        <p:txBody>
          <a:bodyPr wrap="square" lIns="0" tIns="0" rIns="0" bIns="0" rtlCol="0" anchor="ctr"/>
          <a:lstStyle/>
          <a:p>
            <a:r>
              <a:rPr lang="en-US" sz="1100" dirty="0">
                <a:solidFill>
                  <a:schemeClr val="accent3"/>
                </a:solidFill>
              </a:rPr>
              <a:t>Dinamo Zagreb — </a:t>
            </a:r>
            <a:r>
              <a:rPr lang="en-US" sz="1100" dirty="0" err="1">
                <a:solidFill>
                  <a:schemeClr val="accent3"/>
                </a:solidFill>
              </a:rPr>
              <a:t>interni</a:t>
            </a:r>
            <a:r>
              <a:rPr lang="en-US" sz="1100" dirty="0">
                <a:solidFill>
                  <a:schemeClr val="accent3"/>
                </a:solidFill>
              </a:rPr>
              <a:t> </a:t>
            </a:r>
            <a:r>
              <a:rPr lang="en-US" sz="1100" dirty="0" err="1">
                <a:solidFill>
                  <a:schemeClr val="accent3"/>
                </a:solidFill>
              </a:rPr>
              <a:t>analitički</a:t>
            </a:r>
            <a:r>
              <a:rPr lang="en-US" sz="1100" dirty="0">
                <a:solidFill>
                  <a:schemeClr val="accent3"/>
                </a:solidFill>
              </a:rPr>
              <a:t> </a:t>
            </a:r>
            <a:r>
              <a:rPr lang="en-US" sz="1100" dirty="0" err="1">
                <a:solidFill>
                  <a:schemeClr val="accent3"/>
                </a:solidFill>
              </a:rPr>
              <a:t>tim</a:t>
            </a:r>
            <a:r>
              <a:rPr lang="en-US" sz="1100" dirty="0">
                <a:solidFill>
                  <a:schemeClr val="accent3"/>
                </a:solidFill>
              </a:rPr>
              <a:t> (Head of Analytics </a:t>
            </a:r>
            <a:r>
              <a:rPr lang="en-US" sz="1100" dirty="0" err="1">
                <a:solidFill>
                  <a:schemeClr val="accent3"/>
                </a:solidFill>
              </a:rPr>
              <a:t>i</a:t>
            </a:r>
            <a:r>
              <a:rPr lang="en-US" sz="1100" dirty="0">
                <a:solidFill>
                  <a:schemeClr val="accent3"/>
                </a:solidFill>
              </a:rPr>
              <a:t> </a:t>
            </a:r>
            <a:r>
              <a:rPr lang="en-US" sz="1100" dirty="0" err="1">
                <a:solidFill>
                  <a:schemeClr val="accent3"/>
                </a:solidFill>
              </a:rPr>
              <a:t>poseban</a:t>
            </a:r>
            <a:r>
              <a:rPr lang="en-US" sz="1100" dirty="0">
                <a:solidFill>
                  <a:schemeClr val="accent3"/>
                </a:solidFill>
              </a:rPr>
              <a:t> Head of Data and Analytics za </a:t>
            </a:r>
            <a:r>
              <a:rPr lang="en-US" sz="1100" dirty="0" err="1">
                <a:solidFill>
                  <a:schemeClr val="accent3"/>
                </a:solidFill>
              </a:rPr>
              <a:t>akademiju</a:t>
            </a:r>
            <a:r>
              <a:rPr lang="en-US" sz="1100" dirty="0">
                <a:solidFill>
                  <a:schemeClr val="accent3"/>
                </a:solidFill>
              </a:rPr>
              <a:t>) + </a:t>
            </a:r>
            <a:r>
              <a:rPr lang="en-US" sz="1100" dirty="0" err="1">
                <a:solidFill>
                  <a:schemeClr val="accent3"/>
                </a:solidFill>
              </a:rPr>
              <a:t>višegodišnje</a:t>
            </a:r>
            <a:r>
              <a:rPr lang="en-US" sz="1100" dirty="0">
                <a:solidFill>
                  <a:schemeClr val="accent3"/>
                </a:solidFill>
              </a:rPr>
              <a:t> </a:t>
            </a:r>
            <a:r>
              <a:rPr lang="en-US" sz="1100" dirty="0" err="1">
                <a:solidFill>
                  <a:schemeClr val="accent3"/>
                </a:solidFill>
              </a:rPr>
              <a:t>partnerstvo</a:t>
            </a:r>
            <a:r>
              <a:rPr lang="en-US" sz="1100" dirty="0">
                <a:solidFill>
                  <a:schemeClr val="accent3"/>
                </a:solidFill>
              </a:rPr>
              <a:t> </a:t>
            </a:r>
            <a:r>
              <a:rPr lang="en-US" sz="1100" dirty="0" err="1">
                <a:solidFill>
                  <a:schemeClr val="accent3"/>
                </a:solidFill>
              </a:rPr>
              <a:t>sa</a:t>
            </a:r>
            <a:r>
              <a:rPr lang="en-US" sz="1100" dirty="0">
                <a:solidFill>
                  <a:schemeClr val="accent3"/>
                </a:solidFill>
              </a:rPr>
              <a:t> </a:t>
            </a:r>
            <a:r>
              <a:rPr lang="en-US" sz="1100" dirty="0" err="1">
                <a:solidFill>
                  <a:schemeClr val="accent3"/>
                </a:solidFill>
              </a:rPr>
              <a:t>Driblab</a:t>
            </a:r>
            <a:r>
              <a:rPr lang="en-US" sz="1100" dirty="0">
                <a:solidFill>
                  <a:schemeClr val="accent3"/>
                </a:solidFill>
              </a:rPr>
              <a:t>-om od 2021. </a:t>
            </a:r>
            <a:r>
              <a:rPr lang="en-US" sz="1100" dirty="0" err="1">
                <a:solidFill>
                  <a:schemeClr val="accent3"/>
                </a:solidFill>
              </a:rPr>
              <a:t>godine</a:t>
            </a:r>
            <a:r>
              <a:rPr lang="en-US" sz="1100" dirty="0">
                <a:solidFill>
                  <a:schemeClr val="accent3"/>
                </a:solidFill>
              </a:rPr>
              <a:t>, </a:t>
            </a:r>
            <a:r>
              <a:rPr lang="en-US" sz="1100" dirty="0" err="1">
                <a:solidFill>
                  <a:schemeClr val="accent3"/>
                </a:solidFill>
              </a:rPr>
              <a:t>prošireno</a:t>
            </a:r>
            <a:r>
              <a:rPr lang="en-US" sz="1100" dirty="0">
                <a:solidFill>
                  <a:schemeClr val="accent3"/>
                </a:solidFill>
              </a:rPr>
              <a:t> 2025. </a:t>
            </a:r>
            <a:r>
              <a:rPr lang="en-US" sz="1100" dirty="0" err="1">
                <a:solidFill>
                  <a:schemeClr val="accent3"/>
                </a:solidFill>
              </a:rPr>
              <a:t>na</a:t>
            </a:r>
            <a:r>
              <a:rPr lang="en-US" sz="1100" dirty="0">
                <a:solidFill>
                  <a:schemeClr val="accent3"/>
                </a:solidFill>
              </a:rPr>
              <a:t> tracking </a:t>
            </a:r>
            <a:r>
              <a:rPr lang="en-US" sz="1100" dirty="0" err="1">
                <a:solidFill>
                  <a:schemeClr val="accent3"/>
                </a:solidFill>
              </a:rPr>
              <a:t>i</a:t>
            </a:r>
            <a:r>
              <a:rPr lang="en-US" sz="1100" dirty="0">
                <a:solidFill>
                  <a:schemeClr val="accent3"/>
                </a:solidFill>
              </a:rPr>
              <a:t> physical data.</a:t>
            </a:r>
            <a:endParaRPr lang="en-US" sz="700" dirty="0">
              <a:solidFill>
                <a:schemeClr val="accent3"/>
              </a:solidFill>
            </a:endParaRPr>
          </a:p>
        </p:txBody>
      </p:sp>
      <p:sp>
        <p:nvSpPr>
          <p:cNvPr id="10" name="Shape 8"/>
          <p:cNvSpPr/>
          <p:nvPr/>
        </p:nvSpPr>
        <p:spPr>
          <a:xfrm>
            <a:off x="457200" y="2267712"/>
            <a:ext cx="8229600" cy="658368"/>
          </a:xfrm>
          <a:prstGeom prst="rect">
            <a:avLst/>
          </a:prstGeom>
          <a:solidFill>
            <a:srgbClr val="141B2E"/>
          </a:solidFill>
          <a:ln w="12700">
            <a:solidFill>
              <a:srgbClr val="243049"/>
            </a:solidFill>
            <a:prstDash val="solid"/>
          </a:ln>
        </p:spPr>
        <p:txBody>
          <a:bodyPr/>
          <a:lstStyle/>
          <a:p>
            <a:endParaRPr dirty="0"/>
          </a:p>
        </p:txBody>
      </p:sp>
      <p:sp>
        <p:nvSpPr>
          <p:cNvPr id="11" name="Shape 9"/>
          <p:cNvSpPr/>
          <p:nvPr/>
        </p:nvSpPr>
        <p:spPr>
          <a:xfrm>
            <a:off x="457200" y="2286000"/>
            <a:ext cx="73152" cy="658368"/>
          </a:xfrm>
          <a:prstGeom prst="rect">
            <a:avLst/>
          </a:prstGeom>
          <a:solidFill>
            <a:srgbClr val="22C55E"/>
          </a:solidFill>
          <a:ln w="12700">
            <a:solidFill>
              <a:srgbClr val="22C55E"/>
            </a:solidFill>
            <a:prstDash val="solid"/>
          </a:ln>
        </p:spPr>
        <p:txBody>
          <a:bodyPr/>
          <a:lstStyle/>
          <a:p>
            <a:endParaRPr/>
          </a:p>
        </p:txBody>
      </p:sp>
      <p:sp>
        <p:nvSpPr>
          <p:cNvPr id="13" name="Text 11"/>
          <p:cNvSpPr/>
          <p:nvPr/>
        </p:nvSpPr>
        <p:spPr>
          <a:xfrm>
            <a:off x="685800" y="2491740"/>
            <a:ext cx="2651760" cy="274320"/>
          </a:xfrm>
          <a:prstGeom prst="rect">
            <a:avLst/>
          </a:prstGeom>
          <a:noFill/>
          <a:ln/>
        </p:spPr>
        <p:txBody>
          <a:bodyPr wrap="square" lIns="0" tIns="0" rIns="0" bIns="0" rtlCol="0" anchor="ctr"/>
          <a:lstStyle/>
          <a:p>
            <a:pPr marL="0" indent="0">
              <a:buNone/>
            </a:pPr>
            <a:r>
              <a:rPr lang="en-US" sz="1200" b="1" dirty="0" err="1">
                <a:solidFill>
                  <a:srgbClr val="F8FAFC"/>
                </a:solidFill>
                <a:latin typeface="Calibri" pitchFamily="34" charset="0"/>
                <a:ea typeface="Calibri" pitchFamily="34" charset="-122"/>
                <a:cs typeface="Calibri" pitchFamily="34" charset="-120"/>
              </a:rPr>
              <a:t>Srbija</a:t>
            </a:r>
            <a:endParaRPr lang="en-US" sz="1200" dirty="0"/>
          </a:p>
        </p:txBody>
      </p:sp>
      <p:sp>
        <p:nvSpPr>
          <p:cNvPr id="14" name="Text 12"/>
          <p:cNvSpPr/>
          <p:nvPr/>
        </p:nvSpPr>
        <p:spPr>
          <a:xfrm>
            <a:off x="3474720" y="2395728"/>
            <a:ext cx="5029200" cy="493776"/>
          </a:xfrm>
          <a:prstGeom prst="rect">
            <a:avLst/>
          </a:prstGeom>
          <a:noFill/>
          <a:ln/>
        </p:spPr>
        <p:txBody>
          <a:bodyPr wrap="square" lIns="0" tIns="0" rIns="0" bIns="0" rtlCol="0" anchor="ctr"/>
          <a:lstStyle/>
          <a:p>
            <a:r>
              <a:rPr lang="en-US" sz="1100" dirty="0" err="1">
                <a:solidFill>
                  <a:schemeClr val="accent3"/>
                </a:solidFill>
              </a:rPr>
              <a:t>Crvena</a:t>
            </a:r>
            <a:r>
              <a:rPr lang="en-US" sz="1100" dirty="0">
                <a:solidFill>
                  <a:schemeClr val="accent3"/>
                </a:solidFill>
              </a:rPr>
              <a:t> </a:t>
            </a:r>
            <a:r>
              <a:rPr lang="en-US" sz="1100" dirty="0" err="1">
                <a:solidFill>
                  <a:schemeClr val="accent3"/>
                </a:solidFill>
              </a:rPr>
              <a:t>zvezda</a:t>
            </a:r>
            <a:r>
              <a:rPr lang="en-US" sz="1100" dirty="0">
                <a:solidFill>
                  <a:schemeClr val="accent3"/>
                </a:solidFill>
              </a:rPr>
              <a:t> </a:t>
            </a:r>
            <a:r>
              <a:rPr lang="en-US" sz="1100" dirty="0" err="1">
                <a:solidFill>
                  <a:schemeClr val="accent3"/>
                </a:solidFill>
              </a:rPr>
              <a:t>i</a:t>
            </a:r>
            <a:r>
              <a:rPr lang="en-US" sz="1100" dirty="0">
                <a:solidFill>
                  <a:schemeClr val="accent3"/>
                </a:solidFill>
              </a:rPr>
              <a:t> Partizan — </a:t>
            </a:r>
            <a:r>
              <a:rPr lang="en-US" sz="1100" dirty="0" err="1">
                <a:solidFill>
                  <a:schemeClr val="accent3"/>
                </a:solidFill>
              </a:rPr>
              <a:t>automatizovani</a:t>
            </a:r>
            <a:r>
              <a:rPr lang="en-US" sz="1100" dirty="0">
                <a:solidFill>
                  <a:schemeClr val="accent3"/>
                </a:solidFill>
              </a:rPr>
              <a:t> </a:t>
            </a:r>
            <a:r>
              <a:rPr lang="en-US" sz="1100" dirty="0" err="1">
                <a:solidFill>
                  <a:schemeClr val="accent3"/>
                </a:solidFill>
              </a:rPr>
              <a:t>Spiideo</a:t>
            </a:r>
            <a:r>
              <a:rPr lang="en-US" sz="1100" dirty="0">
                <a:solidFill>
                  <a:schemeClr val="accent3"/>
                </a:solidFill>
              </a:rPr>
              <a:t> Perform </a:t>
            </a:r>
            <a:r>
              <a:rPr lang="en-US" sz="1100" dirty="0" err="1">
                <a:solidFill>
                  <a:schemeClr val="accent3"/>
                </a:solidFill>
              </a:rPr>
              <a:t>sistemi</a:t>
            </a:r>
            <a:r>
              <a:rPr lang="en-US" sz="1100" dirty="0">
                <a:solidFill>
                  <a:schemeClr val="accent3"/>
                </a:solidFill>
              </a:rPr>
              <a:t> </a:t>
            </a:r>
            <a:r>
              <a:rPr lang="en-US" sz="1100" dirty="0" err="1">
                <a:solidFill>
                  <a:schemeClr val="accent3"/>
                </a:solidFill>
              </a:rPr>
              <a:t>sa</a:t>
            </a:r>
            <a:r>
              <a:rPr lang="en-US" sz="1100" dirty="0">
                <a:solidFill>
                  <a:schemeClr val="accent3"/>
                </a:solidFill>
              </a:rPr>
              <a:t> </a:t>
            </a:r>
            <a:r>
              <a:rPr lang="en-US" sz="1100" dirty="0" err="1">
                <a:solidFill>
                  <a:schemeClr val="accent3"/>
                </a:solidFill>
              </a:rPr>
              <a:t>panoramskim</a:t>
            </a:r>
            <a:r>
              <a:rPr lang="en-US" sz="1100" dirty="0">
                <a:solidFill>
                  <a:schemeClr val="accent3"/>
                </a:solidFill>
              </a:rPr>
              <a:t> </a:t>
            </a:r>
            <a:r>
              <a:rPr lang="en-US" sz="1100" dirty="0" err="1">
                <a:solidFill>
                  <a:schemeClr val="accent3"/>
                </a:solidFill>
              </a:rPr>
              <a:t>kamerama</a:t>
            </a:r>
            <a:r>
              <a:rPr lang="en-US" sz="1100" dirty="0">
                <a:solidFill>
                  <a:schemeClr val="accent3"/>
                </a:solidFill>
              </a:rPr>
              <a:t> </a:t>
            </a:r>
            <a:r>
              <a:rPr lang="en-US" sz="1100" dirty="0" err="1">
                <a:solidFill>
                  <a:schemeClr val="accent3"/>
                </a:solidFill>
              </a:rPr>
              <a:t>i</a:t>
            </a:r>
            <a:r>
              <a:rPr lang="en-US" sz="1100" dirty="0">
                <a:solidFill>
                  <a:schemeClr val="accent3"/>
                </a:solidFill>
              </a:rPr>
              <a:t> </a:t>
            </a:r>
            <a:r>
              <a:rPr lang="en-US" sz="1100" dirty="0" err="1">
                <a:solidFill>
                  <a:schemeClr val="accent3"/>
                </a:solidFill>
              </a:rPr>
              <a:t>AutoData</a:t>
            </a:r>
            <a:r>
              <a:rPr lang="en-US" sz="1100" dirty="0">
                <a:solidFill>
                  <a:schemeClr val="accent3"/>
                </a:solidFill>
              </a:rPr>
              <a:t> </a:t>
            </a:r>
            <a:r>
              <a:rPr lang="en-US" sz="1100" dirty="0" err="1">
                <a:solidFill>
                  <a:schemeClr val="accent3"/>
                </a:solidFill>
              </a:rPr>
              <a:t>praćenjem</a:t>
            </a:r>
            <a:r>
              <a:rPr lang="en-US" sz="1100" dirty="0">
                <a:solidFill>
                  <a:schemeClr val="accent3"/>
                </a:solidFill>
              </a:rPr>
              <a:t> </a:t>
            </a:r>
            <a:r>
              <a:rPr lang="en-US" sz="1100" dirty="0" err="1">
                <a:solidFill>
                  <a:schemeClr val="accent3"/>
                </a:solidFill>
              </a:rPr>
              <a:t>igrača</a:t>
            </a:r>
            <a:r>
              <a:rPr lang="en-US" sz="1100" dirty="0">
                <a:solidFill>
                  <a:schemeClr val="accent3"/>
                </a:solidFill>
              </a:rPr>
              <a:t>. Partizan </a:t>
            </a:r>
            <a:r>
              <a:rPr lang="en-US" sz="1100" dirty="0" err="1">
                <a:solidFill>
                  <a:schemeClr val="accent3"/>
                </a:solidFill>
              </a:rPr>
              <a:t>proširio</a:t>
            </a:r>
            <a:r>
              <a:rPr lang="en-US" sz="1100" dirty="0">
                <a:solidFill>
                  <a:schemeClr val="accent3"/>
                </a:solidFill>
              </a:rPr>
              <a:t> </a:t>
            </a:r>
            <a:r>
              <a:rPr lang="en-US" sz="1100" dirty="0" err="1">
                <a:solidFill>
                  <a:schemeClr val="accent3"/>
                </a:solidFill>
              </a:rPr>
              <a:t>sistem</a:t>
            </a:r>
            <a:r>
              <a:rPr lang="en-US" sz="1100" dirty="0">
                <a:solidFill>
                  <a:schemeClr val="accent3"/>
                </a:solidFill>
              </a:rPr>
              <a:t> </a:t>
            </a:r>
            <a:r>
              <a:rPr lang="en-US" sz="1100" dirty="0" err="1">
                <a:solidFill>
                  <a:schemeClr val="accent3"/>
                </a:solidFill>
              </a:rPr>
              <a:t>i</a:t>
            </a:r>
            <a:r>
              <a:rPr lang="en-US" sz="1100" dirty="0">
                <a:solidFill>
                  <a:schemeClr val="accent3"/>
                </a:solidFill>
              </a:rPr>
              <a:t> </a:t>
            </a:r>
            <a:r>
              <a:rPr lang="en-US" sz="1100" dirty="0" err="1">
                <a:solidFill>
                  <a:schemeClr val="accent3"/>
                </a:solidFill>
              </a:rPr>
              <a:t>na</a:t>
            </a:r>
            <a:r>
              <a:rPr lang="en-US" sz="1100" dirty="0">
                <a:solidFill>
                  <a:schemeClr val="accent3"/>
                </a:solidFill>
              </a:rPr>
              <a:t> </a:t>
            </a:r>
            <a:r>
              <a:rPr lang="en-US" sz="1100" dirty="0" err="1">
                <a:solidFill>
                  <a:schemeClr val="accent3"/>
                </a:solidFill>
              </a:rPr>
              <a:t>omladinsku</a:t>
            </a:r>
            <a:r>
              <a:rPr lang="en-US" sz="1100" dirty="0">
                <a:solidFill>
                  <a:schemeClr val="accent3"/>
                </a:solidFill>
              </a:rPr>
              <a:t> </a:t>
            </a:r>
            <a:r>
              <a:rPr lang="en-US" sz="1100" dirty="0" err="1">
                <a:solidFill>
                  <a:schemeClr val="accent3"/>
                </a:solidFill>
              </a:rPr>
              <a:t>školu</a:t>
            </a:r>
            <a:r>
              <a:rPr lang="en-US" sz="1100" dirty="0">
                <a:solidFill>
                  <a:schemeClr val="accent3"/>
                </a:solidFill>
              </a:rPr>
              <a:t>.</a:t>
            </a:r>
            <a:endParaRPr lang="en-US" sz="700" dirty="0">
              <a:solidFill>
                <a:schemeClr val="accent3"/>
              </a:solidFill>
            </a:endParaRPr>
          </a:p>
        </p:txBody>
      </p:sp>
      <p:sp>
        <p:nvSpPr>
          <p:cNvPr id="15" name="Shape 13"/>
          <p:cNvSpPr/>
          <p:nvPr/>
        </p:nvSpPr>
        <p:spPr>
          <a:xfrm>
            <a:off x="457200" y="3017520"/>
            <a:ext cx="8229600" cy="658368"/>
          </a:xfrm>
          <a:prstGeom prst="rect">
            <a:avLst/>
          </a:prstGeom>
          <a:solidFill>
            <a:srgbClr val="141B2E"/>
          </a:solidFill>
          <a:ln w="12700">
            <a:solidFill>
              <a:srgbClr val="243049"/>
            </a:solidFill>
            <a:prstDash val="solid"/>
          </a:ln>
        </p:spPr>
        <p:txBody>
          <a:bodyPr/>
          <a:lstStyle/>
          <a:p>
            <a:endParaRPr/>
          </a:p>
        </p:txBody>
      </p:sp>
      <p:sp>
        <p:nvSpPr>
          <p:cNvPr id="16" name="Shape 14"/>
          <p:cNvSpPr/>
          <p:nvPr/>
        </p:nvSpPr>
        <p:spPr>
          <a:xfrm>
            <a:off x="457200" y="3017520"/>
            <a:ext cx="73152" cy="658368"/>
          </a:xfrm>
          <a:prstGeom prst="rect">
            <a:avLst/>
          </a:prstGeom>
          <a:solidFill>
            <a:srgbClr val="22C55E"/>
          </a:solidFill>
          <a:ln w="12700">
            <a:solidFill>
              <a:srgbClr val="22C55E"/>
            </a:solidFill>
            <a:prstDash val="solid"/>
          </a:ln>
        </p:spPr>
        <p:txBody>
          <a:bodyPr/>
          <a:lstStyle/>
          <a:p>
            <a:endParaRPr/>
          </a:p>
        </p:txBody>
      </p:sp>
      <p:sp>
        <p:nvSpPr>
          <p:cNvPr id="18" name="Text 16"/>
          <p:cNvSpPr/>
          <p:nvPr/>
        </p:nvSpPr>
        <p:spPr>
          <a:xfrm>
            <a:off x="685800" y="3149455"/>
            <a:ext cx="2651760" cy="274320"/>
          </a:xfrm>
          <a:prstGeom prst="rect">
            <a:avLst/>
          </a:prstGeom>
          <a:noFill/>
          <a:ln/>
        </p:spPr>
        <p:txBody>
          <a:bodyPr wrap="square" lIns="0" tIns="0" rIns="0" bIns="0" rtlCol="0" anchor="ctr"/>
          <a:lstStyle/>
          <a:p>
            <a:pPr marL="0" indent="0">
              <a:buNone/>
            </a:pPr>
            <a:r>
              <a:rPr lang="en-US" sz="1200" b="1" dirty="0" err="1">
                <a:solidFill>
                  <a:srgbClr val="F8FAFC"/>
                </a:solidFill>
                <a:latin typeface="Calibri" pitchFamily="34" charset="0"/>
                <a:ea typeface="Calibri" pitchFamily="34" charset="-122"/>
                <a:cs typeface="Calibri" pitchFamily="34" charset="-120"/>
              </a:rPr>
              <a:t>Bugarska</a:t>
            </a:r>
            <a:endParaRPr lang="en-US" sz="1200" dirty="0"/>
          </a:p>
        </p:txBody>
      </p:sp>
      <p:sp>
        <p:nvSpPr>
          <p:cNvPr id="19" name="Text 17"/>
          <p:cNvSpPr/>
          <p:nvPr/>
        </p:nvSpPr>
        <p:spPr>
          <a:xfrm>
            <a:off x="3474720" y="3127248"/>
            <a:ext cx="5029200" cy="493776"/>
          </a:xfrm>
          <a:prstGeom prst="rect">
            <a:avLst/>
          </a:prstGeom>
          <a:noFill/>
          <a:ln/>
        </p:spPr>
        <p:txBody>
          <a:bodyPr wrap="square" lIns="0" tIns="0" rIns="0" bIns="0" rtlCol="0" anchor="ctr"/>
          <a:lstStyle/>
          <a:p>
            <a:r>
              <a:rPr lang="en-US" sz="1100" dirty="0">
                <a:solidFill>
                  <a:schemeClr val="accent3"/>
                </a:solidFill>
              </a:rPr>
              <a:t>Ludogorets </a:t>
            </a:r>
            <a:r>
              <a:rPr lang="en-US" sz="1100" dirty="0" err="1">
                <a:solidFill>
                  <a:schemeClr val="accent3"/>
                </a:solidFill>
              </a:rPr>
              <a:t>i</a:t>
            </a:r>
            <a:r>
              <a:rPr lang="en-US" sz="1100" dirty="0">
                <a:solidFill>
                  <a:schemeClr val="accent3"/>
                </a:solidFill>
              </a:rPr>
              <a:t> CSKA 1948 </a:t>
            </a:r>
            <a:r>
              <a:rPr lang="en-US" sz="1100" dirty="0" err="1">
                <a:solidFill>
                  <a:schemeClr val="accent3"/>
                </a:solidFill>
              </a:rPr>
              <a:t>javno</a:t>
            </a:r>
            <a:r>
              <a:rPr lang="en-US" sz="1100" dirty="0">
                <a:solidFill>
                  <a:schemeClr val="accent3"/>
                </a:solidFill>
              </a:rPr>
              <a:t> </a:t>
            </a:r>
            <a:r>
              <a:rPr lang="en-US" sz="1100" dirty="0" err="1">
                <a:solidFill>
                  <a:schemeClr val="accent3"/>
                </a:solidFill>
              </a:rPr>
              <a:t>ulažu</a:t>
            </a:r>
            <a:r>
              <a:rPr lang="en-US" sz="1100" dirty="0">
                <a:solidFill>
                  <a:schemeClr val="accent3"/>
                </a:solidFill>
              </a:rPr>
              <a:t> u performance data za </a:t>
            </a:r>
            <a:r>
              <a:rPr lang="en-US" sz="1100" dirty="0" err="1">
                <a:solidFill>
                  <a:schemeClr val="accent3"/>
                </a:solidFill>
              </a:rPr>
              <a:t>skauting</a:t>
            </a:r>
            <a:r>
              <a:rPr lang="en-US" sz="1100" dirty="0">
                <a:solidFill>
                  <a:schemeClr val="accent3"/>
                </a:solidFill>
              </a:rPr>
              <a:t> </a:t>
            </a:r>
            <a:r>
              <a:rPr lang="en-US" sz="1100" dirty="0" err="1">
                <a:solidFill>
                  <a:schemeClr val="accent3"/>
                </a:solidFill>
              </a:rPr>
              <a:t>i</a:t>
            </a:r>
            <a:r>
              <a:rPr lang="en-US" sz="1100" dirty="0">
                <a:solidFill>
                  <a:schemeClr val="accent3"/>
                </a:solidFill>
              </a:rPr>
              <a:t> </a:t>
            </a:r>
            <a:r>
              <a:rPr lang="en-US" sz="1100" dirty="0" err="1">
                <a:solidFill>
                  <a:schemeClr val="accent3"/>
                </a:solidFill>
              </a:rPr>
              <a:t>razvoj</a:t>
            </a:r>
            <a:r>
              <a:rPr lang="en-US" sz="1100" dirty="0">
                <a:solidFill>
                  <a:schemeClr val="accent3"/>
                </a:solidFill>
              </a:rPr>
              <a:t>. </a:t>
            </a:r>
            <a:r>
              <a:rPr lang="en-US" sz="1100" dirty="0" err="1">
                <a:solidFill>
                  <a:schemeClr val="accent3"/>
                </a:solidFill>
              </a:rPr>
              <a:t>Bugarska</a:t>
            </a:r>
            <a:r>
              <a:rPr lang="en-US" sz="1100" dirty="0">
                <a:solidFill>
                  <a:schemeClr val="accent3"/>
                </a:solidFill>
              </a:rPr>
              <a:t> </a:t>
            </a:r>
            <a:r>
              <a:rPr lang="en-US" sz="1100" dirty="0" err="1">
                <a:solidFill>
                  <a:schemeClr val="accent3"/>
                </a:solidFill>
              </a:rPr>
              <a:t>liga</a:t>
            </a:r>
            <a:r>
              <a:rPr lang="en-US" sz="1100" dirty="0">
                <a:solidFill>
                  <a:schemeClr val="accent3"/>
                </a:solidFill>
              </a:rPr>
              <a:t> </a:t>
            </a:r>
            <a:r>
              <a:rPr lang="en-US" sz="1100" dirty="0" err="1">
                <a:solidFill>
                  <a:schemeClr val="accent3"/>
                </a:solidFill>
              </a:rPr>
              <a:t>pokrivena</a:t>
            </a:r>
            <a:r>
              <a:rPr lang="en-US" sz="1100" dirty="0">
                <a:solidFill>
                  <a:schemeClr val="accent3"/>
                </a:solidFill>
              </a:rPr>
              <a:t> u </a:t>
            </a:r>
            <a:r>
              <a:rPr lang="en-US" sz="1100" dirty="0" err="1">
                <a:solidFill>
                  <a:schemeClr val="accent3"/>
                </a:solidFill>
              </a:rPr>
              <a:t>FBref</a:t>
            </a:r>
            <a:r>
              <a:rPr lang="en-US" sz="1100" dirty="0">
                <a:solidFill>
                  <a:schemeClr val="accent3"/>
                </a:solidFill>
              </a:rPr>
              <a:t> </a:t>
            </a:r>
            <a:r>
              <a:rPr lang="en-US" sz="1100" dirty="0" err="1">
                <a:solidFill>
                  <a:schemeClr val="accent3"/>
                </a:solidFill>
              </a:rPr>
              <a:t>i</a:t>
            </a:r>
            <a:r>
              <a:rPr lang="en-US" sz="1100" dirty="0">
                <a:solidFill>
                  <a:schemeClr val="accent3"/>
                </a:solidFill>
              </a:rPr>
              <a:t> Wyscout.</a:t>
            </a:r>
            <a:endParaRPr lang="en-US" sz="700" dirty="0">
              <a:solidFill>
                <a:schemeClr val="accent3"/>
              </a:solidFill>
            </a:endParaRPr>
          </a:p>
        </p:txBody>
      </p:sp>
      <p:sp>
        <p:nvSpPr>
          <p:cNvPr id="20" name="Shape 18"/>
          <p:cNvSpPr/>
          <p:nvPr/>
        </p:nvSpPr>
        <p:spPr>
          <a:xfrm>
            <a:off x="457200" y="3749040"/>
            <a:ext cx="8229600" cy="658368"/>
          </a:xfrm>
          <a:prstGeom prst="rect">
            <a:avLst/>
          </a:prstGeom>
          <a:solidFill>
            <a:srgbClr val="141B2E"/>
          </a:solidFill>
          <a:ln w="12700">
            <a:solidFill>
              <a:srgbClr val="243049"/>
            </a:solidFill>
            <a:prstDash val="solid"/>
          </a:ln>
        </p:spPr>
        <p:txBody>
          <a:bodyPr/>
          <a:lstStyle/>
          <a:p>
            <a:endParaRPr/>
          </a:p>
        </p:txBody>
      </p:sp>
      <p:sp>
        <p:nvSpPr>
          <p:cNvPr id="21" name="Shape 19"/>
          <p:cNvSpPr/>
          <p:nvPr/>
        </p:nvSpPr>
        <p:spPr>
          <a:xfrm>
            <a:off x="457200" y="3749040"/>
            <a:ext cx="73152" cy="658368"/>
          </a:xfrm>
          <a:prstGeom prst="rect">
            <a:avLst/>
          </a:prstGeom>
          <a:solidFill>
            <a:srgbClr val="22C55E"/>
          </a:solidFill>
          <a:ln w="12700">
            <a:solidFill>
              <a:srgbClr val="22C55E"/>
            </a:solidFill>
            <a:prstDash val="solid"/>
          </a:ln>
        </p:spPr>
        <p:txBody>
          <a:bodyPr/>
          <a:lstStyle/>
          <a:p>
            <a:endParaRPr/>
          </a:p>
        </p:txBody>
      </p:sp>
      <p:sp>
        <p:nvSpPr>
          <p:cNvPr id="23" name="Text 21"/>
          <p:cNvSpPr/>
          <p:nvPr/>
        </p:nvSpPr>
        <p:spPr>
          <a:xfrm>
            <a:off x="676656" y="3875750"/>
            <a:ext cx="2651760" cy="274320"/>
          </a:xfrm>
          <a:prstGeom prst="rect">
            <a:avLst/>
          </a:prstGeom>
          <a:noFill/>
          <a:ln/>
        </p:spPr>
        <p:txBody>
          <a:bodyPr wrap="square" lIns="0" tIns="0" rIns="0" bIns="0" rtlCol="0" anchor="ctr"/>
          <a:lstStyle/>
          <a:p>
            <a:pPr marL="0" indent="0">
              <a:buNone/>
            </a:pPr>
            <a:r>
              <a:rPr lang="en-US" sz="1200" b="1" dirty="0">
                <a:solidFill>
                  <a:srgbClr val="F8FAFC"/>
                </a:solidFill>
                <a:latin typeface="Calibri" pitchFamily="34" charset="0"/>
                <a:ea typeface="Calibri" pitchFamily="34" charset="-122"/>
                <a:cs typeface="Calibri" pitchFamily="34" charset="-120"/>
              </a:rPr>
              <a:t>Kosovo, Makedonija, Bosna, </a:t>
            </a:r>
            <a:r>
              <a:rPr lang="en-US" sz="1200" b="1" dirty="0" err="1">
                <a:solidFill>
                  <a:srgbClr val="F8FAFC"/>
                </a:solidFill>
                <a:latin typeface="Calibri" pitchFamily="34" charset="0"/>
                <a:ea typeface="Calibri" pitchFamily="34" charset="-122"/>
                <a:cs typeface="Calibri" pitchFamily="34" charset="-120"/>
              </a:rPr>
              <a:t>Albanija</a:t>
            </a:r>
            <a:endParaRPr lang="en-US" sz="1200" dirty="0"/>
          </a:p>
        </p:txBody>
      </p:sp>
      <p:sp>
        <p:nvSpPr>
          <p:cNvPr id="24" name="Text 22"/>
          <p:cNvSpPr/>
          <p:nvPr/>
        </p:nvSpPr>
        <p:spPr>
          <a:xfrm>
            <a:off x="3474720" y="3858768"/>
            <a:ext cx="5029200" cy="493776"/>
          </a:xfrm>
          <a:prstGeom prst="rect">
            <a:avLst/>
          </a:prstGeom>
          <a:noFill/>
          <a:ln/>
        </p:spPr>
        <p:txBody>
          <a:bodyPr wrap="square" lIns="0" tIns="0" rIns="0" bIns="0" rtlCol="0" anchor="ctr"/>
          <a:lstStyle/>
          <a:p>
            <a:r>
              <a:rPr lang="en-US" sz="1100" dirty="0" err="1">
                <a:solidFill>
                  <a:schemeClr val="accent3"/>
                </a:solidFill>
              </a:rPr>
              <a:t>Svaka</a:t>
            </a:r>
            <a:r>
              <a:rPr lang="en-US" sz="1100" dirty="0">
                <a:solidFill>
                  <a:schemeClr val="accent3"/>
                </a:solidFill>
              </a:rPr>
              <a:t> od </a:t>
            </a:r>
            <a:r>
              <a:rPr lang="en-US" sz="1100" dirty="0" err="1">
                <a:solidFill>
                  <a:schemeClr val="accent3"/>
                </a:solidFill>
              </a:rPr>
              <a:t>ovih</a:t>
            </a:r>
            <a:r>
              <a:rPr lang="en-US" sz="1100" dirty="0">
                <a:solidFill>
                  <a:schemeClr val="accent3"/>
                </a:solidFill>
              </a:rPr>
              <a:t> </a:t>
            </a:r>
            <a:r>
              <a:rPr lang="en-US" sz="1100" dirty="0" err="1">
                <a:solidFill>
                  <a:schemeClr val="accent3"/>
                </a:solidFill>
              </a:rPr>
              <a:t>liga</a:t>
            </a:r>
            <a:r>
              <a:rPr lang="en-US" sz="1100" dirty="0">
                <a:solidFill>
                  <a:schemeClr val="accent3"/>
                </a:solidFill>
              </a:rPr>
              <a:t> je </a:t>
            </a:r>
            <a:r>
              <a:rPr lang="en-US" sz="1100" dirty="0" err="1">
                <a:solidFill>
                  <a:schemeClr val="accent3"/>
                </a:solidFill>
              </a:rPr>
              <a:t>vidljiva</a:t>
            </a:r>
            <a:r>
              <a:rPr lang="en-US" sz="1100" dirty="0">
                <a:solidFill>
                  <a:schemeClr val="accent3"/>
                </a:solidFill>
              </a:rPr>
              <a:t> </a:t>
            </a:r>
            <a:r>
              <a:rPr lang="en-US" sz="1100" dirty="0" err="1">
                <a:solidFill>
                  <a:schemeClr val="accent3"/>
                </a:solidFill>
              </a:rPr>
              <a:t>na</a:t>
            </a:r>
            <a:r>
              <a:rPr lang="en-US" sz="1100" dirty="0">
                <a:solidFill>
                  <a:schemeClr val="accent3"/>
                </a:solidFill>
              </a:rPr>
              <a:t> </a:t>
            </a:r>
            <a:r>
              <a:rPr lang="en-US" sz="1100" dirty="0" err="1">
                <a:solidFill>
                  <a:schemeClr val="accent3"/>
                </a:solidFill>
              </a:rPr>
              <a:t>komercijalnim</a:t>
            </a:r>
            <a:r>
              <a:rPr lang="en-US" sz="1100" dirty="0">
                <a:solidFill>
                  <a:schemeClr val="accent3"/>
                </a:solidFill>
              </a:rPr>
              <a:t> </a:t>
            </a:r>
            <a:r>
              <a:rPr lang="en-US" sz="1100" dirty="0" err="1">
                <a:solidFill>
                  <a:schemeClr val="accent3"/>
                </a:solidFill>
              </a:rPr>
              <a:t>skauting</a:t>
            </a:r>
            <a:r>
              <a:rPr lang="en-US" sz="1100" dirty="0">
                <a:solidFill>
                  <a:schemeClr val="accent3"/>
                </a:solidFill>
              </a:rPr>
              <a:t> </a:t>
            </a:r>
            <a:r>
              <a:rPr lang="en-US" sz="1100" dirty="0" err="1">
                <a:solidFill>
                  <a:schemeClr val="accent3"/>
                </a:solidFill>
              </a:rPr>
              <a:t>platformama</a:t>
            </a:r>
            <a:r>
              <a:rPr lang="en-US" sz="1100" dirty="0">
                <a:solidFill>
                  <a:schemeClr val="accent3"/>
                </a:solidFill>
              </a:rPr>
              <a:t>. </a:t>
            </a:r>
            <a:r>
              <a:rPr lang="en-US" sz="1100" dirty="0" err="1">
                <a:solidFill>
                  <a:schemeClr val="accent3"/>
                </a:solidFill>
              </a:rPr>
              <a:t>Njihovi</a:t>
            </a:r>
            <a:r>
              <a:rPr lang="en-US" sz="1100" dirty="0">
                <a:solidFill>
                  <a:schemeClr val="accent3"/>
                </a:solidFill>
              </a:rPr>
              <a:t> </a:t>
            </a:r>
            <a:r>
              <a:rPr lang="en-US" sz="1100" dirty="0" err="1">
                <a:solidFill>
                  <a:schemeClr val="accent3"/>
                </a:solidFill>
              </a:rPr>
              <a:t>igrači</a:t>
            </a:r>
            <a:r>
              <a:rPr lang="en-US" sz="1100" dirty="0">
                <a:solidFill>
                  <a:schemeClr val="accent3"/>
                </a:solidFill>
              </a:rPr>
              <a:t> se </a:t>
            </a:r>
            <a:r>
              <a:rPr lang="en-US" sz="1100" dirty="0" err="1">
                <a:solidFill>
                  <a:schemeClr val="accent3"/>
                </a:solidFill>
              </a:rPr>
              <a:t>pojavljuju</a:t>
            </a:r>
            <a:r>
              <a:rPr lang="en-US" sz="1100" dirty="0">
                <a:solidFill>
                  <a:schemeClr val="accent3"/>
                </a:solidFill>
              </a:rPr>
              <a:t> u </a:t>
            </a:r>
            <a:r>
              <a:rPr lang="en-US" sz="1100" dirty="0" err="1">
                <a:solidFill>
                  <a:schemeClr val="accent3"/>
                </a:solidFill>
              </a:rPr>
              <a:t>skauting</a:t>
            </a:r>
            <a:r>
              <a:rPr lang="en-US" sz="1100" dirty="0">
                <a:solidFill>
                  <a:schemeClr val="accent3"/>
                </a:solidFill>
              </a:rPr>
              <a:t> </a:t>
            </a:r>
            <a:r>
              <a:rPr lang="en-US" sz="1100" dirty="0" err="1">
                <a:solidFill>
                  <a:schemeClr val="accent3"/>
                </a:solidFill>
              </a:rPr>
              <a:t>upitima</a:t>
            </a:r>
            <a:r>
              <a:rPr lang="en-US" sz="1100" dirty="0">
                <a:solidFill>
                  <a:schemeClr val="accent3"/>
                </a:solidFill>
              </a:rPr>
              <a:t>. </a:t>
            </a:r>
            <a:r>
              <a:rPr lang="en-US" sz="1100" dirty="0" err="1">
                <a:solidFill>
                  <a:schemeClr val="accent3"/>
                </a:solidFill>
              </a:rPr>
              <a:t>Naši</a:t>
            </a:r>
            <a:r>
              <a:rPr lang="en-US" sz="1100" dirty="0">
                <a:solidFill>
                  <a:schemeClr val="accent3"/>
                </a:solidFill>
              </a:rPr>
              <a:t> ne.</a:t>
            </a:r>
            <a:endParaRPr lang="en-US" sz="700" dirty="0">
              <a:solidFill>
                <a:schemeClr val="accent3"/>
              </a:solidFill>
            </a:endParaRPr>
          </a:p>
        </p:txBody>
      </p:sp>
      <p:sp>
        <p:nvSpPr>
          <p:cNvPr id="25" name="Text 23"/>
          <p:cNvSpPr/>
          <p:nvPr/>
        </p:nvSpPr>
        <p:spPr>
          <a:xfrm>
            <a:off x="457200" y="4526280"/>
            <a:ext cx="8229600" cy="274320"/>
          </a:xfrm>
          <a:prstGeom prst="rect">
            <a:avLst/>
          </a:prstGeom>
          <a:noFill/>
          <a:ln/>
        </p:spPr>
        <p:txBody>
          <a:bodyPr wrap="square" lIns="0" tIns="0" rIns="0" bIns="0" rtlCol="0" anchor="ctr"/>
          <a:lstStyle/>
          <a:p>
            <a:pPr marL="0" indent="0" algn="ctr">
              <a:buNone/>
            </a:pPr>
            <a:r>
              <a:rPr lang="en-US" sz="1100" b="1" i="1" dirty="0">
                <a:solidFill>
                  <a:srgbClr val="22C55E"/>
                </a:solidFill>
                <a:latin typeface="Calibri" pitchFamily="34" charset="0"/>
                <a:ea typeface="Calibri" pitchFamily="34" charset="-122"/>
                <a:cs typeface="Calibri" pitchFamily="34" charset="-120"/>
              </a:rPr>
              <a:t>Ovo nisu samo top-pet lige. Ovo </a:t>
            </a:r>
            <a:r>
              <a:rPr lang="en-US" sz="1100" b="1" i="1" dirty="0" err="1">
                <a:solidFill>
                  <a:srgbClr val="22C55E"/>
                </a:solidFill>
                <a:latin typeface="Calibri" pitchFamily="34" charset="0"/>
                <a:ea typeface="Calibri" pitchFamily="34" charset="-122"/>
                <a:cs typeface="Calibri" pitchFamily="34" charset="-120"/>
              </a:rPr>
              <a:t>su</a:t>
            </a:r>
            <a:r>
              <a:rPr lang="en-US" sz="1100" b="1" i="1" dirty="0">
                <a:solidFill>
                  <a:srgbClr val="22C55E"/>
                </a:solidFill>
                <a:latin typeface="Calibri" pitchFamily="34" charset="0"/>
                <a:ea typeface="Calibri" pitchFamily="34" charset="-122"/>
                <a:cs typeface="Calibri" pitchFamily="34" charset="-120"/>
              </a:rPr>
              <a:t> </a:t>
            </a:r>
            <a:r>
              <a:rPr lang="en-US" sz="1100" b="1" i="1" dirty="0" err="1">
                <a:solidFill>
                  <a:srgbClr val="22C55E"/>
                </a:solidFill>
                <a:latin typeface="Calibri" pitchFamily="34" charset="0"/>
                <a:ea typeface="Calibri" pitchFamily="34" charset="-122"/>
                <a:cs typeface="Calibri" pitchFamily="34" charset="-120"/>
              </a:rPr>
              <a:t>lige</a:t>
            </a:r>
            <a:r>
              <a:rPr lang="en-US" sz="1100" b="1" i="1" dirty="0">
                <a:solidFill>
                  <a:srgbClr val="22C55E"/>
                </a:solidFill>
                <a:latin typeface="Calibri" pitchFamily="34" charset="0"/>
                <a:ea typeface="Calibri" pitchFamily="34" charset="-122"/>
                <a:cs typeface="Calibri" pitchFamily="34" charset="-120"/>
              </a:rPr>
              <a:t> </a:t>
            </a:r>
            <a:r>
              <a:rPr lang="en-US" sz="1100" b="1" i="1" dirty="0" err="1">
                <a:solidFill>
                  <a:srgbClr val="22C55E"/>
                </a:solidFill>
                <a:latin typeface="Calibri" pitchFamily="34" charset="0"/>
                <a:ea typeface="Calibri" pitchFamily="34" charset="-122"/>
                <a:cs typeface="Calibri" pitchFamily="34" charset="-120"/>
              </a:rPr>
              <a:t>našeg</a:t>
            </a:r>
            <a:r>
              <a:rPr lang="en-US" sz="1100" b="1" i="1" dirty="0">
                <a:solidFill>
                  <a:srgbClr val="22C55E"/>
                </a:solidFill>
                <a:latin typeface="Calibri" pitchFamily="34" charset="0"/>
                <a:ea typeface="Calibri" pitchFamily="34" charset="-122"/>
                <a:cs typeface="Calibri" pitchFamily="34" charset="-120"/>
              </a:rPr>
              <a:t> nivoa.</a:t>
            </a:r>
            <a:endParaRPr lang="en-US" sz="1100" dirty="0"/>
          </a:p>
        </p:txBody>
      </p:sp>
      <p:sp>
        <p:nvSpPr>
          <p:cNvPr id="26" name="Text 24"/>
          <p:cNvSpPr/>
          <p:nvPr/>
        </p:nvSpPr>
        <p:spPr>
          <a:xfrm>
            <a:off x="457200" y="4777740"/>
            <a:ext cx="5486400" cy="274320"/>
          </a:xfrm>
          <a:prstGeom prst="rect">
            <a:avLst/>
          </a:prstGeom>
          <a:noFill/>
          <a:ln/>
        </p:spPr>
        <p:txBody>
          <a:bodyPr wrap="square" lIns="0" tIns="0" rIns="0" bIns="0" rtlCol="0" anchor="ctr"/>
          <a:lstStyle/>
          <a:p>
            <a:pPr marL="0" indent="0">
              <a:buNone/>
            </a:pPr>
            <a:r>
              <a:rPr lang="en-US" sz="800" b="1" kern="0" spc="300" dirty="0">
                <a:solidFill>
                  <a:srgbClr val="64748B"/>
                </a:solidFill>
                <a:latin typeface="Calibri" pitchFamily="34" charset="0"/>
                <a:ea typeface="Calibri" pitchFamily="34" charset="-122"/>
                <a:cs typeface="Calibri" pitchFamily="34" charset="-120"/>
              </a:rPr>
              <a:t>ANALITIKA PODATAKA ZA CRNOGORSKI FUDBAL</a:t>
            </a:r>
            <a:endParaRPr lang="en-US" sz="800" dirty="0"/>
          </a:p>
        </p:txBody>
      </p:sp>
      <p:sp>
        <p:nvSpPr>
          <p:cNvPr id="27" name="Text 25"/>
          <p:cNvSpPr/>
          <p:nvPr/>
        </p:nvSpPr>
        <p:spPr>
          <a:xfrm>
            <a:off x="7955280" y="4777740"/>
            <a:ext cx="9144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06 / 21</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0F1C"/>
        </a:solidFill>
        <a:effectLst/>
      </p:bgPr>
    </p:bg>
    <p:spTree>
      <p:nvGrpSpPr>
        <p:cNvPr id="1" name=""/>
        <p:cNvGrpSpPr/>
        <p:nvPr/>
      </p:nvGrpSpPr>
      <p:grpSpPr>
        <a:xfrm>
          <a:off x="0" y="0"/>
          <a:ext cx="0" cy="0"/>
          <a:chOff x="0" y="0"/>
          <a:chExt cx="0" cy="0"/>
        </a:xfrm>
      </p:grpSpPr>
      <p:sp>
        <p:nvSpPr>
          <p:cNvPr id="2" name="Shape 0"/>
          <p:cNvSpPr/>
          <p:nvPr/>
        </p:nvSpPr>
        <p:spPr>
          <a:xfrm>
            <a:off x="457200" y="411480"/>
            <a:ext cx="164592" cy="164592"/>
          </a:xfrm>
          <a:prstGeom prst="rect">
            <a:avLst/>
          </a:prstGeom>
          <a:solidFill>
            <a:srgbClr val="22C55E"/>
          </a:solidFill>
          <a:ln w="12700">
            <a:solidFill>
              <a:srgbClr val="22C55E"/>
            </a:solidFill>
            <a:prstDash val="solid"/>
          </a:ln>
        </p:spPr>
        <p:txBody>
          <a:bodyPr/>
          <a:lstStyle/>
          <a:p>
            <a:endParaRPr/>
          </a:p>
        </p:txBody>
      </p:sp>
      <p:sp>
        <p:nvSpPr>
          <p:cNvPr id="3" name="Text 1"/>
          <p:cNvSpPr/>
          <p:nvPr/>
        </p:nvSpPr>
        <p:spPr>
          <a:xfrm>
            <a:off x="749808" y="384048"/>
            <a:ext cx="7315200" cy="228600"/>
          </a:xfrm>
          <a:prstGeom prst="rect">
            <a:avLst/>
          </a:prstGeom>
          <a:noFill/>
          <a:ln/>
        </p:spPr>
        <p:txBody>
          <a:bodyPr wrap="square" lIns="0" tIns="0" rIns="0" bIns="0" rtlCol="0" anchor="ctr"/>
          <a:lstStyle/>
          <a:p>
            <a:pPr marL="0" indent="0">
              <a:buNone/>
            </a:pPr>
            <a:r>
              <a:rPr lang="en-US" sz="1000" b="1" kern="0" spc="400" dirty="0">
                <a:solidFill>
                  <a:srgbClr val="22C55E"/>
                </a:solidFill>
                <a:latin typeface="Calibri" pitchFamily="34" charset="0"/>
                <a:ea typeface="Calibri" pitchFamily="34" charset="-122"/>
                <a:cs typeface="Calibri" pitchFamily="34" charset="-120"/>
              </a:rPr>
              <a:t>STANJE</a:t>
            </a:r>
            <a:endParaRPr lang="en-US" sz="1000" dirty="0"/>
          </a:p>
        </p:txBody>
      </p:sp>
      <p:sp>
        <p:nvSpPr>
          <p:cNvPr id="4" name="Text 2"/>
          <p:cNvSpPr/>
          <p:nvPr/>
        </p:nvSpPr>
        <p:spPr>
          <a:xfrm>
            <a:off x="457200" y="685800"/>
            <a:ext cx="8229600" cy="640080"/>
          </a:xfrm>
          <a:prstGeom prst="rect">
            <a:avLst/>
          </a:prstGeom>
          <a:noFill/>
          <a:ln/>
        </p:spPr>
        <p:txBody>
          <a:bodyPr wrap="square" lIns="0" tIns="0" rIns="0" bIns="0" rtlCol="0" anchor="ctr"/>
          <a:lstStyle/>
          <a:p>
            <a:pPr marL="0" indent="0">
              <a:buNone/>
            </a:pPr>
            <a:r>
              <a:rPr lang="en-US" sz="2600" b="1" dirty="0" err="1">
                <a:solidFill>
                  <a:srgbClr val="F8FAFC"/>
                </a:solidFill>
                <a:latin typeface="Calibri" pitchFamily="34" charset="0"/>
                <a:ea typeface="Calibri" pitchFamily="34" charset="-122"/>
                <a:cs typeface="Calibri" pitchFamily="34" charset="-120"/>
              </a:rPr>
              <a:t>Crnogorski</a:t>
            </a:r>
            <a:r>
              <a:rPr lang="en-US" sz="2600" b="1" dirty="0">
                <a:solidFill>
                  <a:srgbClr val="F8FAFC"/>
                </a:solidFill>
                <a:latin typeface="Calibri" pitchFamily="34" charset="0"/>
                <a:ea typeface="Calibri" pitchFamily="34" charset="-122"/>
                <a:cs typeface="Calibri" pitchFamily="34" charset="-120"/>
              </a:rPr>
              <a:t> </a:t>
            </a:r>
            <a:r>
              <a:rPr lang="en-US" sz="2600" b="1" dirty="0" err="1">
                <a:solidFill>
                  <a:srgbClr val="F8FAFC"/>
                </a:solidFill>
                <a:latin typeface="Calibri" pitchFamily="34" charset="0"/>
                <a:ea typeface="Calibri" pitchFamily="34" charset="-122"/>
                <a:cs typeface="Calibri" pitchFamily="34" charset="-120"/>
              </a:rPr>
              <a:t>fudbal</a:t>
            </a:r>
            <a:r>
              <a:rPr lang="en-US" sz="2600" b="1" dirty="0">
                <a:solidFill>
                  <a:srgbClr val="F8FAFC"/>
                </a:solidFill>
                <a:latin typeface="Calibri" pitchFamily="34" charset="0"/>
                <a:ea typeface="Calibri" pitchFamily="34" charset="-122"/>
                <a:cs typeface="Calibri" pitchFamily="34" charset="-120"/>
              </a:rPr>
              <a:t> danas —  2026. </a:t>
            </a:r>
            <a:r>
              <a:rPr lang="en-US" sz="2600" b="1" dirty="0" err="1">
                <a:solidFill>
                  <a:srgbClr val="F8FAFC"/>
                </a:solidFill>
                <a:latin typeface="Calibri" pitchFamily="34" charset="0"/>
                <a:ea typeface="Calibri" pitchFamily="34" charset="-122"/>
                <a:cs typeface="Calibri" pitchFamily="34" charset="-120"/>
              </a:rPr>
              <a:t>godina</a:t>
            </a:r>
            <a:endParaRPr lang="en-US" sz="2600" dirty="0"/>
          </a:p>
        </p:txBody>
      </p:sp>
      <p:sp>
        <p:nvSpPr>
          <p:cNvPr id="5" name="Shape 3"/>
          <p:cNvSpPr/>
          <p:nvPr/>
        </p:nvSpPr>
        <p:spPr>
          <a:xfrm>
            <a:off x="457200" y="1554480"/>
            <a:ext cx="8229600" cy="438912"/>
          </a:xfrm>
          <a:prstGeom prst="rect">
            <a:avLst/>
          </a:prstGeom>
          <a:solidFill>
            <a:srgbClr val="141B2E"/>
          </a:solidFill>
          <a:ln w="12700">
            <a:solidFill>
              <a:srgbClr val="141B2E"/>
            </a:solidFill>
            <a:prstDash val="solid"/>
          </a:ln>
        </p:spPr>
        <p:txBody>
          <a:bodyPr/>
          <a:lstStyle/>
          <a:p>
            <a:endParaRPr/>
          </a:p>
        </p:txBody>
      </p:sp>
      <p:pic>
        <p:nvPicPr>
          <p:cNvPr id="6" name="Image 0" descr="preencoded.png"/>
          <p:cNvPicPr>
            <a:picLocks noChangeAspect="1"/>
          </p:cNvPicPr>
          <p:nvPr/>
        </p:nvPicPr>
        <p:blipFill>
          <a:blip r:embed="rId3"/>
          <a:stretch>
            <a:fillRect/>
          </a:stretch>
        </p:blipFill>
        <p:spPr>
          <a:xfrm>
            <a:off x="640080" y="1655064"/>
            <a:ext cx="237744" cy="237744"/>
          </a:xfrm>
          <a:prstGeom prst="rect">
            <a:avLst/>
          </a:prstGeom>
        </p:spPr>
      </p:pic>
      <p:sp>
        <p:nvSpPr>
          <p:cNvPr id="7" name="Text 4"/>
          <p:cNvSpPr/>
          <p:nvPr/>
        </p:nvSpPr>
        <p:spPr>
          <a:xfrm>
            <a:off x="1005840" y="1627632"/>
            <a:ext cx="3200400" cy="292608"/>
          </a:xfrm>
          <a:prstGeom prst="rect">
            <a:avLst/>
          </a:prstGeom>
          <a:noFill/>
          <a:ln/>
        </p:spPr>
        <p:txBody>
          <a:bodyPr wrap="square" lIns="0" tIns="0" rIns="0" bIns="0" rtlCol="0" anchor="ctr"/>
          <a:lstStyle/>
          <a:p>
            <a:pPr marL="0" indent="0">
              <a:buNone/>
            </a:pPr>
            <a:r>
              <a:rPr lang="en-US" sz="1300" b="1" dirty="0">
                <a:solidFill>
                  <a:srgbClr val="F8FAFC"/>
                </a:solidFill>
                <a:latin typeface="Calibri" pitchFamily="34" charset="0"/>
                <a:ea typeface="Calibri" pitchFamily="34" charset="-122"/>
                <a:cs typeface="Calibri" pitchFamily="34" charset="-120"/>
              </a:rPr>
              <a:t>Video analitičari</a:t>
            </a:r>
            <a:endParaRPr lang="en-US" sz="1300" dirty="0"/>
          </a:p>
        </p:txBody>
      </p:sp>
      <p:sp>
        <p:nvSpPr>
          <p:cNvPr id="8" name="Text 5"/>
          <p:cNvSpPr/>
          <p:nvPr/>
        </p:nvSpPr>
        <p:spPr>
          <a:xfrm>
            <a:off x="4297680" y="1627632"/>
            <a:ext cx="4206240" cy="292608"/>
          </a:xfrm>
          <a:prstGeom prst="rect">
            <a:avLst/>
          </a:prstGeom>
          <a:noFill/>
          <a:ln/>
        </p:spPr>
        <p:txBody>
          <a:bodyPr wrap="square" lIns="0" tIns="0" rIns="0" bIns="0" rtlCol="0" anchor="ctr"/>
          <a:lstStyle/>
          <a:p>
            <a:pPr marL="0" indent="0">
              <a:buNone/>
            </a:pPr>
            <a:r>
              <a:rPr lang="en-US" sz="1200" dirty="0">
                <a:solidFill>
                  <a:srgbClr val="94A3B8"/>
                </a:solidFill>
                <a:latin typeface="Calibri" pitchFamily="34" charset="0"/>
                <a:ea typeface="Calibri" pitchFamily="34" charset="-122"/>
                <a:cs typeface="Calibri" pitchFamily="34" charset="-120"/>
              </a:rPr>
              <a:t>2 osobe, za 5+ nacionalnih selekcija</a:t>
            </a:r>
            <a:endParaRPr lang="en-US" sz="1200" dirty="0"/>
          </a:p>
        </p:txBody>
      </p:sp>
      <p:pic>
        <p:nvPicPr>
          <p:cNvPr id="9" name="Image 1" descr="preencoded.png"/>
          <p:cNvPicPr>
            <a:picLocks noChangeAspect="1"/>
          </p:cNvPicPr>
          <p:nvPr/>
        </p:nvPicPr>
        <p:blipFill>
          <a:blip r:embed="rId4"/>
          <a:stretch>
            <a:fillRect/>
          </a:stretch>
        </p:blipFill>
        <p:spPr>
          <a:xfrm>
            <a:off x="640080" y="2093976"/>
            <a:ext cx="237744" cy="237744"/>
          </a:xfrm>
          <a:prstGeom prst="rect">
            <a:avLst/>
          </a:prstGeom>
        </p:spPr>
      </p:pic>
      <p:sp>
        <p:nvSpPr>
          <p:cNvPr id="10" name="Text 6"/>
          <p:cNvSpPr/>
          <p:nvPr/>
        </p:nvSpPr>
        <p:spPr>
          <a:xfrm>
            <a:off x="1005840" y="2066544"/>
            <a:ext cx="3200400" cy="292608"/>
          </a:xfrm>
          <a:prstGeom prst="rect">
            <a:avLst/>
          </a:prstGeom>
          <a:noFill/>
          <a:ln/>
        </p:spPr>
        <p:txBody>
          <a:bodyPr wrap="square" lIns="0" tIns="0" rIns="0" bIns="0" rtlCol="0" anchor="ctr"/>
          <a:lstStyle/>
          <a:p>
            <a:r>
              <a:rPr lang="en-US" sz="1300" b="1" dirty="0">
                <a:solidFill>
                  <a:srgbClr val="F8FAFC"/>
                </a:solidFill>
                <a:latin typeface="Calibri" pitchFamily="34" charset="0"/>
                <a:ea typeface="Calibri" pitchFamily="34" charset="-122"/>
                <a:cs typeface="Calibri" pitchFamily="34" charset="-120"/>
              </a:rPr>
              <a:t>Data </a:t>
            </a:r>
            <a:r>
              <a:rPr lang="en-US" sz="1300" b="1" dirty="0" err="1">
                <a:solidFill>
                  <a:srgbClr val="F8FAFC"/>
                </a:solidFill>
                <a:latin typeface="Calibri" pitchFamily="34" charset="0"/>
                <a:ea typeface="Calibri" pitchFamily="34" charset="-122"/>
                <a:cs typeface="Calibri" pitchFamily="34" charset="-120"/>
              </a:rPr>
              <a:t>analitičari</a:t>
            </a:r>
            <a:endParaRPr lang="en-US" sz="1300" dirty="0"/>
          </a:p>
        </p:txBody>
      </p:sp>
      <p:sp>
        <p:nvSpPr>
          <p:cNvPr id="11" name="Text 7"/>
          <p:cNvSpPr/>
          <p:nvPr/>
        </p:nvSpPr>
        <p:spPr>
          <a:xfrm>
            <a:off x="4297680" y="2066544"/>
            <a:ext cx="4206240" cy="292608"/>
          </a:xfrm>
          <a:prstGeom prst="rect">
            <a:avLst/>
          </a:prstGeom>
          <a:noFill/>
          <a:ln/>
        </p:spPr>
        <p:txBody>
          <a:bodyPr wrap="square" lIns="0" tIns="0" rIns="0" bIns="0" rtlCol="0" anchor="ctr"/>
          <a:lstStyle/>
          <a:p>
            <a:pPr marL="0" indent="0">
              <a:buNone/>
            </a:pPr>
            <a:r>
              <a:rPr lang="en-US" sz="1200" dirty="0">
                <a:solidFill>
                  <a:srgbClr val="94A3B8"/>
                </a:solidFill>
                <a:latin typeface="Calibri" pitchFamily="34" charset="0"/>
                <a:ea typeface="Calibri" pitchFamily="34" charset="-122"/>
                <a:cs typeface="Calibri" pitchFamily="34" charset="-120"/>
              </a:rPr>
              <a:t>0 u svim klubovima + federacija</a:t>
            </a:r>
            <a:endParaRPr lang="en-US" sz="1200" dirty="0"/>
          </a:p>
        </p:txBody>
      </p:sp>
      <p:sp>
        <p:nvSpPr>
          <p:cNvPr id="12" name="Shape 8"/>
          <p:cNvSpPr/>
          <p:nvPr/>
        </p:nvSpPr>
        <p:spPr>
          <a:xfrm>
            <a:off x="457200" y="2433610"/>
            <a:ext cx="8229600" cy="438912"/>
          </a:xfrm>
          <a:prstGeom prst="rect">
            <a:avLst/>
          </a:prstGeom>
          <a:solidFill>
            <a:srgbClr val="141B2E"/>
          </a:solidFill>
          <a:ln w="12700">
            <a:solidFill>
              <a:srgbClr val="141B2E"/>
            </a:solidFill>
            <a:prstDash val="solid"/>
          </a:ln>
        </p:spPr>
        <p:txBody>
          <a:bodyPr/>
          <a:lstStyle/>
          <a:p>
            <a:endParaRPr/>
          </a:p>
        </p:txBody>
      </p:sp>
      <p:pic>
        <p:nvPicPr>
          <p:cNvPr id="13" name="Image 2" descr="preencoded.png"/>
          <p:cNvPicPr>
            <a:picLocks noChangeAspect="1"/>
          </p:cNvPicPr>
          <p:nvPr/>
        </p:nvPicPr>
        <p:blipFill>
          <a:blip r:embed="rId4"/>
          <a:stretch>
            <a:fillRect/>
          </a:stretch>
        </p:blipFill>
        <p:spPr>
          <a:xfrm>
            <a:off x="640080" y="2532888"/>
            <a:ext cx="237744" cy="237744"/>
          </a:xfrm>
          <a:prstGeom prst="rect">
            <a:avLst/>
          </a:prstGeom>
        </p:spPr>
      </p:pic>
      <p:sp>
        <p:nvSpPr>
          <p:cNvPr id="14" name="Text 9"/>
          <p:cNvSpPr/>
          <p:nvPr/>
        </p:nvSpPr>
        <p:spPr>
          <a:xfrm>
            <a:off x="1005840" y="2505456"/>
            <a:ext cx="3200400" cy="292608"/>
          </a:xfrm>
          <a:prstGeom prst="rect">
            <a:avLst/>
          </a:prstGeom>
          <a:noFill/>
          <a:ln/>
        </p:spPr>
        <p:txBody>
          <a:bodyPr wrap="square" lIns="0" tIns="0" rIns="0" bIns="0" rtlCol="0" anchor="ctr"/>
          <a:lstStyle/>
          <a:p>
            <a:pPr marL="0" indent="0">
              <a:buNone/>
            </a:pPr>
            <a:r>
              <a:rPr lang="en-US" sz="1300" b="1" dirty="0">
                <a:solidFill>
                  <a:srgbClr val="F8FAFC"/>
                </a:solidFill>
                <a:latin typeface="Calibri" pitchFamily="34" charset="0"/>
                <a:ea typeface="Calibri" pitchFamily="34" charset="-122"/>
                <a:cs typeface="Calibri" pitchFamily="34" charset="-120"/>
              </a:rPr>
              <a:t>Strukturirana </a:t>
            </a:r>
            <a:r>
              <a:rPr lang="en-US" sz="1300" b="1" dirty="0" err="1">
                <a:solidFill>
                  <a:srgbClr val="F8FAFC"/>
                </a:solidFill>
                <a:latin typeface="Calibri" pitchFamily="34" charset="0"/>
                <a:ea typeface="Calibri" pitchFamily="34" charset="-122"/>
                <a:cs typeface="Calibri" pitchFamily="34" charset="-120"/>
              </a:rPr>
              <a:t>baza</a:t>
            </a:r>
            <a:r>
              <a:rPr lang="en-US" sz="1300" b="1" dirty="0">
                <a:solidFill>
                  <a:srgbClr val="F8FAFC"/>
                </a:solidFill>
                <a:latin typeface="Calibri" pitchFamily="34" charset="0"/>
                <a:ea typeface="Calibri" pitchFamily="34" charset="-122"/>
                <a:cs typeface="Calibri" pitchFamily="34" charset="-120"/>
              </a:rPr>
              <a:t> </a:t>
            </a:r>
            <a:r>
              <a:rPr lang="en-US" sz="1300" b="1" dirty="0" err="1">
                <a:solidFill>
                  <a:srgbClr val="F8FAFC"/>
                </a:solidFill>
                <a:latin typeface="Calibri" pitchFamily="34" charset="0"/>
                <a:ea typeface="Calibri" pitchFamily="34" charset="-122"/>
                <a:cs typeface="Calibri" pitchFamily="34" charset="-120"/>
              </a:rPr>
              <a:t>podataka</a:t>
            </a:r>
            <a:r>
              <a:rPr lang="en-US" sz="1300" b="1" dirty="0">
                <a:solidFill>
                  <a:srgbClr val="F8FAFC"/>
                </a:solidFill>
                <a:latin typeface="Calibri" pitchFamily="34" charset="0"/>
                <a:ea typeface="Calibri" pitchFamily="34" charset="-122"/>
                <a:cs typeface="Calibri" pitchFamily="34" charset="-120"/>
              </a:rPr>
              <a:t> “</a:t>
            </a:r>
            <a:r>
              <a:rPr lang="en-US" sz="1300" b="1" dirty="0" err="1">
                <a:solidFill>
                  <a:srgbClr val="F8FAFC"/>
                </a:solidFill>
                <a:latin typeface="Calibri" pitchFamily="34" charset="0"/>
                <a:ea typeface="Calibri" pitchFamily="34" charset="-122"/>
                <a:cs typeface="Calibri" pitchFamily="34" charset="-120"/>
              </a:rPr>
              <a:t>dogadjaja</a:t>
            </a:r>
            <a:r>
              <a:rPr lang="en-US" sz="1300" b="1" dirty="0">
                <a:solidFill>
                  <a:srgbClr val="F8FAFC"/>
                </a:solidFill>
                <a:latin typeface="Calibri" pitchFamily="34" charset="0"/>
                <a:ea typeface="Calibri" pitchFamily="34" charset="-122"/>
                <a:cs typeface="Calibri" pitchFamily="34" charset="-120"/>
              </a:rPr>
              <a:t>”</a:t>
            </a:r>
            <a:endParaRPr lang="en-US" sz="1300" dirty="0"/>
          </a:p>
        </p:txBody>
      </p:sp>
      <p:sp>
        <p:nvSpPr>
          <p:cNvPr id="15" name="Text 10"/>
          <p:cNvSpPr/>
          <p:nvPr/>
        </p:nvSpPr>
        <p:spPr>
          <a:xfrm>
            <a:off x="4297680" y="2505456"/>
            <a:ext cx="4206240" cy="292608"/>
          </a:xfrm>
          <a:prstGeom prst="rect">
            <a:avLst/>
          </a:prstGeom>
          <a:noFill/>
          <a:ln/>
        </p:spPr>
        <p:txBody>
          <a:bodyPr wrap="square" lIns="0" tIns="0" rIns="0" bIns="0" rtlCol="0" anchor="ctr"/>
          <a:lstStyle/>
          <a:p>
            <a:pPr marL="0" indent="0">
              <a:buNone/>
            </a:pPr>
            <a:r>
              <a:rPr lang="en-US" sz="1200" dirty="0">
                <a:solidFill>
                  <a:srgbClr val="94A3B8"/>
                </a:solidFill>
                <a:latin typeface="Calibri" pitchFamily="34" charset="0"/>
                <a:ea typeface="Calibri" pitchFamily="34" charset="-122"/>
                <a:cs typeface="Calibri" pitchFamily="34" charset="-120"/>
              </a:rPr>
              <a:t>ne postoji</a:t>
            </a:r>
            <a:endParaRPr lang="en-US" sz="1200" dirty="0"/>
          </a:p>
        </p:txBody>
      </p:sp>
      <p:pic>
        <p:nvPicPr>
          <p:cNvPr id="16" name="Image 3" descr="preencoded.png"/>
          <p:cNvPicPr>
            <a:picLocks noChangeAspect="1"/>
          </p:cNvPicPr>
          <p:nvPr/>
        </p:nvPicPr>
        <p:blipFill>
          <a:blip r:embed="rId4"/>
          <a:stretch>
            <a:fillRect/>
          </a:stretch>
        </p:blipFill>
        <p:spPr>
          <a:xfrm>
            <a:off x="640080" y="2971800"/>
            <a:ext cx="237744" cy="237744"/>
          </a:xfrm>
          <a:prstGeom prst="rect">
            <a:avLst/>
          </a:prstGeom>
        </p:spPr>
      </p:pic>
      <p:sp>
        <p:nvSpPr>
          <p:cNvPr id="17" name="Text 11"/>
          <p:cNvSpPr/>
          <p:nvPr/>
        </p:nvSpPr>
        <p:spPr>
          <a:xfrm>
            <a:off x="1005840" y="2944368"/>
            <a:ext cx="3200400" cy="292608"/>
          </a:xfrm>
          <a:prstGeom prst="rect">
            <a:avLst/>
          </a:prstGeom>
          <a:noFill/>
          <a:ln/>
        </p:spPr>
        <p:txBody>
          <a:bodyPr wrap="square" lIns="0" tIns="0" rIns="0" bIns="0" rtlCol="0" anchor="ctr"/>
          <a:lstStyle/>
          <a:p>
            <a:pPr marL="0" indent="0">
              <a:buNone/>
            </a:pPr>
            <a:r>
              <a:rPr lang="en-US" sz="1300" b="1" dirty="0">
                <a:solidFill>
                  <a:srgbClr val="F8FAFC"/>
                </a:solidFill>
                <a:latin typeface="Calibri" pitchFamily="34" charset="0"/>
                <a:ea typeface="Calibri" pitchFamily="34" charset="-122"/>
                <a:cs typeface="Calibri" pitchFamily="34" charset="-120"/>
              </a:rPr>
              <a:t>Event data o 1. CFL</a:t>
            </a:r>
            <a:endParaRPr lang="en-US" sz="1300" dirty="0"/>
          </a:p>
        </p:txBody>
      </p:sp>
      <p:sp>
        <p:nvSpPr>
          <p:cNvPr id="18" name="Text 12"/>
          <p:cNvSpPr/>
          <p:nvPr/>
        </p:nvSpPr>
        <p:spPr>
          <a:xfrm>
            <a:off x="4297680" y="2944368"/>
            <a:ext cx="4206240" cy="292608"/>
          </a:xfrm>
          <a:prstGeom prst="rect">
            <a:avLst/>
          </a:prstGeom>
          <a:noFill/>
          <a:ln/>
        </p:spPr>
        <p:txBody>
          <a:bodyPr wrap="square" lIns="0" tIns="0" rIns="0" bIns="0" rtlCol="0" anchor="ctr"/>
          <a:lstStyle/>
          <a:p>
            <a:pPr marL="0" indent="0">
              <a:buNone/>
            </a:pPr>
            <a:r>
              <a:rPr lang="en-US" sz="1200" dirty="0">
                <a:solidFill>
                  <a:srgbClr val="94A3B8"/>
                </a:solidFill>
                <a:latin typeface="Calibri" pitchFamily="34" charset="0"/>
                <a:ea typeface="Calibri" pitchFamily="34" charset="-122"/>
                <a:cs typeface="Calibri" pitchFamily="34" charset="-120"/>
              </a:rPr>
              <a:t>niko ih ne prikuplja</a:t>
            </a:r>
            <a:endParaRPr lang="en-US" sz="1200" dirty="0"/>
          </a:p>
        </p:txBody>
      </p:sp>
      <p:sp>
        <p:nvSpPr>
          <p:cNvPr id="19" name="Shape 13"/>
          <p:cNvSpPr/>
          <p:nvPr/>
        </p:nvSpPr>
        <p:spPr>
          <a:xfrm>
            <a:off x="457200" y="3310128"/>
            <a:ext cx="8229600" cy="438912"/>
          </a:xfrm>
          <a:prstGeom prst="rect">
            <a:avLst/>
          </a:prstGeom>
          <a:solidFill>
            <a:srgbClr val="141B2E"/>
          </a:solidFill>
          <a:ln w="12700">
            <a:solidFill>
              <a:srgbClr val="141B2E"/>
            </a:solidFill>
            <a:prstDash val="solid"/>
          </a:ln>
        </p:spPr>
        <p:txBody>
          <a:bodyPr/>
          <a:lstStyle/>
          <a:p>
            <a:endParaRPr/>
          </a:p>
        </p:txBody>
      </p:sp>
      <p:pic>
        <p:nvPicPr>
          <p:cNvPr id="20" name="Image 4" descr="preencoded.png"/>
          <p:cNvPicPr>
            <a:picLocks noChangeAspect="1"/>
          </p:cNvPicPr>
          <p:nvPr/>
        </p:nvPicPr>
        <p:blipFill>
          <a:blip r:embed="rId3"/>
          <a:stretch>
            <a:fillRect/>
          </a:stretch>
        </p:blipFill>
        <p:spPr>
          <a:xfrm>
            <a:off x="640080" y="3410712"/>
            <a:ext cx="237744" cy="237744"/>
          </a:xfrm>
          <a:prstGeom prst="rect">
            <a:avLst/>
          </a:prstGeom>
        </p:spPr>
      </p:pic>
      <p:sp>
        <p:nvSpPr>
          <p:cNvPr id="21" name="Text 14"/>
          <p:cNvSpPr/>
          <p:nvPr/>
        </p:nvSpPr>
        <p:spPr>
          <a:xfrm>
            <a:off x="1005840" y="3383280"/>
            <a:ext cx="3200400" cy="292608"/>
          </a:xfrm>
          <a:prstGeom prst="rect">
            <a:avLst/>
          </a:prstGeom>
          <a:noFill/>
          <a:ln/>
        </p:spPr>
        <p:txBody>
          <a:bodyPr wrap="square" lIns="0" tIns="0" rIns="0" bIns="0" rtlCol="0" anchor="ctr"/>
          <a:lstStyle/>
          <a:p>
            <a:pPr marL="0" indent="0">
              <a:buNone/>
            </a:pPr>
            <a:r>
              <a:rPr lang="en-US" sz="1300" b="1" dirty="0">
                <a:solidFill>
                  <a:srgbClr val="F8FAFC"/>
                </a:solidFill>
                <a:latin typeface="Calibri" pitchFamily="34" charset="0"/>
                <a:ea typeface="Calibri" pitchFamily="34" charset="-122"/>
                <a:cs typeface="Calibri" pitchFamily="34" charset="-120"/>
              </a:rPr>
              <a:t>Platforma u upotrebi</a:t>
            </a:r>
            <a:endParaRPr lang="en-US" sz="1300" dirty="0"/>
          </a:p>
        </p:txBody>
      </p:sp>
      <p:sp>
        <p:nvSpPr>
          <p:cNvPr id="22" name="Text 15"/>
          <p:cNvSpPr/>
          <p:nvPr/>
        </p:nvSpPr>
        <p:spPr>
          <a:xfrm>
            <a:off x="4297680" y="3368911"/>
            <a:ext cx="4206240" cy="338328"/>
          </a:xfrm>
          <a:prstGeom prst="rect">
            <a:avLst/>
          </a:prstGeom>
          <a:noFill/>
          <a:ln/>
        </p:spPr>
        <p:txBody>
          <a:bodyPr wrap="square" lIns="0" tIns="0" rIns="0" bIns="0" rtlCol="0" anchor="ctr"/>
          <a:lstStyle/>
          <a:p>
            <a:pPr marL="0" indent="0">
              <a:buNone/>
            </a:pPr>
            <a:r>
              <a:rPr lang="en-US" sz="1200" dirty="0">
                <a:solidFill>
                  <a:srgbClr val="94A3B8"/>
                </a:solidFill>
                <a:latin typeface="Calibri" pitchFamily="34" charset="0"/>
                <a:ea typeface="Calibri" pitchFamily="34" charset="-122"/>
                <a:cs typeface="Calibri" pitchFamily="34" charset="-120"/>
              </a:rPr>
              <a:t>Samo </a:t>
            </a:r>
            <a:r>
              <a:rPr lang="en-US" sz="1200" dirty="0" err="1">
                <a:solidFill>
                  <a:srgbClr val="94A3B8"/>
                </a:solidFill>
                <a:latin typeface="Calibri" pitchFamily="34" charset="0"/>
                <a:ea typeface="Calibri" pitchFamily="34" charset="-122"/>
                <a:cs typeface="Calibri" pitchFamily="34" charset="-120"/>
              </a:rPr>
              <a:t>SportsBase</a:t>
            </a:r>
            <a:r>
              <a:rPr lang="en-US" sz="1200" dirty="0">
                <a:solidFill>
                  <a:srgbClr val="94A3B8"/>
                </a:solidFill>
                <a:latin typeface="Calibri" pitchFamily="34" charset="0"/>
                <a:ea typeface="Calibri" pitchFamily="34" charset="-122"/>
                <a:cs typeface="Calibri" pitchFamily="34" charset="-120"/>
              </a:rPr>
              <a:t> (</a:t>
            </a:r>
            <a:r>
              <a:rPr lang="en-US" sz="1200" dirty="0" err="1">
                <a:solidFill>
                  <a:srgbClr val="94A3B8"/>
                </a:solidFill>
                <a:latin typeface="Calibri" pitchFamily="34" charset="0"/>
                <a:ea typeface="Calibri" pitchFamily="34" charset="-122"/>
                <a:cs typeface="Calibri" pitchFamily="34" charset="-120"/>
              </a:rPr>
              <a:t>sumarne</a:t>
            </a:r>
            <a:r>
              <a:rPr lang="en-US" sz="1200" dirty="0">
                <a:solidFill>
                  <a:srgbClr val="94A3B8"/>
                </a:solidFill>
                <a:latin typeface="Calibri" pitchFamily="34" charset="0"/>
                <a:ea typeface="Calibri" pitchFamily="34" charset="-122"/>
                <a:cs typeface="Calibri" pitchFamily="34" charset="-120"/>
              </a:rPr>
              <a:t> statistike; vidljive greške u </a:t>
            </a:r>
            <a:r>
              <a:rPr lang="en-US" sz="1200" dirty="0" err="1">
                <a:solidFill>
                  <a:srgbClr val="94A3B8"/>
                </a:solidFill>
                <a:latin typeface="Calibri" pitchFamily="34" charset="0"/>
                <a:ea typeface="Calibri" pitchFamily="34" charset="-122"/>
                <a:cs typeface="Calibri" pitchFamily="34" charset="-120"/>
              </a:rPr>
              <a:t>identifikaciji</a:t>
            </a:r>
            <a:r>
              <a:rPr lang="en-US" sz="1200" dirty="0">
                <a:solidFill>
                  <a:srgbClr val="94A3B8"/>
                </a:solidFill>
                <a:latin typeface="Calibri" pitchFamily="34" charset="0"/>
                <a:ea typeface="Calibri" pitchFamily="34" charset="-122"/>
                <a:cs typeface="Calibri" pitchFamily="34" charset="-120"/>
              </a:rPr>
              <a:t> </a:t>
            </a:r>
            <a:r>
              <a:rPr lang="en-US" sz="1200" dirty="0" err="1">
                <a:solidFill>
                  <a:srgbClr val="94A3B8"/>
                </a:solidFill>
                <a:latin typeface="Calibri" pitchFamily="34" charset="0"/>
                <a:ea typeface="Calibri" pitchFamily="34" charset="-122"/>
                <a:cs typeface="Calibri" pitchFamily="34" charset="-120"/>
              </a:rPr>
              <a:t>igrača</a:t>
            </a:r>
            <a:r>
              <a:rPr lang="en-US" sz="1200" dirty="0">
                <a:solidFill>
                  <a:srgbClr val="94A3B8"/>
                </a:solidFill>
                <a:latin typeface="Calibri" pitchFamily="34" charset="0"/>
                <a:ea typeface="Calibri" pitchFamily="34" charset="-122"/>
                <a:cs typeface="Calibri" pitchFamily="34" charset="-120"/>
              </a:rPr>
              <a:t> </a:t>
            </a:r>
            <a:r>
              <a:rPr lang="en-US" sz="1200" dirty="0" err="1">
                <a:solidFill>
                  <a:srgbClr val="94A3B8"/>
                </a:solidFill>
                <a:latin typeface="Calibri" pitchFamily="34" charset="0"/>
                <a:ea typeface="Calibri" pitchFamily="34" charset="-122"/>
                <a:cs typeface="Calibri" pitchFamily="34" charset="-120"/>
              </a:rPr>
              <a:t>i</a:t>
            </a:r>
            <a:r>
              <a:rPr lang="en-US" sz="1200" dirty="0">
                <a:solidFill>
                  <a:srgbClr val="94A3B8"/>
                </a:solidFill>
                <a:latin typeface="Calibri" pitchFamily="34" charset="0"/>
                <a:ea typeface="Calibri" pitchFamily="34" charset="-122"/>
                <a:cs typeface="Calibri" pitchFamily="34" charset="-120"/>
              </a:rPr>
              <a:t> </a:t>
            </a:r>
            <a:r>
              <a:rPr lang="en-US" sz="1200" dirty="0" err="1">
                <a:solidFill>
                  <a:srgbClr val="94A3B8"/>
                </a:solidFill>
                <a:latin typeface="Calibri" pitchFamily="34" charset="0"/>
                <a:ea typeface="Calibri" pitchFamily="34" charset="-122"/>
                <a:cs typeface="Calibri" pitchFamily="34" charset="-120"/>
              </a:rPr>
              <a:t>kvalitetu</a:t>
            </a:r>
            <a:r>
              <a:rPr lang="en-US" sz="1200" dirty="0">
                <a:solidFill>
                  <a:srgbClr val="94A3B8"/>
                </a:solidFill>
                <a:latin typeface="Calibri" pitchFamily="34" charset="0"/>
                <a:ea typeface="Calibri" pitchFamily="34" charset="-122"/>
                <a:cs typeface="Calibri" pitchFamily="34" charset="-120"/>
              </a:rPr>
              <a:t> </a:t>
            </a:r>
            <a:r>
              <a:rPr lang="en-US" sz="1200" dirty="0" err="1">
                <a:solidFill>
                  <a:srgbClr val="94A3B8"/>
                </a:solidFill>
                <a:latin typeface="Calibri" pitchFamily="34" charset="0"/>
                <a:ea typeface="Calibri" pitchFamily="34" charset="-122"/>
                <a:cs typeface="Calibri" pitchFamily="34" charset="-120"/>
              </a:rPr>
              <a:t>tih</a:t>
            </a:r>
            <a:r>
              <a:rPr lang="en-US" sz="1200" dirty="0">
                <a:solidFill>
                  <a:srgbClr val="94A3B8"/>
                </a:solidFill>
                <a:latin typeface="Calibri" pitchFamily="34" charset="0"/>
                <a:ea typeface="Calibri" pitchFamily="34" charset="-122"/>
                <a:cs typeface="Calibri" pitchFamily="34" charset="-120"/>
              </a:rPr>
              <a:t> </a:t>
            </a:r>
            <a:r>
              <a:rPr lang="en-US" sz="1200" dirty="0" err="1">
                <a:solidFill>
                  <a:srgbClr val="94A3B8"/>
                </a:solidFill>
                <a:latin typeface="Calibri" pitchFamily="34" charset="0"/>
                <a:ea typeface="Calibri" pitchFamily="34" charset="-122"/>
                <a:cs typeface="Calibri" pitchFamily="34" charset="-120"/>
              </a:rPr>
              <a:t>podataka</a:t>
            </a:r>
            <a:r>
              <a:rPr lang="en-US" sz="1200" dirty="0">
                <a:solidFill>
                  <a:srgbClr val="94A3B8"/>
                </a:solidFill>
                <a:latin typeface="Calibri" pitchFamily="34" charset="0"/>
                <a:ea typeface="Calibri" pitchFamily="34" charset="-122"/>
                <a:cs typeface="Calibri" pitchFamily="34" charset="-120"/>
              </a:rPr>
              <a:t>)</a:t>
            </a:r>
            <a:endParaRPr lang="en-US" sz="1200" dirty="0"/>
          </a:p>
        </p:txBody>
      </p:sp>
      <p:sp>
        <p:nvSpPr>
          <p:cNvPr id="24" name="Text 17"/>
          <p:cNvSpPr/>
          <p:nvPr/>
        </p:nvSpPr>
        <p:spPr>
          <a:xfrm>
            <a:off x="457200" y="4777740"/>
            <a:ext cx="5486400" cy="274320"/>
          </a:xfrm>
          <a:prstGeom prst="rect">
            <a:avLst/>
          </a:prstGeom>
          <a:noFill/>
          <a:ln/>
        </p:spPr>
        <p:txBody>
          <a:bodyPr wrap="square" lIns="0" tIns="0" rIns="0" bIns="0" rtlCol="0" anchor="ctr"/>
          <a:lstStyle/>
          <a:p>
            <a:pPr marL="0" indent="0">
              <a:buNone/>
            </a:pPr>
            <a:r>
              <a:rPr lang="en-US" sz="800" b="1" kern="0" spc="300" dirty="0">
                <a:solidFill>
                  <a:srgbClr val="64748B"/>
                </a:solidFill>
                <a:latin typeface="Calibri" pitchFamily="34" charset="0"/>
                <a:ea typeface="Calibri" pitchFamily="34" charset="-122"/>
                <a:cs typeface="Calibri" pitchFamily="34" charset="-120"/>
              </a:rPr>
              <a:t>ANALITIKA PODATAKA ZA CRNOGORSKI FUDBAL</a:t>
            </a:r>
            <a:endParaRPr lang="en-US" sz="800" dirty="0"/>
          </a:p>
        </p:txBody>
      </p:sp>
      <p:sp>
        <p:nvSpPr>
          <p:cNvPr id="25" name="Text 18"/>
          <p:cNvSpPr/>
          <p:nvPr/>
        </p:nvSpPr>
        <p:spPr>
          <a:xfrm>
            <a:off x="7955280" y="4777740"/>
            <a:ext cx="9144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07 / 21</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0F1C"/>
        </a:solidFill>
        <a:effectLst/>
      </p:bgPr>
    </p:bg>
    <p:spTree>
      <p:nvGrpSpPr>
        <p:cNvPr id="1" name=""/>
        <p:cNvGrpSpPr/>
        <p:nvPr/>
      </p:nvGrpSpPr>
      <p:grpSpPr>
        <a:xfrm>
          <a:off x="0" y="0"/>
          <a:ext cx="0" cy="0"/>
          <a:chOff x="0" y="0"/>
          <a:chExt cx="0" cy="0"/>
        </a:xfrm>
      </p:grpSpPr>
      <p:sp>
        <p:nvSpPr>
          <p:cNvPr id="2" name="Shape 0"/>
          <p:cNvSpPr/>
          <p:nvPr/>
        </p:nvSpPr>
        <p:spPr>
          <a:xfrm>
            <a:off x="457200" y="411480"/>
            <a:ext cx="164592" cy="164592"/>
          </a:xfrm>
          <a:prstGeom prst="rect">
            <a:avLst/>
          </a:prstGeom>
          <a:solidFill>
            <a:srgbClr val="22C55E"/>
          </a:solidFill>
          <a:ln w="12700">
            <a:solidFill>
              <a:srgbClr val="22C55E"/>
            </a:solidFill>
            <a:prstDash val="solid"/>
          </a:ln>
        </p:spPr>
        <p:txBody>
          <a:bodyPr/>
          <a:lstStyle/>
          <a:p>
            <a:endParaRPr/>
          </a:p>
        </p:txBody>
      </p:sp>
      <p:sp>
        <p:nvSpPr>
          <p:cNvPr id="3" name="Text 1"/>
          <p:cNvSpPr/>
          <p:nvPr/>
        </p:nvSpPr>
        <p:spPr>
          <a:xfrm>
            <a:off x="749808" y="384048"/>
            <a:ext cx="7315200" cy="228600"/>
          </a:xfrm>
          <a:prstGeom prst="rect">
            <a:avLst/>
          </a:prstGeom>
          <a:noFill/>
          <a:ln/>
        </p:spPr>
        <p:txBody>
          <a:bodyPr wrap="square" lIns="0" tIns="0" rIns="0" bIns="0" rtlCol="0" anchor="ctr"/>
          <a:lstStyle/>
          <a:p>
            <a:pPr marL="0" indent="0">
              <a:buNone/>
            </a:pPr>
            <a:r>
              <a:rPr lang="en-US" sz="1000" b="1" kern="0" spc="400" dirty="0">
                <a:solidFill>
                  <a:srgbClr val="22C55E"/>
                </a:solidFill>
                <a:latin typeface="Calibri" pitchFamily="34" charset="0"/>
                <a:ea typeface="Calibri" pitchFamily="34" charset="-122"/>
                <a:cs typeface="Calibri" pitchFamily="34" charset="-120"/>
              </a:rPr>
              <a:t>MOGUĆNOSTI</a:t>
            </a:r>
            <a:endParaRPr lang="en-US" sz="1000" dirty="0"/>
          </a:p>
        </p:txBody>
      </p:sp>
      <p:sp>
        <p:nvSpPr>
          <p:cNvPr id="4" name="Text 2"/>
          <p:cNvSpPr/>
          <p:nvPr/>
        </p:nvSpPr>
        <p:spPr>
          <a:xfrm>
            <a:off x="457200" y="685800"/>
            <a:ext cx="8229600" cy="640080"/>
          </a:xfrm>
          <a:prstGeom prst="rect">
            <a:avLst/>
          </a:prstGeom>
          <a:noFill/>
          <a:ln/>
        </p:spPr>
        <p:txBody>
          <a:bodyPr wrap="square" lIns="0" tIns="0" rIns="0" bIns="0" rtlCol="0" anchor="ctr"/>
          <a:lstStyle/>
          <a:p>
            <a:pPr marL="0" indent="0">
              <a:buNone/>
            </a:pPr>
            <a:r>
              <a:rPr lang="en-US" sz="2600" b="1" dirty="0">
                <a:solidFill>
                  <a:srgbClr val="F8FAFC"/>
                </a:solidFill>
                <a:latin typeface="Calibri" pitchFamily="34" charset="0"/>
                <a:ea typeface="Calibri" pitchFamily="34" charset="-122"/>
                <a:cs typeface="Calibri" pitchFamily="34" charset="-120"/>
              </a:rPr>
              <a:t>Šta </a:t>
            </a:r>
            <a:r>
              <a:rPr lang="en-US" sz="2600" b="1" dirty="0" err="1">
                <a:solidFill>
                  <a:srgbClr val="F8FAFC"/>
                </a:solidFill>
                <a:latin typeface="Calibri" pitchFamily="34" charset="0"/>
                <a:ea typeface="Calibri" pitchFamily="34" charset="-122"/>
                <a:cs typeface="Calibri" pitchFamily="34" charset="-120"/>
              </a:rPr>
              <a:t>podaci</a:t>
            </a:r>
            <a:r>
              <a:rPr lang="en-US" sz="2600" b="1" dirty="0">
                <a:solidFill>
                  <a:srgbClr val="F8FAFC"/>
                </a:solidFill>
                <a:latin typeface="Calibri" pitchFamily="34" charset="0"/>
                <a:ea typeface="Calibri" pitchFamily="34" charset="-122"/>
                <a:cs typeface="Calibri" pitchFamily="34" charset="-120"/>
              </a:rPr>
              <a:t> </a:t>
            </a:r>
            <a:r>
              <a:rPr lang="en-US" sz="2600" b="1" dirty="0" err="1">
                <a:solidFill>
                  <a:srgbClr val="F8FAFC"/>
                </a:solidFill>
                <a:latin typeface="Calibri" pitchFamily="34" charset="0"/>
                <a:ea typeface="Calibri" pitchFamily="34" charset="-122"/>
                <a:cs typeface="Calibri" pitchFamily="34" charset="-120"/>
              </a:rPr>
              <a:t>mogu</a:t>
            </a:r>
            <a:r>
              <a:rPr lang="en-US" sz="2600" b="1" dirty="0">
                <a:solidFill>
                  <a:srgbClr val="F8FAFC"/>
                </a:solidFill>
                <a:latin typeface="Calibri" pitchFamily="34" charset="0"/>
                <a:ea typeface="Calibri" pitchFamily="34" charset="-122"/>
                <a:cs typeface="Calibri" pitchFamily="34" charset="-120"/>
              </a:rPr>
              <a:t> da </a:t>
            </a:r>
            <a:r>
              <a:rPr lang="en-US" sz="2600" b="1" dirty="0" err="1">
                <a:solidFill>
                  <a:srgbClr val="F8FAFC"/>
                </a:solidFill>
                <a:latin typeface="Calibri" pitchFamily="34" charset="0"/>
                <a:ea typeface="Calibri" pitchFamily="34" charset="-122"/>
                <a:cs typeface="Calibri" pitchFamily="34" charset="-120"/>
              </a:rPr>
              <a:t>donesu</a:t>
            </a:r>
            <a:endParaRPr lang="en-US" sz="2600" dirty="0"/>
          </a:p>
        </p:txBody>
      </p:sp>
      <p:sp>
        <p:nvSpPr>
          <p:cNvPr id="5" name="Shape 3"/>
          <p:cNvSpPr/>
          <p:nvPr/>
        </p:nvSpPr>
        <p:spPr>
          <a:xfrm>
            <a:off x="457200" y="1554480"/>
            <a:ext cx="1965960" cy="3050000"/>
          </a:xfrm>
          <a:prstGeom prst="rect">
            <a:avLst/>
          </a:prstGeom>
          <a:solidFill>
            <a:srgbClr val="141B2E"/>
          </a:solidFill>
          <a:ln w="12700">
            <a:solidFill>
              <a:srgbClr val="243049"/>
            </a:solidFill>
            <a:prstDash val="solid"/>
          </a:ln>
        </p:spPr>
        <p:txBody>
          <a:bodyPr/>
          <a:lstStyle/>
          <a:p>
            <a:endParaRPr/>
          </a:p>
        </p:txBody>
      </p:sp>
      <p:pic>
        <p:nvPicPr>
          <p:cNvPr id="6" name="Image 0" descr="preencoded.png"/>
          <p:cNvPicPr>
            <a:picLocks noChangeAspect="1"/>
          </p:cNvPicPr>
          <p:nvPr/>
        </p:nvPicPr>
        <p:blipFill>
          <a:blip r:embed="rId3"/>
          <a:stretch>
            <a:fillRect/>
          </a:stretch>
        </p:blipFill>
        <p:spPr>
          <a:xfrm>
            <a:off x="621792" y="1719072"/>
            <a:ext cx="292608" cy="292608"/>
          </a:xfrm>
          <a:prstGeom prst="rect">
            <a:avLst/>
          </a:prstGeom>
        </p:spPr>
      </p:pic>
      <p:sp>
        <p:nvSpPr>
          <p:cNvPr id="7" name="Text 4"/>
          <p:cNvSpPr/>
          <p:nvPr/>
        </p:nvSpPr>
        <p:spPr>
          <a:xfrm>
            <a:off x="621792" y="2057400"/>
            <a:ext cx="1636776" cy="411480"/>
          </a:xfrm>
          <a:prstGeom prst="rect">
            <a:avLst/>
          </a:prstGeom>
          <a:noFill/>
          <a:ln/>
        </p:spPr>
        <p:txBody>
          <a:bodyPr wrap="square" lIns="0" tIns="0" rIns="0" bIns="0" rtlCol="0" anchor="t"/>
          <a:lstStyle/>
          <a:p>
            <a:pPr marL="0" indent="0">
              <a:buNone/>
            </a:pPr>
            <a:r>
              <a:rPr lang="en-US" sz="1200" b="1" dirty="0">
                <a:solidFill>
                  <a:srgbClr val="F8FAFC"/>
                </a:solidFill>
                <a:latin typeface="Calibri" pitchFamily="34" charset="0"/>
                <a:ea typeface="Calibri" pitchFamily="34" charset="-122"/>
                <a:cs typeface="Calibri" pitchFamily="34" charset="-120"/>
              </a:rPr>
              <a:t>Selektor koji vidi sve</a:t>
            </a:r>
            <a:endParaRPr lang="en-US" sz="1200" dirty="0"/>
          </a:p>
        </p:txBody>
      </p:sp>
      <p:sp>
        <p:nvSpPr>
          <p:cNvPr id="8" name="Text 5"/>
          <p:cNvSpPr/>
          <p:nvPr/>
        </p:nvSpPr>
        <p:spPr>
          <a:xfrm>
            <a:off x="621792" y="2468880"/>
            <a:ext cx="1636776" cy="2100000"/>
          </a:xfrm>
          <a:prstGeom prst="rect">
            <a:avLst/>
          </a:prstGeom>
          <a:noFill/>
          <a:ln/>
        </p:spPr>
        <p:txBody>
          <a:bodyPr wrap="square" lIns="0" tIns="0" rIns="0" bIns="0" rtlCol="0" anchor="t"/>
          <a:lstStyle/>
          <a:p>
            <a:pPr marL="0" indent="0">
              <a:buNone/>
            </a:pPr>
            <a:r>
              <a:rPr lang="en-US" sz="1050" dirty="0">
                <a:solidFill>
                  <a:srgbClr val="94A3B8"/>
                </a:solidFill>
                <a:latin typeface="Calibri" pitchFamily="34" charset="0"/>
                <a:ea typeface="Calibri" pitchFamily="34" charset="-122"/>
                <a:cs typeface="Calibri" pitchFamily="34" charset="-120"/>
              </a:rPr>
              <a:t>Svaki igrač 1. CFL praćen u realnom vremenu — selektor vidi ko je u formi, ko napreduje, ko zaslužuje poziv. Priprema zasnovana na podacima iz 20+ utakmica protivnika, ne na jednom video utisku.</a:t>
            </a:r>
            <a:endParaRPr lang="en-US" sz="1050" dirty="0"/>
          </a:p>
        </p:txBody>
      </p:sp>
      <p:sp>
        <p:nvSpPr>
          <p:cNvPr id="9" name="Shape 6"/>
          <p:cNvSpPr/>
          <p:nvPr/>
        </p:nvSpPr>
        <p:spPr>
          <a:xfrm>
            <a:off x="2542032" y="1554480"/>
            <a:ext cx="1965960" cy="3050000"/>
          </a:xfrm>
          <a:prstGeom prst="rect">
            <a:avLst/>
          </a:prstGeom>
          <a:solidFill>
            <a:srgbClr val="141B2E"/>
          </a:solidFill>
          <a:ln w="12700">
            <a:solidFill>
              <a:srgbClr val="243049"/>
            </a:solidFill>
            <a:prstDash val="solid"/>
          </a:ln>
        </p:spPr>
        <p:txBody>
          <a:bodyPr/>
          <a:lstStyle/>
          <a:p>
            <a:endParaRPr/>
          </a:p>
        </p:txBody>
      </p:sp>
      <p:pic>
        <p:nvPicPr>
          <p:cNvPr id="10" name="Image 1" descr="preencoded.png"/>
          <p:cNvPicPr>
            <a:picLocks noChangeAspect="1"/>
          </p:cNvPicPr>
          <p:nvPr/>
        </p:nvPicPr>
        <p:blipFill>
          <a:blip r:embed="rId4"/>
          <a:stretch>
            <a:fillRect/>
          </a:stretch>
        </p:blipFill>
        <p:spPr>
          <a:xfrm>
            <a:off x="2706624" y="1719072"/>
            <a:ext cx="292608" cy="292608"/>
          </a:xfrm>
          <a:prstGeom prst="rect">
            <a:avLst/>
          </a:prstGeom>
        </p:spPr>
      </p:pic>
      <p:sp>
        <p:nvSpPr>
          <p:cNvPr id="11" name="Text 7"/>
          <p:cNvSpPr/>
          <p:nvPr/>
        </p:nvSpPr>
        <p:spPr>
          <a:xfrm>
            <a:off x="2706624" y="2057400"/>
            <a:ext cx="1636776" cy="411480"/>
          </a:xfrm>
          <a:prstGeom prst="rect">
            <a:avLst/>
          </a:prstGeom>
          <a:noFill/>
          <a:ln/>
        </p:spPr>
        <p:txBody>
          <a:bodyPr wrap="square" lIns="0" tIns="0" rIns="0" bIns="0" rtlCol="0" anchor="t"/>
          <a:lstStyle/>
          <a:p>
            <a:pPr marL="0" indent="0">
              <a:buNone/>
            </a:pPr>
            <a:r>
              <a:rPr lang="en-US" sz="1200" b="1" dirty="0">
                <a:solidFill>
                  <a:srgbClr val="F8FAFC"/>
                </a:solidFill>
                <a:latin typeface="Calibri" pitchFamily="34" charset="0"/>
                <a:ea typeface="Calibri" pitchFamily="34" charset="-122"/>
                <a:cs typeface="Calibri" pitchFamily="34" charset="-120"/>
              </a:rPr>
              <a:t>Igrači koji postaju vidljivi</a:t>
            </a:r>
            <a:endParaRPr lang="en-US" sz="1200" dirty="0"/>
          </a:p>
        </p:txBody>
      </p:sp>
      <p:sp>
        <p:nvSpPr>
          <p:cNvPr id="12" name="Text 8"/>
          <p:cNvSpPr/>
          <p:nvPr/>
        </p:nvSpPr>
        <p:spPr>
          <a:xfrm>
            <a:off x="2706624" y="2468880"/>
            <a:ext cx="1636776" cy="2100000"/>
          </a:xfrm>
          <a:prstGeom prst="rect">
            <a:avLst/>
          </a:prstGeom>
          <a:noFill/>
          <a:ln/>
        </p:spPr>
        <p:txBody>
          <a:bodyPr wrap="square" lIns="0" tIns="0" rIns="0" bIns="0" rtlCol="0" anchor="t"/>
          <a:lstStyle/>
          <a:p>
            <a:pPr marL="0" indent="0">
              <a:buNone/>
            </a:pPr>
            <a:r>
              <a:rPr lang="en-US" sz="1050" dirty="0">
                <a:solidFill>
                  <a:srgbClr val="94A3B8"/>
                </a:solidFill>
                <a:latin typeface="Calibri" pitchFamily="34" charset="0"/>
                <a:ea typeface="Calibri" pitchFamily="34" charset="-122"/>
                <a:cs typeface="Calibri" pitchFamily="34" charset="-120"/>
              </a:rPr>
              <a:t>Svaki igrač 1. CFL pojavljuje se u Wyscout i FBref filterima koje koriste evropski skauti. Jedan upit donosi ime igrača koji bi inače ostao neviđen. Bolja vidljivost znači više transfera i više novca u crnogorskom fudbalu.</a:t>
            </a:r>
            <a:endParaRPr lang="en-US" sz="1050" dirty="0"/>
          </a:p>
        </p:txBody>
      </p:sp>
      <p:sp>
        <p:nvSpPr>
          <p:cNvPr id="13" name="Shape 9"/>
          <p:cNvSpPr/>
          <p:nvPr/>
        </p:nvSpPr>
        <p:spPr>
          <a:xfrm>
            <a:off x="4626864" y="1554480"/>
            <a:ext cx="1965960" cy="3050000"/>
          </a:xfrm>
          <a:prstGeom prst="rect">
            <a:avLst/>
          </a:prstGeom>
          <a:solidFill>
            <a:srgbClr val="141B2E"/>
          </a:solidFill>
          <a:ln w="12700">
            <a:solidFill>
              <a:srgbClr val="243049"/>
            </a:solidFill>
            <a:prstDash val="solid"/>
          </a:ln>
        </p:spPr>
        <p:txBody>
          <a:bodyPr/>
          <a:lstStyle/>
          <a:p>
            <a:endParaRPr/>
          </a:p>
        </p:txBody>
      </p:sp>
      <p:pic>
        <p:nvPicPr>
          <p:cNvPr id="14" name="Image 2" descr="preencoded.png"/>
          <p:cNvPicPr>
            <a:picLocks noChangeAspect="1"/>
          </p:cNvPicPr>
          <p:nvPr/>
        </p:nvPicPr>
        <p:blipFill>
          <a:blip r:embed="rId5"/>
          <a:stretch>
            <a:fillRect/>
          </a:stretch>
        </p:blipFill>
        <p:spPr>
          <a:xfrm>
            <a:off x="4791456" y="1719072"/>
            <a:ext cx="292608" cy="292608"/>
          </a:xfrm>
          <a:prstGeom prst="rect">
            <a:avLst/>
          </a:prstGeom>
        </p:spPr>
      </p:pic>
      <p:sp>
        <p:nvSpPr>
          <p:cNvPr id="15" name="Text 10"/>
          <p:cNvSpPr/>
          <p:nvPr/>
        </p:nvSpPr>
        <p:spPr>
          <a:xfrm>
            <a:off x="4791456" y="2057400"/>
            <a:ext cx="1636776" cy="411480"/>
          </a:xfrm>
          <a:prstGeom prst="rect">
            <a:avLst/>
          </a:prstGeom>
          <a:noFill/>
          <a:ln/>
        </p:spPr>
        <p:txBody>
          <a:bodyPr wrap="square" lIns="0" tIns="0" rIns="0" bIns="0" rtlCol="0" anchor="t"/>
          <a:lstStyle/>
          <a:p>
            <a:pPr marL="0" indent="0">
              <a:buNone/>
            </a:pPr>
            <a:r>
              <a:rPr lang="en-US" sz="1200" b="1" dirty="0">
                <a:solidFill>
                  <a:srgbClr val="F8FAFC"/>
                </a:solidFill>
                <a:latin typeface="Calibri" pitchFamily="34" charset="0"/>
                <a:ea typeface="Calibri" pitchFamily="34" charset="-122"/>
                <a:cs typeface="Calibri" pitchFamily="34" charset="-120"/>
              </a:rPr>
              <a:t>Grantovi i prihod od podataka</a:t>
            </a:r>
            <a:endParaRPr lang="en-US" sz="1200" dirty="0"/>
          </a:p>
        </p:txBody>
      </p:sp>
      <p:sp>
        <p:nvSpPr>
          <p:cNvPr id="16" name="Text 11"/>
          <p:cNvSpPr/>
          <p:nvPr/>
        </p:nvSpPr>
        <p:spPr>
          <a:xfrm>
            <a:off x="4791456" y="2468880"/>
            <a:ext cx="1636776" cy="2100000"/>
          </a:xfrm>
          <a:prstGeom prst="rect">
            <a:avLst/>
          </a:prstGeom>
          <a:noFill/>
          <a:ln/>
        </p:spPr>
        <p:txBody>
          <a:bodyPr wrap="square" lIns="0" tIns="0" rIns="0" bIns="0" rtlCol="0" anchor="t"/>
          <a:lstStyle/>
          <a:p>
            <a:pPr marL="0" indent="0">
              <a:buNone/>
            </a:pPr>
            <a:r>
              <a:rPr lang="en-US" sz="1050" dirty="0">
                <a:solidFill>
                  <a:srgbClr val="94A3B8"/>
                </a:solidFill>
                <a:latin typeface="Calibri" pitchFamily="34" charset="0"/>
                <a:ea typeface="Calibri" pitchFamily="34" charset="-122"/>
                <a:cs typeface="Calibri" pitchFamily="34" charset="-120"/>
              </a:rPr>
              <a:t>Dokumentovana infrastruktura otvara vrata za UEFA HatTrick i FIFA Forward grantove. Event podaci 1. CFL postaju imovina — Sportradar i Genius Sports plaćaju ligama za pravo prikupljanja. Crna Gora trenutno nema šta da ponudi. Sa ovim sistemom — ima.</a:t>
            </a:r>
            <a:endParaRPr lang="en-US" sz="1050" dirty="0"/>
          </a:p>
        </p:txBody>
      </p:sp>
      <p:sp>
        <p:nvSpPr>
          <p:cNvPr id="17" name="Shape 12"/>
          <p:cNvSpPr/>
          <p:nvPr/>
        </p:nvSpPr>
        <p:spPr>
          <a:xfrm>
            <a:off x="6711696" y="1554480"/>
            <a:ext cx="1965960" cy="3050000"/>
          </a:xfrm>
          <a:prstGeom prst="rect">
            <a:avLst/>
          </a:prstGeom>
          <a:solidFill>
            <a:srgbClr val="141B2E"/>
          </a:solidFill>
          <a:ln w="12700">
            <a:solidFill>
              <a:srgbClr val="243049"/>
            </a:solidFill>
            <a:prstDash val="solid"/>
          </a:ln>
        </p:spPr>
        <p:txBody>
          <a:bodyPr/>
          <a:lstStyle/>
          <a:p>
            <a:endParaRPr/>
          </a:p>
        </p:txBody>
      </p:sp>
      <p:pic>
        <p:nvPicPr>
          <p:cNvPr id="18" name="Image 3" descr="preencoded.png"/>
          <p:cNvPicPr>
            <a:picLocks noChangeAspect="1"/>
          </p:cNvPicPr>
          <p:nvPr/>
        </p:nvPicPr>
        <p:blipFill>
          <a:blip r:embed="rId6"/>
          <a:stretch>
            <a:fillRect/>
          </a:stretch>
        </p:blipFill>
        <p:spPr>
          <a:xfrm>
            <a:off x="6876288" y="1719072"/>
            <a:ext cx="292608" cy="292608"/>
          </a:xfrm>
          <a:prstGeom prst="rect">
            <a:avLst/>
          </a:prstGeom>
        </p:spPr>
      </p:pic>
      <p:sp>
        <p:nvSpPr>
          <p:cNvPr id="19" name="Text 13"/>
          <p:cNvSpPr/>
          <p:nvPr/>
        </p:nvSpPr>
        <p:spPr>
          <a:xfrm>
            <a:off x="6876288" y="2057400"/>
            <a:ext cx="1636776" cy="411480"/>
          </a:xfrm>
          <a:prstGeom prst="rect">
            <a:avLst/>
          </a:prstGeom>
          <a:noFill/>
          <a:ln/>
        </p:spPr>
        <p:txBody>
          <a:bodyPr wrap="square" lIns="0" tIns="0" rIns="0" bIns="0" rtlCol="0" anchor="t"/>
          <a:lstStyle/>
          <a:p>
            <a:pPr marL="0" indent="0">
              <a:buNone/>
            </a:pPr>
            <a:r>
              <a:rPr lang="en-US" sz="1200" b="1" dirty="0">
                <a:solidFill>
                  <a:srgbClr val="F8FAFC"/>
                </a:solidFill>
                <a:latin typeface="Calibri" pitchFamily="34" charset="0"/>
                <a:ea typeface="Calibri" pitchFamily="34" charset="-122"/>
                <a:cs typeface="Calibri" pitchFamily="34" charset="-120"/>
              </a:rPr>
              <a:t>Liga koja izgleda profesionalno</a:t>
            </a:r>
            <a:endParaRPr lang="en-US" sz="1200" dirty="0"/>
          </a:p>
        </p:txBody>
      </p:sp>
      <p:sp>
        <p:nvSpPr>
          <p:cNvPr id="20" name="Text 14"/>
          <p:cNvSpPr/>
          <p:nvPr/>
        </p:nvSpPr>
        <p:spPr>
          <a:xfrm>
            <a:off x="6876288" y="2468880"/>
            <a:ext cx="1636776" cy="2100000"/>
          </a:xfrm>
          <a:prstGeom prst="rect">
            <a:avLst/>
          </a:prstGeom>
          <a:noFill/>
          <a:ln/>
        </p:spPr>
        <p:txBody>
          <a:bodyPr wrap="square" lIns="0" tIns="0" rIns="0" bIns="0" rtlCol="0" anchor="t"/>
          <a:lstStyle/>
          <a:p>
            <a:pPr marL="0" indent="0">
              <a:buNone/>
            </a:pPr>
            <a:r>
              <a:rPr lang="en-US" sz="1050" dirty="0">
                <a:solidFill>
                  <a:srgbClr val="94A3B8"/>
                </a:solidFill>
                <a:latin typeface="Calibri" pitchFamily="34" charset="0"/>
                <a:ea typeface="Calibri" pitchFamily="34" charset="-122"/>
                <a:cs typeface="Calibri" pitchFamily="34" charset="-120"/>
              </a:rPr>
              <a:t>TV grafike, profili igrača, sedmični izvještaji za svaki klub. Navijači, mediji i međunarodni partneri vide modernu, organizovanu ligu. Ono što se danas plaća trećim stranama postaje vlasništvo FSCG.</a:t>
            </a:r>
            <a:endParaRPr lang="en-US" sz="1050" dirty="0"/>
          </a:p>
        </p:txBody>
      </p:sp>
      <p:sp>
        <p:nvSpPr>
          <p:cNvPr id="33" name="Text 24"/>
          <p:cNvSpPr/>
          <p:nvPr/>
        </p:nvSpPr>
        <p:spPr>
          <a:xfrm>
            <a:off x="457200" y="4777740"/>
            <a:ext cx="5486400" cy="274320"/>
          </a:xfrm>
          <a:prstGeom prst="rect">
            <a:avLst/>
          </a:prstGeom>
          <a:noFill/>
          <a:ln/>
        </p:spPr>
        <p:txBody>
          <a:bodyPr wrap="square" lIns="0" tIns="0" rIns="0" bIns="0" rtlCol="0" anchor="ctr"/>
          <a:lstStyle/>
          <a:p>
            <a:pPr marL="0" indent="0">
              <a:buNone/>
            </a:pPr>
            <a:r>
              <a:rPr lang="en-US" sz="800" b="1" kern="0" spc="300" dirty="0">
                <a:solidFill>
                  <a:srgbClr val="64748B"/>
                </a:solidFill>
                <a:latin typeface="Calibri" pitchFamily="34" charset="0"/>
                <a:ea typeface="Calibri" pitchFamily="34" charset="-122"/>
                <a:cs typeface="Calibri" pitchFamily="34" charset="-120"/>
              </a:rPr>
              <a:t>ANALITIKA PODATAKA ZA CRNOGORSKI FUDBAL</a:t>
            </a:r>
            <a:endParaRPr lang="en-US" sz="800" dirty="0"/>
          </a:p>
        </p:txBody>
      </p:sp>
      <p:sp>
        <p:nvSpPr>
          <p:cNvPr id="34" name="Text 25"/>
          <p:cNvSpPr/>
          <p:nvPr/>
        </p:nvSpPr>
        <p:spPr>
          <a:xfrm>
            <a:off x="7955280" y="4777740"/>
            <a:ext cx="9144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08 / 21</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0F1C"/>
        </a:solidFill>
        <a:effectLst/>
      </p:bgPr>
    </p:bg>
    <p:spTree>
      <p:nvGrpSpPr>
        <p:cNvPr id="1" name=""/>
        <p:cNvGrpSpPr/>
        <p:nvPr/>
      </p:nvGrpSpPr>
      <p:grpSpPr>
        <a:xfrm>
          <a:off x="0" y="0"/>
          <a:ext cx="0" cy="0"/>
          <a:chOff x="0" y="0"/>
          <a:chExt cx="0" cy="0"/>
        </a:xfrm>
      </p:grpSpPr>
      <p:sp>
        <p:nvSpPr>
          <p:cNvPr id="2" name="Shape 0"/>
          <p:cNvSpPr/>
          <p:nvPr/>
        </p:nvSpPr>
        <p:spPr>
          <a:xfrm>
            <a:off x="457200" y="411480"/>
            <a:ext cx="164592" cy="164592"/>
          </a:xfrm>
          <a:prstGeom prst="rect">
            <a:avLst/>
          </a:prstGeom>
          <a:solidFill>
            <a:srgbClr val="22C55E"/>
          </a:solidFill>
          <a:ln w="12700">
            <a:solidFill>
              <a:srgbClr val="22C55E"/>
            </a:solidFill>
            <a:prstDash val="solid"/>
          </a:ln>
        </p:spPr>
        <p:txBody>
          <a:bodyPr/>
          <a:lstStyle/>
          <a:p>
            <a:endParaRPr/>
          </a:p>
        </p:txBody>
      </p:sp>
      <p:sp>
        <p:nvSpPr>
          <p:cNvPr id="3" name="Text 1"/>
          <p:cNvSpPr/>
          <p:nvPr/>
        </p:nvSpPr>
        <p:spPr>
          <a:xfrm>
            <a:off x="749808" y="384048"/>
            <a:ext cx="7315200" cy="228600"/>
          </a:xfrm>
          <a:prstGeom prst="rect">
            <a:avLst/>
          </a:prstGeom>
          <a:noFill/>
          <a:ln/>
        </p:spPr>
        <p:txBody>
          <a:bodyPr wrap="square" lIns="0" tIns="0" rIns="0" bIns="0" rtlCol="0" anchor="ctr"/>
          <a:lstStyle/>
          <a:p>
            <a:pPr marL="0" indent="0">
              <a:buNone/>
            </a:pPr>
            <a:r>
              <a:rPr lang="en-US" sz="1000" b="1" kern="0" spc="400" dirty="0">
                <a:solidFill>
                  <a:srgbClr val="22C55E"/>
                </a:solidFill>
                <a:latin typeface="Calibri" pitchFamily="34" charset="0"/>
                <a:ea typeface="Calibri" pitchFamily="34" charset="-122"/>
                <a:cs typeface="Calibri" pitchFamily="34" charset="-120"/>
              </a:rPr>
              <a:t>VIDLJIVOST JE VRIJEDNOST</a:t>
            </a:r>
            <a:endParaRPr lang="en-US" sz="1000" dirty="0"/>
          </a:p>
        </p:txBody>
      </p:sp>
      <p:sp>
        <p:nvSpPr>
          <p:cNvPr id="4" name="Text 2"/>
          <p:cNvSpPr/>
          <p:nvPr/>
        </p:nvSpPr>
        <p:spPr>
          <a:xfrm>
            <a:off x="457200" y="685800"/>
            <a:ext cx="8229600" cy="640080"/>
          </a:xfrm>
          <a:prstGeom prst="rect">
            <a:avLst/>
          </a:prstGeom>
          <a:noFill/>
          <a:ln/>
        </p:spPr>
        <p:txBody>
          <a:bodyPr wrap="square" lIns="0" tIns="0" rIns="0" bIns="0" rtlCol="0" anchor="ctr"/>
          <a:lstStyle/>
          <a:p>
            <a:pPr marL="0" indent="0">
              <a:buNone/>
            </a:pPr>
            <a:r>
              <a:rPr lang="en-US" sz="2600" b="1" dirty="0">
                <a:solidFill>
                  <a:srgbClr val="F8FAFC"/>
                </a:solidFill>
                <a:latin typeface="Calibri" pitchFamily="34" charset="0"/>
                <a:ea typeface="Calibri" pitchFamily="34" charset="-122"/>
                <a:cs typeface="Calibri" pitchFamily="34" charset="-120"/>
              </a:rPr>
              <a:t>Ako skaut ne može pronaći, kao da ne postoji</a:t>
            </a:r>
            <a:endParaRPr lang="en-US" sz="2600" dirty="0"/>
          </a:p>
        </p:txBody>
      </p:sp>
      <p:sp>
        <p:nvSpPr>
          <p:cNvPr id="5" name="Shape 3"/>
          <p:cNvSpPr/>
          <p:nvPr/>
        </p:nvSpPr>
        <p:spPr>
          <a:xfrm>
            <a:off x="457200" y="1554480"/>
            <a:ext cx="4937760" cy="685800"/>
          </a:xfrm>
          <a:prstGeom prst="rect">
            <a:avLst/>
          </a:prstGeom>
          <a:solidFill>
            <a:srgbClr val="141B2E"/>
          </a:solidFill>
          <a:ln w="19050">
            <a:solidFill>
              <a:srgbClr val="22C55E"/>
            </a:solidFill>
            <a:prstDash val="solid"/>
          </a:ln>
        </p:spPr>
        <p:txBody>
          <a:bodyPr/>
          <a:lstStyle/>
          <a:p>
            <a:endParaRPr/>
          </a:p>
        </p:txBody>
      </p:sp>
      <p:sp>
        <p:nvSpPr>
          <p:cNvPr id="6" name="Text 4"/>
          <p:cNvSpPr/>
          <p:nvPr/>
        </p:nvSpPr>
        <p:spPr>
          <a:xfrm>
            <a:off x="640080" y="1627632"/>
            <a:ext cx="4572000" cy="219456"/>
          </a:xfrm>
          <a:prstGeom prst="rect">
            <a:avLst/>
          </a:prstGeom>
          <a:noFill/>
          <a:ln/>
        </p:spPr>
        <p:txBody>
          <a:bodyPr wrap="square" lIns="0" tIns="0" rIns="0" bIns="0" rtlCol="0" anchor="ctr"/>
          <a:lstStyle/>
          <a:p>
            <a:pPr marL="0" indent="0">
              <a:buNone/>
            </a:pPr>
            <a:r>
              <a:rPr lang="en-US" sz="900" b="1" kern="0" spc="200" dirty="0">
                <a:solidFill>
                  <a:srgbClr val="22C55E"/>
                </a:solidFill>
                <a:latin typeface="Calibri" pitchFamily="34" charset="0"/>
                <a:ea typeface="Calibri" pitchFamily="34" charset="-122"/>
                <a:cs typeface="Calibri" pitchFamily="34" charset="-120"/>
              </a:rPr>
              <a:t>UPIT SKAUTA</a:t>
            </a:r>
            <a:endParaRPr lang="en-US" sz="900" dirty="0"/>
          </a:p>
        </p:txBody>
      </p:sp>
      <p:sp>
        <p:nvSpPr>
          <p:cNvPr id="7" name="Text 5"/>
          <p:cNvSpPr/>
          <p:nvPr/>
        </p:nvSpPr>
        <p:spPr>
          <a:xfrm>
            <a:off x="571502" y="1869948"/>
            <a:ext cx="4764676" cy="320040"/>
          </a:xfrm>
          <a:prstGeom prst="rect">
            <a:avLst/>
          </a:prstGeom>
          <a:noFill/>
          <a:ln/>
        </p:spPr>
        <p:txBody>
          <a:bodyPr wrap="square" lIns="0" tIns="0" rIns="0" bIns="0" rtlCol="0" anchor="t"/>
          <a:lstStyle/>
          <a:p>
            <a:pPr marL="0" indent="0">
              <a:buNone/>
            </a:pPr>
            <a:r>
              <a:rPr lang="en-US" sz="1100" dirty="0">
                <a:solidFill>
                  <a:srgbClr val="F8FAFC"/>
                </a:solidFill>
                <a:latin typeface="Calibri" pitchFamily="34" charset="0"/>
                <a:ea typeface="Calibri" pitchFamily="34" charset="-122"/>
                <a:cs typeface="Calibri" pitchFamily="34" charset="-120"/>
              </a:rPr>
              <a:t>“Krilni igrači, </a:t>
            </a:r>
            <a:r>
              <a:rPr lang="en-US" sz="1100" dirty="0" err="1">
                <a:solidFill>
                  <a:srgbClr val="F8FAFC"/>
                </a:solidFill>
                <a:latin typeface="Calibri" pitchFamily="34" charset="0"/>
                <a:ea typeface="Calibri" pitchFamily="34" charset="-122"/>
                <a:cs typeface="Calibri" pitchFamily="34" charset="-120"/>
              </a:rPr>
              <a:t>Balkanske</a:t>
            </a:r>
            <a:r>
              <a:rPr lang="en-US" sz="1100" dirty="0">
                <a:solidFill>
                  <a:srgbClr val="F8FAFC"/>
                </a:solidFill>
                <a:latin typeface="Calibri" pitchFamily="34" charset="0"/>
                <a:ea typeface="Calibri" pitchFamily="34" charset="-122"/>
                <a:cs typeface="Calibri" pitchFamily="34" charset="-120"/>
              </a:rPr>
              <a:t> </a:t>
            </a:r>
            <a:r>
              <a:rPr lang="en-US" sz="1100" dirty="0" err="1">
                <a:solidFill>
                  <a:srgbClr val="F8FAFC"/>
                </a:solidFill>
                <a:latin typeface="Calibri" pitchFamily="34" charset="0"/>
                <a:ea typeface="Calibri" pitchFamily="34" charset="-122"/>
                <a:cs typeface="Calibri" pitchFamily="34" charset="-120"/>
              </a:rPr>
              <a:t>lige</a:t>
            </a:r>
            <a:r>
              <a:rPr lang="en-US" sz="1100" dirty="0">
                <a:solidFill>
                  <a:srgbClr val="F8FAFC"/>
                </a:solidFill>
                <a:latin typeface="Calibri" pitchFamily="34" charset="0"/>
                <a:ea typeface="Calibri" pitchFamily="34" charset="-122"/>
                <a:cs typeface="Calibri" pitchFamily="34" charset="-120"/>
              </a:rPr>
              <a:t>, ispod 23 godine, desnjak, xG preko 0.25 po utakmici"</a:t>
            </a:r>
            <a:endParaRPr lang="en-US" sz="1100" dirty="0"/>
          </a:p>
        </p:txBody>
      </p:sp>
      <p:sp>
        <p:nvSpPr>
          <p:cNvPr id="8" name="Shape 6"/>
          <p:cNvSpPr/>
          <p:nvPr/>
        </p:nvSpPr>
        <p:spPr>
          <a:xfrm>
            <a:off x="822960" y="2331720"/>
            <a:ext cx="4206240" cy="685800"/>
          </a:xfrm>
          <a:prstGeom prst="rect">
            <a:avLst/>
          </a:prstGeom>
          <a:solidFill>
            <a:srgbClr val="141B2E"/>
          </a:solidFill>
          <a:ln w="19050">
            <a:solidFill>
              <a:srgbClr val="22C55E"/>
            </a:solidFill>
            <a:prstDash val="solid"/>
          </a:ln>
        </p:spPr>
        <p:txBody>
          <a:bodyPr/>
          <a:lstStyle/>
          <a:p>
            <a:endParaRPr/>
          </a:p>
        </p:txBody>
      </p:sp>
      <p:sp>
        <p:nvSpPr>
          <p:cNvPr id="9" name="Text 7"/>
          <p:cNvSpPr/>
          <p:nvPr/>
        </p:nvSpPr>
        <p:spPr>
          <a:xfrm>
            <a:off x="1005840" y="2404872"/>
            <a:ext cx="3840480" cy="219456"/>
          </a:xfrm>
          <a:prstGeom prst="rect">
            <a:avLst/>
          </a:prstGeom>
          <a:noFill/>
          <a:ln/>
        </p:spPr>
        <p:txBody>
          <a:bodyPr wrap="square" lIns="0" tIns="0" rIns="0" bIns="0" rtlCol="0" anchor="ctr"/>
          <a:lstStyle/>
          <a:p>
            <a:pPr marL="0" indent="0">
              <a:buNone/>
            </a:pPr>
            <a:r>
              <a:rPr lang="en-US" sz="900" b="1" kern="0" spc="200" dirty="0">
                <a:solidFill>
                  <a:srgbClr val="22C55E"/>
                </a:solidFill>
                <a:latin typeface="Calibri" pitchFamily="34" charset="0"/>
                <a:ea typeface="Calibri" pitchFamily="34" charset="-122"/>
                <a:cs typeface="Calibri" pitchFamily="34" charset="-120"/>
              </a:rPr>
              <a:t>PRIKAZANI REZULTATI</a:t>
            </a:r>
            <a:endParaRPr lang="en-US" sz="900" dirty="0"/>
          </a:p>
        </p:txBody>
      </p:sp>
      <p:sp>
        <p:nvSpPr>
          <p:cNvPr id="10" name="Text 8"/>
          <p:cNvSpPr/>
          <p:nvPr/>
        </p:nvSpPr>
        <p:spPr>
          <a:xfrm>
            <a:off x="1005839" y="2653066"/>
            <a:ext cx="3964577" cy="219456"/>
          </a:xfrm>
          <a:prstGeom prst="rect">
            <a:avLst/>
          </a:prstGeom>
          <a:noFill/>
          <a:ln/>
        </p:spPr>
        <p:txBody>
          <a:bodyPr wrap="square" lIns="0" tIns="0" rIns="0" bIns="0" rtlCol="0" anchor="t"/>
          <a:lstStyle/>
          <a:p>
            <a:pPr marL="0" indent="0">
              <a:buNone/>
            </a:pPr>
            <a:r>
              <a:rPr lang="en-US" sz="1100" dirty="0">
                <a:solidFill>
                  <a:srgbClr val="F8FAFC"/>
                </a:solidFill>
                <a:latin typeface="Calibri" pitchFamily="34" charset="0"/>
                <a:ea typeface="Calibri" pitchFamily="34" charset="-122"/>
                <a:cs typeface="Calibri" pitchFamily="34" charset="-120"/>
              </a:rPr>
              <a:t>Hrvatska · Srbija · Slovenija · Bosna · Albanija · Kosovo · Makedonija</a:t>
            </a:r>
            <a:endParaRPr lang="en-US" sz="1100" dirty="0"/>
          </a:p>
        </p:txBody>
      </p:sp>
      <p:sp>
        <p:nvSpPr>
          <p:cNvPr id="11" name="Shape 9"/>
          <p:cNvSpPr/>
          <p:nvPr/>
        </p:nvSpPr>
        <p:spPr>
          <a:xfrm>
            <a:off x="1463040" y="3108960"/>
            <a:ext cx="2926080" cy="685800"/>
          </a:xfrm>
          <a:prstGeom prst="rect">
            <a:avLst/>
          </a:prstGeom>
          <a:solidFill>
            <a:srgbClr val="141B2E"/>
          </a:solidFill>
          <a:ln w="19050">
            <a:solidFill>
              <a:srgbClr val="EF4444"/>
            </a:solidFill>
            <a:prstDash val="solid"/>
          </a:ln>
        </p:spPr>
        <p:txBody>
          <a:bodyPr/>
          <a:lstStyle/>
          <a:p>
            <a:endParaRPr/>
          </a:p>
        </p:txBody>
      </p:sp>
      <p:sp>
        <p:nvSpPr>
          <p:cNvPr id="12" name="Text 10"/>
          <p:cNvSpPr/>
          <p:nvPr/>
        </p:nvSpPr>
        <p:spPr>
          <a:xfrm>
            <a:off x="1645920" y="3182112"/>
            <a:ext cx="2560320" cy="219456"/>
          </a:xfrm>
          <a:prstGeom prst="rect">
            <a:avLst/>
          </a:prstGeom>
          <a:noFill/>
          <a:ln/>
        </p:spPr>
        <p:txBody>
          <a:bodyPr wrap="square" lIns="0" tIns="0" rIns="0" bIns="0" rtlCol="0" anchor="ctr"/>
          <a:lstStyle/>
          <a:p>
            <a:pPr marL="0" indent="0">
              <a:buNone/>
            </a:pPr>
            <a:r>
              <a:rPr lang="en-US" sz="900" b="1" kern="0" spc="200" dirty="0">
                <a:solidFill>
                  <a:srgbClr val="EF4444"/>
                </a:solidFill>
                <a:latin typeface="Calibri" pitchFamily="34" charset="0"/>
                <a:ea typeface="Calibri" pitchFamily="34" charset="-122"/>
                <a:cs typeface="Calibri" pitchFamily="34" charset="-120"/>
              </a:rPr>
              <a:t>NIJE U SISTEMU</a:t>
            </a:r>
            <a:endParaRPr lang="en-US" sz="900" dirty="0"/>
          </a:p>
        </p:txBody>
      </p:sp>
      <p:sp>
        <p:nvSpPr>
          <p:cNvPr id="13" name="Text 11"/>
          <p:cNvSpPr/>
          <p:nvPr/>
        </p:nvSpPr>
        <p:spPr>
          <a:xfrm>
            <a:off x="1645920" y="3410712"/>
            <a:ext cx="2560320" cy="320040"/>
          </a:xfrm>
          <a:prstGeom prst="rect">
            <a:avLst/>
          </a:prstGeom>
          <a:noFill/>
          <a:ln/>
        </p:spPr>
        <p:txBody>
          <a:bodyPr wrap="square" lIns="0" tIns="0" rIns="0" bIns="0" rtlCol="0" anchor="t"/>
          <a:lstStyle/>
          <a:p>
            <a:pPr marL="0" indent="0">
              <a:buNone/>
            </a:pPr>
            <a:r>
              <a:rPr lang="en-US" sz="1100" dirty="0">
                <a:solidFill>
                  <a:srgbClr val="F8FAFC"/>
                </a:solidFill>
                <a:latin typeface="Calibri" pitchFamily="34" charset="0"/>
                <a:ea typeface="Calibri" pitchFamily="34" charset="-122"/>
                <a:cs typeface="Calibri" pitchFamily="34" charset="-120"/>
              </a:rPr>
              <a:t>Igrači 1. CFL se ne pojavljuju. Skaut nastavlja dalje.</a:t>
            </a:r>
            <a:endParaRPr lang="en-US" sz="1100" dirty="0"/>
          </a:p>
        </p:txBody>
      </p:sp>
      <p:sp>
        <p:nvSpPr>
          <p:cNvPr id="14" name="Text 12"/>
          <p:cNvSpPr/>
          <p:nvPr/>
        </p:nvSpPr>
        <p:spPr>
          <a:xfrm>
            <a:off x="457200" y="3977640"/>
            <a:ext cx="4937760" cy="320040"/>
          </a:xfrm>
          <a:prstGeom prst="rect">
            <a:avLst/>
          </a:prstGeom>
          <a:noFill/>
          <a:ln/>
        </p:spPr>
        <p:txBody>
          <a:bodyPr wrap="square" lIns="0" tIns="0" rIns="0" bIns="0" rtlCol="0" anchor="ctr"/>
          <a:lstStyle/>
          <a:p>
            <a:pPr marL="0" indent="0" algn="ctr">
              <a:buNone/>
            </a:pPr>
            <a:r>
              <a:rPr lang="en-US" sz="1050" i="1" dirty="0">
                <a:solidFill>
                  <a:srgbClr val="94A3B8"/>
                </a:solidFill>
                <a:latin typeface="Calibri" pitchFamily="34" charset="0"/>
                <a:ea typeface="Calibri" pitchFamily="34" charset="-122"/>
                <a:cs typeface="Calibri" pitchFamily="34" charset="-120"/>
              </a:rPr>
              <a:t>Ovako izgleda početak jedne skauting sesije u jednom prosječnom evropskom klubu.</a:t>
            </a:r>
            <a:endParaRPr lang="en-US" sz="1050" dirty="0"/>
          </a:p>
        </p:txBody>
      </p:sp>
      <p:sp>
        <p:nvSpPr>
          <p:cNvPr id="15" name="Shape 13"/>
          <p:cNvSpPr/>
          <p:nvPr/>
        </p:nvSpPr>
        <p:spPr>
          <a:xfrm>
            <a:off x="5623560" y="1554480"/>
            <a:ext cx="3063240" cy="2743200"/>
          </a:xfrm>
          <a:prstGeom prst="rect">
            <a:avLst/>
          </a:prstGeom>
          <a:solidFill>
            <a:srgbClr val="141B2E"/>
          </a:solidFill>
          <a:ln w="25400">
            <a:solidFill>
              <a:srgbClr val="22C55E"/>
            </a:solidFill>
            <a:prstDash val="solid"/>
          </a:ln>
        </p:spPr>
        <p:txBody>
          <a:bodyPr/>
          <a:lstStyle/>
          <a:p>
            <a:endParaRPr/>
          </a:p>
        </p:txBody>
      </p:sp>
      <p:sp>
        <p:nvSpPr>
          <p:cNvPr id="16" name="Text 14"/>
          <p:cNvSpPr/>
          <p:nvPr/>
        </p:nvSpPr>
        <p:spPr>
          <a:xfrm>
            <a:off x="5760720" y="1600200"/>
            <a:ext cx="731520" cy="548640"/>
          </a:xfrm>
          <a:prstGeom prst="rect">
            <a:avLst/>
          </a:prstGeom>
          <a:noFill/>
          <a:ln/>
        </p:spPr>
        <p:txBody>
          <a:bodyPr wrap="square" lIns="0" tIns="0" rIns="0" bIns="0" rtlCol="0" anchor="ctr"/>
          <a:lstStyle/>
          <a:p>
            <a:pPr marL="0" indent="0">
              <a:buNone/>
            </a:pPr>
            <a:r>
              <a:rPr lang="en-US" sz="4800" b="1" dirty="0">
                <a:solidFill>
                  <a:srgbClr val="22C55E"/>
                </a:solidFill>
                <a:latin typeface="Georgia" pitchFamily="34" charset="0"/>
                <a:ea typeface="Georgia" pitchFamily="34" charset="-122"/>
                <a:cs typeface="Georgia" pitchFamily="34" charset="-120"/>
              </a:rPr>
              <a:t>“</a:t>
            </a:r>
            <a:endParaRPr lang="en-US" sz="4800" dirty="0"/>
          </a:p>
        </p:txBody>
      </p:sp>
      <p:sp>
        <p:nvSpPr>
          <p:cNvPr id="17" name="Text 15"/>
          <p:cNvSpPr/>
          <p:nvPr/>
        </p:nvSpPr>
        <p:spPr>
          <a:xfrm>
            <a:off x="5852160" y="2189988"/>
            <a:ext cx="2606040" cy="566928"/>
          </a:xfrm>
          <a:prstGeom prst="rect">
            <a:avLst/>
          </a:prstGeom>
          <a:noFill/>
          <a:ln/>
        </p:spPr>
        <p:txBody>
          <a:bodyPr wrap="square" lIns="0" tIns="0" rIns="0" bIns="0" rtlCol="0" anchor="t"/>
          <a:lstStyle/>
          <a:p>
            <a:pPr marL="0" indent="0">
              <a:buNone/>
            </a:pPr>
            <a:r>
              <a:rPr lang="en-US" sz="1400" i="1" dirty="0" err="1">
                <a:solidFill>
                  <a:srgbClr val="F8FAFC"/>
                </a:solidFill>
                <a:latin typeface="Georgia" pitchFamily="34" charset="0"/>
                <a:ea typeface="Georgia" pitchFamily="34" charset="-122"/>
                <a:cs typeface="Georgia" pitchFamily="34" charset="-120"/>
              </a:rPr>
              <a:t>Osnova</a:t>
            </a:r>
            <a:r>
              <a:rPr lang="en-US" sz="1400" i="1" dirty="0">
                <a:solidFill>
                  <a:srgbClr val="F8FAFC"/>
                </a:solidFill>
                <a:latin typeface="Georgia" pitchFamily="34" charset="0"/>
                <a:ea typeface="Georgia" pitchFamily="34" charset="-122"/>
                <a:cs typeface="Georgia" pitchFamily="34" charset="-120"/>
              </a:rPr>
              <a:t> </a:t>
            </a:r>
            <a:r>
              <a:rPr lang="en-US" sz="1400" i="1" dirty="0" err="1">
                <a:solidFill>
                  <a:srgbClr val="F8FAFC"/>
                </a:solidFill>
                <a:latin typeface="Georgia" pitchFamily="34" charset="0"/>
                <a:ea typeface="Georgia" pitchFamily="34" charset="-122"/>
                <a:cs typeface="Georgia" pitchFamily="34" charset="-120"/>
              </a:rPr>
              <a:t>njegovih</a:t>
            </a:r>
            <a:r>
              <a:rPr lang="en-US" sz="1400" i="1" dirty="0">
                <a:solidFill>
                  <a:srgbClr val="F8FAFC"/>
                </a:solidFill>
                <a:latin typeface="Georgia" pitchFamily="34" charset="0"/>
                <a:ea typeface="Georgia" pitchFamily="34" charset="-122"/>
                <a:cs typeface="Georgia" pitchFamily="34" charset="-120"/>
              </a:rPr>
              <a:t> </a:t>
            </a:r>
            <a:r>
              <a:rPr lang="en-US" sz="1400" i="1" dirty="0" err="1">
                <a:solidFill>
                  <a:srgbClr val="F8FAFC"/>
                </a:solidFill>
                <a:latin typeface="Georgia" pitchFamily="34" charset="0"/>
                <a:ea typeface="Georgia" pitchFamily="34" charset="-122"/>
                <a:cs typeface="Georgia" pitchFamily="34" charset="-120"/>
              </a:rPr>
              <a:t>metoda</a:t>
            </a:r>
            <a:r>
              <a:rPr lang="en-US" sz="1400" i="1" dirty="0">
                <a:solidFill>
                  <a:srgbClr val="F8FAFC"/>
                </a:solidFill>
                <a:latin typeface="Georgia" pitchFamily="34" charset="0"/>
                <a:ea typeface="Georgia" pitchFamily="34" charset="-122"/>
                <a:cs typeface="Georgia" pitchFamily="34" charset="-120"/>
              </a:rPr>
              <a:t> je video i analiza podataka.</a:t>
            </a:r>
            <a:endParaRPr lang="en-US" sz="1400" dirty="0"/>
          </a:p>
        </p:txBody>
      </p:sp>
      <p:sp>
        <p:nvSpPr>
          <p:cNvPr id="18" name="Shape 16"/>
          <p:cNvSpPr/>
          <p:nvPr/>
        </p:nvSpPr>
        <p:spPr>
          <a:xfrm>
            <a:off x="5852160" y="2756916"/>
            <a:ext cx="457200" cy="0"/>
          </a:xfrm>
          <a:prstGeom prst="line">
            <a:avLst/>
          </a:prstGeom>
          <a:noFill/>
          <a:ln w="19050">
            <a:solidFill>
              <a:srgbClr val="22C55E"/>
            </a:solidFill>
            <a:prstDash val="solid"/>
          </a:ln>
        </p:spPr>
        <p:txBody>
          <a:bodyPr/>
          <a:lstStyle/>
          <a:p>
            <a:endParaRPr lang="en-US" dirty="0"/>
          </a:p>
        </p:txBody>
      </p:sp>
      <p:sp>
        <p:nvSpPr>
          <p:cNvPr id="19" name="Text 17"/>
          <p:cNvSpPr/>
          <p:nvPr/>
        </p:nvSpPr>
        <p:spPr>
          <a:xfrm>
            <a:off x="5852160" y="2872521"/>
            <a:ext cx="2606040" cy="1340247"/>
          </a:xfrm>
          <a:prstGeom prst="rect">
            <a:avLst/>
          </a:prstGeom>
          <a:noFill/>
          <a:ln/>
        </p:spPr>
        <p:txBody>
          <a:bodyPr wrap="square" lIns="0" tIns="0" rIns="0" bIns="0" rtlCol="0" anchor="t"/>
          <a:lstStyle/>
          <a:p>
            <a:r>
              <a:rPr lang="en-US" sz="1050" dirty="0">
                <a:solidFill>
                  <a:srgbClr val="94A3B8"/>
                </a:solidFill>
                <a:latin typeface="Calibri" pitchFamily="34" charset="0"/>
                <a:ea typeface="Calibri" pitchFamily="34" charset="-122"/>
                <a:cs typeface="Calibri" pitchFamily="34" charset="-120"/>
              </a:rPr>
              <a:t>Corriere dello Sport o Mauriziju Mikeliju — Napolijev skaut koji je doveo Kvaratsheliu iz gruzijske lige za 13 miliona eura. Napoli ga je prodao PSG-u za 80 miliona eura tri godine kasnije. Arsenal je angažovao Mikelija da vodi njihov odjel za transfere krajem 2025. Mikeli kaže da je nasao Kvaratsheliu ovakvim upitom.</a:t>
            </a:r>
            <a:endParaRPr lang="en-US" sz="1050" dirty="0"/>
          </a:p>
        </p:txBody>
      </p:sp>
      <p:sp>
        <p:nvSpPr>
          <p:cNvPr id="20" name="Text 18"/>
          <p:cNvSpPr/>
          <p:nvPr/>
        </p:nvSpPr>
        <p:spPr>
          <a:xfrm>
            <a:off x="457200" y="4434840"/>
            <a:ext cx="8229600" cy="274320"/>
          </a:xfrm>
          <a:prstGeom prst="rect">
            <a:avLst/>
          </a:prstGeom>
          <a:noFill/>
          <a:ln/>
        </p:spPr>
        <p:txBody>
          <a:bodyPr wrap="square" lIns="0" tIns="0" rIns="0" bIns="0" rtlCol="0" anchor="ctr"/>
          <a:lstStyle/>
          <a:p>
            <a:pPr marL="0" indent="0" algn="ctr">
              <a:buNone/>
            </a:pPr>
            <a:r>
              <a:rPr lang="en-US" sz="1100" b="1" i="1" dirty="0">
                <a:solidFill>
                  <a:srgbClr val="22C55E"/>
                </a:solidFill>
                <a:latin typeface="Calibri" pitchFamily="34" charset="0"/>
                <a:ea typeface="Calibri" pitchFamily="34" charset="-122"/>
                <a:cs typeface="Calibri" pitchFamily="34" charset="-120"/>
              </a:rPr>
              <a:t>Ono što su podaci uradili jeste da su osigurali da ga neko pronađe na vrijeme.</a:t>
            </a:r>
            <a:endParaRPr lang="en-US" sz="1100" dirty="0"/>
          </a:p>
        </p:txBody>
      </p:sp>
      <p:sp>
        <p:nvSpPr>
          <p:cNvPr id="21" name="Text 19"/>
          <p:cNvSpPr/>
          <p:nvPr/>
        </p:nvSpPr>
        <p:spPr>
          <a:xfrm>
            <a:off x="457200" y="4777740"/>
            <a:ext cx="5486400" cy="274320"/>
          </a:xfrm>
          <a:prstGeom prst="rect">
            <a:avLst/>
          </a:prstGeom>
          <a:noFill/>
          <a:ln/>
        </p:spPr>
        <p:txBody>
          <a:bodyPr wrap="square" lIns="0" tIns="0" rIns="0" bIns="0" rtlCol="0" anchor="ctr"/>
          <a:lstStyle/>
          <a:p>
            <a:pPr marL="0" indent="0">
              <a:buNone/>
            </a:pPr>
            <a:r>
              <a:rPr lang="en-US" sz="800" b="1" kern="0" spc="300" dirty="0">
                <a:solidFill>
                  <a:srgbClr val="64748B"/>
                </a:solidFill>
                <a:latin typeface="Calibri" pitchFamily="34" charset="0"/>
                <a:ea typeface="Calibri" pitchFamily="34" charset="-122"/>
                <a:cs typeface="Calibri" pitchFamily="34" charset="-120"/>
              </a:rPr>
              <a:t>ANALITIKA PODATAKA ZA CRNOGORSKI FUDBAL</a:t>
            </a:r>
            <a:endParaRPr lang="en-US" sz="800" dirty="0"/>
          </a:p>
        </p:txBody>
      </p:sp>
      <p:sp>
        <p:nvSpPr>
          <p:cNvPr id="22" name="Text 20"/>
          <p:cNvSpPr/>
          <p:nvPr/>
        </p:nvSpPr>
        <p:spPr>
          <a:xfrm>
            <a:off x="7955280" y="4777740"/>
            <a:ext cx="9144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09 / 21</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0F1C"/>
        </a:solidFill>
        <a:effectLst/>
      </p:bgPr>
    </p:bg>
    <p:spTree>
      <p:nvGrpSpPr>
        <p:cNvPr id="1" name=""/>
        <p:cNvGrpSpPr/>
        <p:nvPr/>
      </p:nvGrpSpPr>
      <p:grpSpPr>
        <a:xfrm>
          <a:off x="0" y="0"/>
          <a:ext cx="0" cy="0"/>
          <a:chOff x="0" y="0"/>
          <a:chExt cx="0" cy="0"/>
        </a:xfrm>
      </p:grpSpPr>
      <p:sp>
        <p:nvSpPr>
          <p:cNvPr id="2" name="Shape 0"/>
          <p:cNvSpPr/>
          <p:nvPr/>
        </p:nvSpPr>
        <p:spPr>
          <a:xfrm>
            <a:off x="457200" y="411480"/>
            <a:ext cx="164592" cy="164592"/>
          </a:xfrm>
          <a:prstGeom prst="rect">
            <a:avLst/>
          </a:prstGeom>
          <a:solidFill>
            <a:srgbClr val="22C55E"/>
          </a:solidFill>
          <a:ln w="12700">
            <a:solidFill>
              <a:srgbClr val="22C55E"/>
            </a:solidFill>
            <a:prstDash val="solid"/>
          </a:ln>
        </p:spPr>
        <p:txBody>
          <a:bodyPr/>
          <a:lstStyle/>
          <a:p>
            <a:endParaRPr/>
          </a:p>
        </p:txBody>
      </p:sp>
      <p:sp>
        <p:nvSpPr>
          <p:cNvPr id="3" name="Text 1"/>
          <p:cNvSpPr/>
          <p:nvPr/>
        </p:nvSpPr>
        <p:spPr>
          <a:xfrm>
            <a:off x="749808" y="384048"/>
            <a:ext cx="7315200" cy="228600"/>
          </a:xfrm>
          <a:prstGeom prst="rect">
            <a:avLst/>
          </a:prstGeom>
          <a:noFill/>
          <a:ln/>
        </p:spPr>
        <p:txBody>
          <a:bodyPr wrap="square" lIns="0" tIns="0" rIns="0" bIns="0" rtlCol="0" anchor="ctr"/>
          <a:lstStyle/>
          <a:p>
            <a:pPr marL="0" indent="0">
              <a:buNone/>
            </a:pPr>
            <a:r>
              <a:rPr lang="en-US" sz="1000" b="1" kern="0" spc="400" dirty="0">
                <a:solidFill>
                  <a:srgbClr val="22C55E"/>
                </a:solidFill>
                <a:latin typeface="Calibri" pitchFamily="34" charset="0"/>
                <a:ea typeface="Calibri" pitchFamily="34" charset="-122"/>
                <a:cs typeface="Calibri" pitchFamily="34" charset="-120"/>
              </a:rPr>
              <a:t>EKONOMIJA</a:t>
            </a:r>
            <a:endParaRPr lang="en-US" sz="1000" dirty="0"/>
          </a:p>
        </p:txBody>
      </p:sp>
      <p:sp>
        <p:nvSpPr>
          <p:cNvPr id="4" name="Text 2"/>
          <p:cNvSpPr/>
          <p:nvPr/>
        </p:nvSpPr>
        <p:spPr>
          <a:xfrm>
            <a:off x="457200" y="685800"/>
            <a:ext cx="8229600" cy="640080"/>
          </a:xfrm>
          <a:prstGeom prst="rect">
            <a:avLst/>
          </a:prstGeom>
          <a:noFill/>
          <a:ln/>
        </p:spPr>
        <p:txBody>
          <a:bodyPr wrap="square" lIns="0" tIns="0" rIns="0" bIns="0" rtlCol="0" anchor="ctr"/>
          <a:lstStyle/>
          <a:p>
            <a:pPr marL="0" indent="0">
              <a:buNone/>
            </a:pPr>
            <a:r>
              <a:rPr lang="en-US" sz="2600" b="1" dirty="0">
                <a:solidFill>
                  <a:srgbClr val="F8FAFC"/>
                </a:solidFill>
                <a:latin typeface="Calibri" pitchFamily="34" charset="0"/>
                <a:ea typeface="Calibri" pitchFamily="34" charset="-122"/>
                <a:cs typeface="Calibri" pitchFamily="34" charset="-120"/>
              </a:rPr>
              <a:t>Danas </a:t>
            </a:r>
            <a:r>
              <a:rPr lang="en-US" sz="2600" b="1" dirty="0" err="1">
                <a:solidFill>
                  <a:srgbClr val="F8FAFC"/>
                </a:solidFill>
                <a:latin typeface="Calibri" pitchFamily="34" charset="0"/>
                <a:ea typeface="Calibri" pitchFamily="34" charset="-122"/>
                <a:cs typeface="Calibri" pitchFamily="34" charset="-120"/>
              </a:rPr>
              <a:t>podaci</a:t>
            </a:r>
            <a:r>
              <a:rPr lang="en-US" sz="2600" b="1" dirty="0">
                <a:solidFill>
                  <a:srgbClr val="F8FAFC"/>
                </a:solidFill>
                <a:latin typeface="Calibri" pitchFamily="34" charset="0"/>
                <a:ea typeface="Calibri" pitchFamily="34" charset="-122"/>
                <a:cs typeface="Calibri" pitchFamily="34" charset="-120"/>
              </a:rPr>
              <a:t> više nisu trošak. Oni su izvor prihoda.</a:t>
            </a:r>
            <a:endParaRPr lang="en-US" sz="2600" dirty="0"/>
          </a:p>
        </p:txBody>
      </p:sp>
      <p:sp>
        <p:nvSpPr>
          <p:cNvPr id="5" name="Shape 3"/>
          <p:cNvSpPr/>
          <p:nvPr/>
        </p:nvSpPr>
        <p:spPr>
          <a:xfrm>
            <a:off x="457200" y="1554480"/>
            <a:ext cx="8229600" cy="868680"/>
          </a:xfrm>
          <a:prstGeom prst="rect">
            <a:avLst/>
          </a:prstGeom>
          <a:solidFill>
            <a:srgbClr val="141B2E"/>
          </a:solidFill>
          <a:ln w="25400">
            <a:solidFill>
              <a:srgbClr val="22C55E"/>
            </a:solidFill>
            <a:prstDash val="solid"/>
          </a:ln>
        </p:spPr>
        <p:txBody>
          <a:bodyPr/>
          <a:lstStyle/>
          <a:p>
            <a:endParaRPr/>
          </a:p>
        </p:txBody>
      </p:sp>
      <p:sp>
        <p:nvSpPr>
          <p:cNvPr id="6" name="Text 4"/>
          <p:cNvSpPr/>
          <p:nvPr/>
        </p:nvSpPr>
        <p:spPr>
          <a:xfrm>
            <a:off x="731520" y="1645920"/>
            <a:ext cx="7680960" cy="685800"/>
          </a:xfrm>
          <a:prstGeom prst="rect">
            <a:avLst/>
          </a:prstGeom>
          <a:noFill/>
          <a:ln/>
        </p:spPr>
        <p:txBody>
          <a:bodyPr wrap="square" lIns="0" tIns="0" rIns="0" bIns="0" rtlCol="0" anchor="ctr"/>
          <a:lstStyle/>
          <a:p>
            <a:pPr marL="0" indent="0" algn="ctr">
              <a:buNone/>
            </a:pPr>
            <a:r>
              <a:rPr lang="en-US" sz="1400" i="1" dirty="0">
                <a:solidFill>
                  <a:srgbClr val="94A3B8"/>
                </a:solidFill>
                <a:latin typeface="Calibri" pitchFamily="34" charset="0"/>
                <a:ea typeface="Calibri" pitchFamily="34" charset="-122"/>
                <a:cs typeface="Calibri" pitchFamily="34" charset="-120"/>
              </a:rPr>
              <a:t>1996. godine, federacije su plaćale kompanijama da prikupljaju podatke sa utakmica.</a:t>
            </a:r>
            <a:endParaRPr lang="en-US" sz="1400" dirty="0"/>
          </a:p>
          <a:p>
            <a:pPr marL="0" indent="0" algn="ctr">
              <a:buNone/>
            </a:pPr>
            <a:r>
              <a:rPr lang="en-US" sz="1400" b="1" i="1" dirty="0">
                <a:solidFill>
                  <a:srgbClr val="F8FAFC"/>
                </a:solidFill>
                <a:latin typeface="Calibri" pitchFamily="34" charset="0"/>
                <a:ea typeface="Calibri" pitchFamily="34" charset="-122"/>
                <a:cs typeface="Calibri" pitchFamily="34" charset="-120"/>
              </a:rPr>
              <a:t>Danas, kompanije plaćaju federacijama za pravo da ih prikupljaju.</a:t>
            </a:r>
            <a:endParaRPr lang="en-US" sz="1400" dirty="0"/>
          </a:p>
        </p:txBody>
      </p:sp>
      <p:sp>
        <p:nvSpPr>
          <p:cNvPr id="7" name="Shape 5"/>
          <p:cNvSpPr/>
          <p:nvPr/>
        </p:nvSpPr>
        <p:spPr>
          <a:xfrm>
            <a:off x="434340" y="2606040"/>
            <a:ext cx="2697480" cy="1783080"/>
          </a:xfrm>
          <a:prstGeom prst="rect">
            <a:avLst/>
          </a:prstGeom>
          <a:solidFill>
            <a:srgbClr val="141B2E"/>
          </a:solidFill>
          <a:ln w="12700">
            <a:solidFill>
              <a:srgbClr val="243049"/>
            </a:solidFill>
            <a:prstDash val="solid"/>
          </a:ln>
        </p:spPr>
        <p:txBody>
          <a:bodyPr/>
          <a:lstStyle/>
          <a:p>
            <a:endParaRPr/>
          </a:p>
        </p:txBody>
      </p:sp>
      <p:sp>
        <p:nvSpPr>
          <p:cNvPr id="8" name="Shape 6"/>
          <p:cNvSpPr/>
          <p:nvPr/>
        </p:nvSpPr>
        <p:spPr>
          <a:xfrm>
            <a:off x="434340" y="2606040"/>
            <a:ext cx="2697480" cy="54864"/>
          </a:xfrm>
          <a:prstGeom prst="rect">
            <a:avLst/>
          </a:prstGeom>
          <a:solidFill>
            <a:srgbClr val="22C55E"/>
          </a:solidFill>
          <a:ln w="12700">
            <a:solidFill>
              <a:srgbClr val="22C55E"/>
            </a:solidFill>
            <a:prstDash val="solid"/>
          </a:ln>
        </p:spPr>
        <p:txBody>
          <a:bodyPr/>
          <a:lstStyle/>
          <a:p>
            <a:endParaRPr/>
          </a:p>
        </p:txBody>
      </p:sp>
      <p:sp>
        <p:nvSpPr>
          <p:cNvPr id="9" name="Text 7"/>
          <p:cNvSpPr/>
          <p:nvPr/>
        </p:nvSpPr>
        <p:spPr>
          <a:xfrm>
            <a:off x="617220" y="2788920"/>
            <a:ext cx="2331720" cy="256032"/>
          </a:xfrm>
          <a:prstGeom prst="rect">
            <a:avLst/>
          </a:prstGeom>
          <a:noFill/>
          <a:ln/>
        </p:spPr>
        <p:txBody>
          <a:bodyPr wrap="square" lIns="0" tIns="0" rIns="0" bIns="0" rtlCol="0" anchor="ctr"/>
          <a:lstStyle/>
          <a:p>
            <a:pPr marL="0" indent="0">
              <a:buNone/>
            </a:pPr>
            <a:r>
              <a:rPr lang="en-US" sz="1000" b="1" kern="0" spc="300" dirty="0">
                <a:solidFill>
                  <a:srgbClr val="22C55E"/>
                </a:solidFill>
                <a:latin typeface="Calibri" pitchFamily="34" charset="0"/>
                <a:ea typeface="Calibri" pitchFamily="34" charset="-122"/>
                <a:cs typeface="Calibri" pitchFamily="34" charset="-120"/>
              </a:rPr>
              <a:t>SPORTRADAR</a:t>
            </a:r>
            <a:endParaRPr lang="en-US" sz="1000" dirty="0"/>
          </a:p>
        </p:txBody>
      </p:sp>
      <p:sp>
        <p:nvSpPr>
          <p:cNvPr id="10" name="Shape 8"/>
          <p:cNvSpPr/>
          <p:nvPr/>
        </p:nvSpPr>
        <p:spPr>
          <a:xfrm>
            <a:off x="617220" y="3081528"/>
            <a:ext cx="365760" cy="0"/>
          </a:xfrm>
          <a:prstGeom prst="line">
            <a:avLst/>
          </a:prstGeom>
          <a:noFill/>
          <a:ln w="19050">
            <a:solidFill>
              <a:srgbClr val="22C55E"/>
            </a:solidFill>
            <a:prstDash val="solid"/>
          </a:ln>
        </p:spPr>
        <p:txBody>
          <a:bodyPr/>
          <a:lstStyle/>
          <a:p>
            <a:endParaRPr/>
          </a:p>
        </p:txBody>
      </p:sp>
      <p:sp>
        <p:nvSpPr>
          <p:cNvPr id="11" name="Text 9"/>
          <p:cNvSpPr/>
          <p:nvPr/>
        </p:nvSpPr>
        <p:spPr>
          <a:xfrm>
            <a:off x="617220" y="3200400"/>
            <a:ext cx="2331720" cy="1097280"/>
          </a:xfrm>
          <a:prstGeom prst="rect">
            <a:avLst/>
          </a:prstGeom>
          <a:noFill/>
          <a:ln/>
        </p:spPr>
        <p:txBody>
          <a:bodyPr wrap="square" lIns="0" tIns="0" rIns="0" bIns="0" rtlCol="0" anchor="t"/>
          <a:lstStyle/>
          <a:p>
            <a:pPr marL="0" indent="0">
              <a:buNone/>
            </a:pPr>
            <a:r>
              <a:rPr lang="en-US" sz="1000" dirty="0">
                <a:solidFill>
                  <a:srgbClr val="94A3B8"/>
                </a:solidFill>
                <a:latin typeface="Calibri" pitchFamily="34" charset="0"/>
                <a:ea typeface="Calibri" pitchFamily="34" charset="-122"/>
                <a:cs typeface="Calibri" pitchFamily="34" charset="-120"/>
              </a:rPr>
              <a:t>311 miliona eura prihoda u prvom kvartalu 2025. Više od 800 </a:t>
            </a:r>
            <a:r>
              <a:rPr lang="en-US" sz="1000" dirty="0" err="1">
                <a:solidFill>
                  <a:srgbClr val="94A3B8"/>
                </a:solidFill>
                <a:latin typeface="Calibri" pitchFamily="34" charset="0"/>
                <a:ea typeface="Calibri" pitchFamily="34" charset="-122"/>
                <a:cs typeface="Calibri" pitchFamily="34" charset="-120"/>
              </a:rPr>
              <a:t>kladionica</a:t>
            </a:r>
            <a:r>
              <a:rPr lang="en-US" sz="1000" dirty="0">
                <a:solidFill>
                  <a:srgbClr val="94A3B8"/>
                </a:solidFill>
                <a:latin typeface="Calibri" pitchFamily="34" charset="0"/>
                <a:ea typeface="Calibri" pitchFamily="34" charset="-122"/>
                <a:cs typeface="Calibri" pitchFamily="34" charset="-120"/>
              </a:rPr>
              <a:t> kao klijenti. Njihov posao je licenciranje podataka liga i dalja prodaja.</a:t>
            </a:r>
            <a:endParaRPr lang="en-US" sz="1000" dirty="0"/>
          </a:p>
        </p:txBody>
      </p:sp>
      <p:sp>
        <p:nvSpPr>
          <p:cNvPr id="12" name="Shape 10"/>
          <p:cNvSpPr/>
          <p:nvPr/>
        </p:nvSpPr>
        <p:spPr>
          <a:xfrm>
            <a:off x="3223260" y="2606040"/>
            <a:ext cx="2697480" cy="1783080"/>
          </a:xfrm>
          <a:prstGeom prst="rect">
            <a:avLst/>
          </a:prstGeom>
          <a:solidFill>
            <a:srgbClr val="141B2E"/>
          </a:solidFill>
          <a:ln w="12700">
            <a:solidFill>
              <a:srgbClr val="243049"/>
            </a:solidFill>
            <a:prstDash val="solid"/>
          </a:ln>
        </p:spPr>
        <p:txBody>
          <a:bodyPr/>
          <a:lstStyle/>
          <a:p>
            <a:endParaRPr/>
          </a:p>
        </p:txBody>
      </p:sp>
      <p:sp>
        <p:nvSpPr>
          <p:cNvPr id="13" name="Shape 11"/>
          <p:cNvSpPr/>
          <p:nvPr/>
        </p:nvSpPr>
        <p:spPr>
          <a:xfrm>
            <a:off x="3223260" y="2606040"/>
            <a:ext cx="2697480" cy="54864"/>
          </a:xfrm>
          <a:prstGeom prst="rect">
            <a:avLst/>
          </a:prstGeom>
          <a:solidFill>
            <a:srgbClr val="22C55E"/>
          </a:solidFill>
          <a:ln w="12700">
            <a:solidFill>
              <a:srgbClr val="22C55E"/>
            </a:solidFill>
            <a:prstDash val="solid"/>
          </a:ln>
        </p:spPr>
        <p:txBody>
          <a:bodyPr/>
          <a:lstStyle/>
          <a:p>
            <a:endParaRPr/>
          </a:p>
        </p:txBody>
      </p:sp>
      <p:sp>
        <p:nvSpPr>
          <p:cNvPr id="14" name="Text 12"/>
          <p:cNvSpPr/>
          <p:nvPr/>
        </p:nvSpPr>
        <p:spPr>
          <a:xfrm>
            <a:off x="3406140" y="2788920"/>
            <a:ext cx="2331720" cy="256032"/>
          </a:xfrm>
          <a:prstGeom prst="rect">
            <a:avLst/>
          </a:prstGeom>
          <a:noFill/>
          <a:ln/>
        </p:spPr>
        <p:txBody>
          <a:bodyPr wrap="square" lIns="0" tIns="0" rIns="0" bIns="0" rtlCol="0" anchor="ctr"/>
          <a:lstStyle/>
          <a:p>
            <a:pPr marL="0" indent="0">
              <a:buNone/>
            </a:pPr>
            <a:r>
              <a:rPr lang="en-US" sz="1000" b="1" kern="0" spc="300" dirty="0">
                <a:solidFill>
                  <a:srgbClr val="22C55E"/>
                </a:solidFill>
                <a:latin typeface="Calibri" pitchFamily="34" charset="0"/>
                <a:ea typeface="Calibri" pitchFamily="34" charset="-122"/>
                <a:cs typeface="Calibri" pitchFamily="34" charset="-120"/>
              </a:rPr>
              <a:t>GENIUS SPORTS</a:t>
            </a:r>
            <a:endParaRPr lang="en-US" sz="1000" dirty="0"/>
          </a:p>
        </p:txBody>
      </p:sp>
      <p:sp>
        <p:nvSpPr>
          <p:cNvPr id="15" name="Shape 13"/>
          <p:cNvSpPr/>
          <p:nvPr/>
        </p:nvSpPr>
        <p:spPr>
          <a:xfrm>
            <a:off x="3406140" y="3081528"/>
            <a:ext cx="365760" cy="0"/>
          </a:xfrm>
          <a:prstGeom prst="line">
            <a:avLst/>
          </a:prstGeom>
          <a:noFill/>
          <a:ln w="19050">
            <a:solidFill>
              <a:srgbClr val="22C55E"/>
            </a:solidFill>
            <a:prstDash val="solid"/>
          </a:ln>
        </p:spPr>
        <p:txBody>
          <a:bodyPr/>
          <a:lstStyle/>
          <a:p>
            <a:endParaRPr/>
          </a:p>
        </p:txBody>
      </p:sp>
      <p:sp>
        <p:nvSpPr>
          <p:cNvPr id="16" name="Text 14"/>
          <p:cNvSpPr/>
          <p:nvPr/>
        </p:nvSpPr>
        <p:spPr>
          <a:xfrm>
            <a:off x="3406140" y="3200400"/>
            <a:ext cx="2331720" cy="1097280"/>
          </a:xfrm>
          <a:prstGeom prst="rect">
            <a:avLst/>
          </a:prstGeom>
          <a:noFill/>
          <a:ln/>
        </p:spPr>
        <p:txBody>
          <a:bodyPr wrap="square" lIns="0" tIns="0" rIns="0" bIns="0" rtlCol="0" anchor="t"/>
          <a:lstStyle/>
          <a:p>
            <a:pPr marL="0" indent="0">
              <a:buNone/>
            </a:pPr>
            <a:r>
              <a:rPr lang="en-US" sz="1000" dirty="0">
                <a:solidFill>
                  <a:srgbClr val="94A3B8"/>
                </a:solidFill>
                <a:latin typeface="Calibri" pitchFamily="34" charset="0"/>
                <a:ea typeface="Calibri" pitchFamily="34" charset="-122"/>
                <a:cs typeface="Calibri" pitchFamily="34" charset="-120"/>
              </a:rPr>
              <a:t>Plaća NFL-u oko 100 miliona dolara godišnje za prava na podatke. Djeluje u evropskom fudbalu, od Premier lige pa do manjih liga.</a:t>
            </a:r>
            <a:endParaRPr lang="en-US" sz="1000" dirty="0"/>
          </a:p>
        </p:txBody>
      </p:sp>
      <p:sp>
        <p:nvSpPr>
          <p:cNvPr id="17" name="Shape 15"/>
          <p:cNvSpPr/>
          <p:nvPr/>
        </p:nvSpPr>
        <p:spPr>
          <a:xfrm>
            <a:off x="6012180" y="2606040"/>
            <a:ext cx="2697480" cy="1783080"/>
          </a:xfrm>
          <a:prstGeom prst="rect">
            <a:avLst/>
          </a:prstGeom>
          <a:solidFill>
            <a:srgbClr val="141B2E"/>
          </a:solidFill>
          <a:ln w="12700">
            <a:solidFill>
              <a:srgbClr val="243049"/>
            </a:solidFill>
            <a:prstDash val="solid"/>
          </a:ln>
        </p:spPr>
        <p:txBody>
          <a:bodyPr/>
          <a:lstStyle/>
          <a:p>
            <a:endParaRPr/>
          </a:p>
        </p:txBody>
      </p:sp>
      <p:sp>
        <p:nvSpPr>
          <p:cNvPr id="18" name="Shape 16"/>
          <p:cNvSpPr/>
          <p:nvPr/>
        </p:nvSpPr>
        <p:spPr>
          <a:xfrm>
            <a:off x="6012180" y="2606040"/>
            <a:ext cx="2697480" cy="54864"/>
          </a:xfrm>
          <a:prstGeom prst="rect">
            <a:avLst/>
          </a:prstGeom>
          <a:solidFill>
            <a:srgbClr val="22C55E"/>
          </a:solidFill>
          <a:ln w="12700">
            <a:solidFill>
              <a:srgbClr val="22C55E"/>
            </a:solidFill>
            <a:prstDash val="solid"/>
          </a:ln>
        </p:spPr>
        <p:txBody>
          <a:bodyPr/>
          <a:lstStyle/>
          <a:p>
            <a:endParaRPr/>
          </a:p>
        </p:txBody>
      </p:sp>
      <p:sp>
        <p:nvSpPr>
          <p:cNvPr id="19" name="Text 17"/>
          <p:cNvSpPr/>
          <p:nvPr/>
        </p:nvSpPr>
        <p:spPr>
          <a:xfrm>
            <a:off x="6195060" y="2788920"/>
            <a:ext cx="2331720" cy="256032"/>
          </a:xfrm>
          <a:prstGeom prst="rect">
            <a:avLst/>
          </a:prstGeom>
          <a:noFill/>
          <a:ln/>
        </p:spPr>
        <p:txBody>
          <a:bodyPr wrap="square" lIns="0" tIns="0" rIns="0" bIns="0" rtlCol="0" anchor="ctr"/>
          <a:lstStyle/>
          <a:p>
            <a:pPr marL="0" indent="0">
              <a:buNone/>
            </a:pPr>
            <a:r>
              <a:rPr lang="en-US" sz="1000" b="1" kern="0" spc="300" dirty="0">
                <a:solidFill>
                  <a:srgbClr val="22C55E"/>
                </a:solidFill>
                <a:latin typeface="Calibri" pitchFamily="34" charset="0"/>
                <a:ea typeface="Calibri" pitchFamily="34" charset="-122"/>
                <a:cs typeface="Calibri" pitchFamily="34" charset="-120"/>
              </a:rPr>
              <a:t>ŠTA OVO ZNAČI ZA NAS</a:t>
            </a:r>
            <a:endParaRPr lang="en-US" sz="1000" dirty="0"/>
          </a:p>
        </p:txBody>
      </p:sp>
      <p:sp>
        <p:nvSpPr>
          <p:cNvPr id="20" name="Shape 18"/>
          <p:cNvSpPr/>
          <p:nvPr/>
        </p:nvSpPr>
        <p:spPr>
          <a:xfrm>
            <a:off x="6195060" y="3081528"/>
            <a:ext cx="365760" cy="0"/>
          </a:xfrm>
          <a:prstGeom prst="line">
            <a:avLst/>
          </a:prstGeom>
          <a:noFill/>
          <a:ln w="19050">
            <a:solidFill>
              <a:srgbClr val="22C55E"/>
            </a:solidFill>
            <a:prstDash val="solid"/>
          </a:ln>
        </p:spPr>
        <p:txBody>
          <a:bodyPr/>
          <a:lstStyle/>
          <a:p>
            <a:endParaRPr/>
          </a:p>
        </p:txBody>
      </p:sp>
      <p:sp>
        <p:nvSpPr>
          <p:cNvPr id="21" name="Text 19"/>
          <p:cNvSpPr/>
          <p:nvPr/>
        </p:nvSpPr>
        <p:spPr>
          <a:xfrm>
            <a:off x="6195060" y="3200400"/>
            <a:ext cx="2331720" cy="1097280"/>
          </a:xfrm>
          <a:prstGeom prst="rect">
            <a:avLst/>
          </a:prstGeom>
          <a:noFill/>
          <a:ln/>
        </p:spPr>
        <p:txBody>
          <a:bodyPr wrap="square" lIns="0" tIns="0" rIns="0" bIns="0" rtlCol="0" anchor="t"/>
          <a:lstStyle/>
          <a:p>
            <a:pPr marL="0" indent="0">
              <a:buNone/>
            </a:pPr>
            <a:r>
              <a:rPr lang="en-US" sz="1000" dirty="0">
                <a:solidFill>
                  <a:srgbClr val="94A3B8"/>
                </a:solidFill>
                <a:latin typeface="Calibri" pitchFamily="34" charset="0"/>
                <a:ea typeface="Calibri" pitchFamily="34" charset="-122"/>
                <a:cs typeface="Calibri" pitchFamily="34" charset="-120"/>
              </a:rPr>
              <a:t>Čim budu postojali event podaci 1. CFL, postoji pravo globalno tržište koje će platiti za licenciranje. To bi bio prvi stalni izvor prihoda koji federacija može izgraditi od lige, osim TV </a:t>
            </a:r>
            <a:r>
              <a:rPr lang="en-US" sz="1000" dirty="0" err="1">
                <a:solidFill>
                  <a:srgbClr val="94A3B8"/>
                </a:solidFill>
                <a:latin typeface="Calibri" pitchFamily="34" charset="0"/>
                <a:ea typeface="Calibri" pitchFamily="34" charset="-122"/>
                <a:cs typeface="Calibri" pitchFamily="34" charset="-120"/>
              </a:rPr>
              <a:t>prava</a:t>
            </a:r>
            <a:r>
              <a:rPr lang="en-US" sz="1000" dirty="0">
                <a:solidFill>
                  <a:srgbClr val="94A3B8"/>
                </a:solidFill>
                <a:latin typeface="Calibri" pitchFamily="34" charset="0"/>
                <a:ea typeface="Calibri" pitchFamily="34" charset="-122"/>
                <a:cs typeface="Calibri" pitchFamily="34" charset="-120"/>
              </a:rPr>
              <a:t>.</a:t>
            </a:r>
            <a:endParaRPr lang="en-US" sz="1000" dirty="0"/>
          </a:p>
        </p:txBody>
      </p:sp>
      <p:sp>
        <p:nvSpPr>
          <p:cNvPr id="22" name="Text 20"/>
          <p:cNvSpPr/>
          <p:nvPr/>
        </p:nvSpPr>
        <p:spPr>
          <a:xfrm>
            <a:off x="457200" y="4507992"/>
            <a:ext cx="8229600" cy="274320"/>
          </a:xfrm>
          <a:prstGeom prst="rect">
            <a:avLst/>
          </a:prstGeom>
          <a:noFill/>
          <a:ln/>
        </p:spPr>
        <p:txBody>
          <a:bodyPr wrap="square" lIns="0" tIns="0" rIns="0" bIns="0" rtlCol="0" anchor="ctr"/>
          <a:lstStyle/>
          <a:p>
            <a:pPr marL="0" indent="0" algn="ctr">
              <a:buNone/>
            </a:pPr>
            <a:r>
              <a:rPr lang="en-US" sz="1100" b="1" i="1" dirty="0">
                <a:solidFill>
                  <a:srgbClr val="22C55E"/>
                </a:solidFill>
                <a:latin typeface="Calibri" pitchFamily="34" charset="0"/>
                <a:ea typeface="Calibri" pitchFamily="34" charset="-122"/>
                <a:cs typeface="Calibri" pitchFamily="34" charset="-120"/>
              </a:rPr>
              <a:t>Nemamo event podatke. To je </a:t>
            </a:r>
            <a:r>
              <a:rPr lang="en-US" sz="1100" b="1" i="1" dirty="0" err="1">
                <a:solidFill>
                  <a:srgbClr val="22C55E"/>
                </a:solidFill>
                <a:latin typeface="Calibri" pitchFamily="34" charset="0"/>
                <a:ea typeface="Calibri" pitchFamily="34" charset="-122"/>
                <a:cs typeface="Calibri" pitchFamily="34" charset="-120"/>
              </a:rPr>
              <a:t>propustena</a:t>
            </a:r>
            <a:r>
              <a:rPr lang="en-US" sz="1100" b="1" i="1" dirty="0">
                <a:solidFill>
                  <a:srgbClr val="22C55E"/>
                </a:solidFill>
                <a:latin typeface="Calibri" pitchFamily="34" charset="0"/>
                <a:ea typeface="Calibri" pitchFamily="34" charset="-122"/>
                <a:cs typeface="Calibri" pitchFamily="34" charset="-120"/>
              </a:rPr>
              <a:t> </a:t>
            </a:r>
            <a:r>
              <a:rPr lang="en-US" sz="1100" b="1" i="1" dirty="0" err="1">
                <a:solidFill>
                  <a:srgbClr val="22C55E"/>
                </a:solidFill>
                <a:latin typeface="Calibri" pitchFamily="34" charset="0"/>
                <a:ea typeface="Calibri" pitchFamily="34" charset="-122"/>
                <a:cs typeface="Calibri" pitchFamily="34" charset="-120"/>
              </a:rPr>
              <a:t>prilika</a:t>
            </a:r>
            <a:r>
              <a:rPr lang="en-US" sz="1100" b="1" i="1" dirty="0">
                <a:solidFill>
                  <a:srgbClr val="22C55E"/>
                </a:solidFill>
                <a:latin typeface="Calibri" pitchFamily="34" charset="0"/>
                <a:ea typeface="Calibri" pitchFamily="34" charset="-122"/>
                <a:cs typeface="Calibri" pitchFamily="34" charset="-120"/>
              </a:rPr>
              <a:t>. Čim ih budemo imali, postaju imovina.</a:t>
            </a:r>
            <a:endParaRPr lang="en-US" sz="1100" dirty="0"/>
          </a:p>
        </p:txBody>
      </p:sp>
      <p:sp>
        <p:nvSpPr>
          <p:cNvPr id="23" name="Text 21"/>
          <p:cNvSpPr/>
          <p:nvPr/>
        </p:nvSpPr>
        <p:spPr>
          <a:xfrm>
            <a:off x="457200" y="4777740"/>
            <a:ext cx="5486400" cy="274320"/>
          </a:xfrm>
          <a:prstGeom prst="rect">
            <a:avLst/>
          </a:prstGeom>
          <a:noFill/>
          <a:ln/>
        </p:spPr>
        <p:txBody>
          <a:bodyPr wrap="square" lIns="0" tIns="0" rIns="0" bIns="0" rtlCol="0" anchor="ctr"/>
          <a:lstStyle/>
          <a:p>
            <a:pPr marL="0" indent="0">
              <a:buNone/>
            </a:pPr>
            <a:r>
              <a:rPr lang="en-US" sz="800" b="1" kern="0" spc="300" dirty="0">
                <a:solidFill>
                  <a:srgbClr val="64748B"/>
                </a:solidFill>
                <a:latin typeface="Calibri" pitchFamily="34" charset="0"/>
                <a:ea typeface="Calibri" pitchFamily="34" charset="-122"/>
                <a:cs typeface="Calibri" pitchFamily="34" charset="-120"/>
              </a:rPr>
              <a:t>ANALITIKA PODATAKA ZA CRNOGORSKI FUDBAL</a:t>
            </a:r>
            <a:endParaRPr lang="en-US" sz="800" dirty="0"/>
          </a:p>
        </p:txBody>
      </p:sp>
      <p:sp>
        <p:nvSpPr>
          <p:cNvPr id="24" name="Text 22"/>
          <p:cNvSpPr/>
          <p:nvPr/>
        </p:nvSpPr>
        <p:spPr>
          <a:xfrm>
            <a:off x="7955280" y="4777740"/>
            <a:ext cx="9144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10 / 21</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0F1C"/>
        </a:solidFill>
        <a:effectLst/>
      </p:bgPr>
    </p:bg>
    <p:spTree>
      <p:nvGrpSpPr>
        <p:cNvPr id="1" name=""/>
        <p:cNvGrpSpPr/>
        <p:nvPr/>
      </p:nvGrpSpPr>
      <p:grpSpPr>
        <a:xfrm>
          <a:off x="0" y="0"/>
          <a:ext cx="0" cy="0"/>
          <a:chOff x="0" y="0"/>
          <a:chExt cx="0" cy="0"/>
        </a:xfrm>
      </p:grpSpPr>
      <p:sp>
        <p:nvSpPr>
          <p:cNvPr id="28" name="Shape 11">
            <a:extLst>
              <a:ext uri="{FF2B5EF4-FFF2-40B4-BE49-F238E27FC236}">
                <a16:creationId xmlns:a16="http://schemas.microsoft.com/office/drawing/2014/main" id="{B0DA365F-3C3D-D443-A627-5A7F90199344}"/>
              </a:ext>
            </a:extLst>
          </p:cNvPr>
          <p:cNvSpPr/>
          <p:nvPr/>
        </p:nvSpPr>
        <p:spPr>
          <a:xfrm>
            <a:off x="1005838" y="3776313"/>
            <a:ext cx="3566160" cy="901989"/>
          </a:xfrm>
          <a:prstGeom prst="rect">
            <a:avLst/>
          </a:prstGeom>
          <a:solidFill>
            <a:srgbClr val="141B2E"/>
          </a:solidFill>
          <a:ln w="12700">
            <a:solidFill>
              <a:srgbClr val="243049"/>
            </a:solidFill>
            <a:prstDash val="solid"/>
          </a:ln>
        </p:spPr>
        <p:txBody>
          <a:bodyPr/>
          <a:lstStyle/>
          <a:p>
            <a:endParaRPr/>
          </a:p>
        </p:txBody>
      </p:sp>
      <p:sp>
        <p:nvSpPr>
          <p:cNvPr id="2" name="Shape 0"/>
          <p:cNvSpPr/>
          <p:nvPr/>
        </p:nvSpPr>
        <p:spPr>
          <a:xfrm>
            <a:off x="457200" y="411480"/>
            <a:ext cx="164592" cy="164592"/>
          </a:xfrm>
          <a:prstGeom prst="rect">
            <a:avLst/>
          </a:prstGeom>
          <a:solidFill>
            <a:srgbClr val="22C55E"/>
          </a:solidFill>
          <a:ln w="12700">
            <a:solidFill>
              <a:srgbClr val="22C55E"/>
            </a:solidFill>
            <a:prstDash val="solid"/>
          </a:ln>
        </p:spPr>
        <p:txBody>
          <a:bodyPr/>
          <a:lstStyle/>
          <a:p>
            <a:endParaRPr/>
          </a:p>
        </p:txBody>
      </p:sp>
      <p:sp>
        <p:nvSpPr>
          <p:cNvPr id="3" name="Text 1"/>
          <p:cNvSpPr/>
          <p:nvPr/>
        </p:nvSpPr>
        <p:spPr>
          <a:xfrm>
            <a:off x="749808" y="384048"/>
            <a:ext cx="7315200" cy="228600"/>
          </a:xfrm>
          <a:prstGeom prst="rect">
            <a:avLst/>
          </a:prstGeom>
          <a:noFill/>
          <a:ln/>
        </p:spPr>
        <p:txBody>
          <a:bodyPr wrap="square" lIns="0" tIns="0" rIns="0" bIns="0" rtlCol="0" anchor="ctr"/>
          <a:lstStyle/>
          <a:p>
            <a:pPr marL="0" indent="0">
              <a:buNone/>
            </a:pPr>
            <a:r>
              <a:rPr lang="en-US" sz="1000" b="1" kern="0" spc="400" dirty="0">
                <a:solidFill>
                  <a:srgbClr val="22C55E"/>
                </a:solidFill>
                <a:latin typeface="Calibri" pitchFamily="34" charset="0"/>
                <a:ea typeface="Calibri" pitchFamily="34" charset="-122"/>
                <a:cs typeface="Calibri" pitchFamily="34" charset="-120"/>
              </a:rPr>
              <a:t>PREDLOG</a:t>
            </a:r>
            <a:endParaRPr lang="en-US" sz="1000" dirty="0"/>
          </a:p>
        </p:txBody>
      </p:sp>
      <p:sp>
        <p:nvSpPr>
          <p:cNvPr id="4" name="Text 2"/>
          <p:cNvSpPr/>
          <p:nvPr/>
        </p:nvSpPr>
        <p:spPr>
          <a:xfrm>
            <a:off x="731520" y="734460"/>
            <a:ext cx="8229600" cy="640080"/>
          </a:xfrm>
          <a:prstGeom prst="rect">
            <a:avLst/>
          </a:prstGeom>
          <a:noFill/>
          <a:ln/>
        </p:spPr>
        <p:txBody>
          <a:bodyPr wrap="square" lIns="0" tIns="0" rIns="0" bIns="0" rtlCol="0" anchor="ctr"/>
          <a:lstStyle/>
          <a:p>
            <a:pPr marL="0" indent="0">
              <a:buNone/>
            </a:pPr>
            <a:r>
              <a:rPr lang="en-US" sz="2600" b="1" dirty="0" err="1">
                <a:solidFill>
                  <a:srgbClr val="F8FAFC"/>
                </a:solidFill>
                <a:latin typeface="Calibri" pitchFamily="34" charset="0"/>
                <a:ea typeface="Calibri" pitchFamily="34" charset="-122"/>
                <a:cs typeface="Calibri" pitchFamily="34" charset="-120"/>
              </a:rPr>
              <a:t>Odjeljenje</a:t>
            </a:r>
            <a:r>
              <a:rPr lang="en-US" sz="2600" b="1" dirty="0">
                <a:solidFill>
                  <a:srgbClr val="F8FAFC"/>
                </a:solidFill>
                <a:latin typeface="Calibri" pitchFamily="34" charset="0"/>
                <a:ea typeface="Calibri" pitchFamily="34" charset="-122"/>
                <a:cs typeface="Calibri" pitchFamily="34" charset="-120"/>
              </a:rPr>
              <a:t> za </a:t>
            </a:r>
            <a:r>
              <a:rPr lang="en-US" sz="2600" b="1" dirty="0" err="1">
                <a:solidFill>
                  <a:srgbClr val="F8FAFC"/>
                </a:solidFill>
                <a:latin typeface="Calibri" pitchFamily="34" charset="0"/>
                <a:ea typeface="Calibri" pitchFamily="34" charset="-122"/>
                <a:cs typeface="Calibri" pitchFamily="34" charset="-120"/>
              </a:rPr>
              <a:t>analitiku</a:t>
            </a:r>
            <a:r>
              <a:rPr lang="en-US" sz="2600" b="1" dirty="0">
                <a:solidFill>
                  <a:srgbClr val="F8FAFC"/>
                </a:solidFill>
                <a:latin typeface="Calibri" pitchFamily="34" charset="0"/>
                <a:ea typeface="Calibri" pitchFamily="34" charset="-122"/>
                <a:cs typeface="Calibri" pitchFamily="34" charset="-120"/>
              </a:rPr>
              <a:t> </a:t>
            </a:r>
            <a:r>
              <a:rPr lang="en-US" sz="2600" b="1" dirty="0" err="1">
                <a:solidFill>
                  <a:srgbClr val="F8FAFC"/>
                </a:solidFill>
                <a:latin typeface="Calibri" pitchFamily="34" charset="0"/>
                <a:ea typeface="Calibri" pitchFamily="34" charset="-122"/>
                <a:cs typeface="Calibri" pitchFamily="34" charset="-120"/>
              </a:rPr>
              <a:t>podataka</a:t>
            </a:r>
            <a:r>
              <a:rPr lang="en-US" sz="2600" b="1" dirty="0">
                <a:solidFill>
                  <a:srgbClr val="F8FAFC"/>
                </a:solidFill>
                <a:latin typeface="Calibri" pitchFamily="34" charset="0"/>
                <a:ea typeface="Calibri" pitchFamily="34" charset="-122"/>
                <a:cs typeface="Calibri" pitchFamily="34" charset="-120"/>
              </a:rPr>
              <a:t> </a:t>
            </a:r>
            <a:r>
              <a:rPr lang="en-US" sz="2600" b="1" dirty="0" err="1">
                <a:solidFill>
                  <a:srgbClr val="F8FAFC"/>
                </a:solidFill>
                <a:latin typeface="Calibri" pitchFamily="34" charset="0"/>
                <a:ea typeface="Calibri" pitchFamily="34" charset="-122"/>
                <a:cs typeface="Calibri" pitchFamily="34" charset="-120"/>
              </a:rPr>
              <a:t>unutar</a:t>
            </a:r>
            <a:r>
              <a:rPr lang="en-US" sz="2600" b="1" dirty="0">
                <a:solidFill>
                  <a:srgbClr val="F8FAFC"/>
                </a:solidFill>
                <a:latin typeface="Calibri" pitchFamily="34" charset="0"/>
                <a:ea typeface="Calibri" pitchFamily="34" charset="-122"/>
                <a:cs typeface="Calibri" pitchFamily="34" charset="-120"/>
              </a:rPr>
              <a:t> FSCG</a:t>
            </a:r>
            <a:endParaRPr lang="en-US" sz="2600" dirty="0"/>
          </a:p>
        </p:txBody>
      </p:sp>
      <p:sp>
        <p:nvSpPr>
          <p:cNvPr id="5" name="Shape 3"/>
          <p:cNvSpPr/>
          <p:nvPr/>
        </p:nvSpPr>
        <p:spPr>
          <a:xfrm>
            <a:off x="731520" y="1691640"/>
            <a:ext cx="7680960" cy="1800000"/>
          </a:xfrm>
          <a:prstGeom prst="rect">
            <a:avLst/>
          </a:prstGeom>
          <a:solidFill>
            <a:srgbClr val="141B2E"/>
          </a:solidFill>
          <a:ln w="25400">
            <a:solidFill>
              <a:srgbClr val="22C55E"/>
            </a:solidFill>
            <a:prstDash val="solid"/>
          </a:ln>
        </p:spPr>
        <p:txBody>
          <a:bodyPr/>
          <a:lstStyle/>
          <a:p>
            <a:endParaRPr lang="en-US" dirty="0"/>
          </a:p>
        </p:txBody>
      </p:sp>
      <p:sp>
        <p:nvSpPr>
          <p:cNvPr id="6" name="Text 4"/>
          <p:cNvSpPr/>
          <p:nvPr/>
        </p:nvSpPr>
        <p:spPr>
          <a:xfrm>
            <a:off x="914398" y="1788957"/>
            <a:ext cx="7315200" cy="1593836"/>
          </a:xfrm>
          <a:prstGeom prst="rect">
            <a:avLst/>
          </a:prstGeom>
          <a:noFill/>
          <a:ln/>
        </p:spPr>
        <p:txBody>
          <a:bodyPr wrap="square" lIns="0" tIns="0" rIns="0" bIns="0" rtlCol="0" anchor="ctr"/>
          <a:lstStyle/>
          <a:p>
            <a:pPr marL="0" indent="0">
              <a:buNone/>
            </a:pPr>
            <a:r>
              <a:rPr lang="en-US" sz="1300" b="1" dirty="0">
                <a:solidFill>
                  <a:srgbClr val="F8FAFC"/>
                </a:solidFill>
                <a:latin typeface="Calibri" pitchFamily="34" charset="0"/>
                <a:ea typeface="Calibri" pitchFamily="34" charset="-122"/>
                <a:cs typeface="Calibri" pitchFamily="34" charset="-120"/>
              </a:rPr>
              <a:t>Zašto odjeljenje unutar FSCG — a ne eksterni dobavljač?</a:t>
            </a:r>
            <a:endParaRPr lang="en-US" sz="1300" dirty="0"/>
          </a:p>
          <a:p>
            <a:pPr marL="0" indent="0">
              <a:buNone/>
            </a:pPr>
            <a:endParaRPr lang="en-US" sz="900" dirty="0"/>
          </a:p>
          <a:p>
            <a:pPr marL="0" indent="0">
              <a:spcBef>
                <a:spcPts val="200"/>
              </a:spcBef>
              <a:buNone/>
            </a:pPr>
            <a:r>
              <a:rPr lang="en-US" sz="1100" dirty="0">
                <a:solidFill>
                  <a:srgbClr val="94A3B8"/>
                </a:solidFill>
                <a:latin typeface="Calibri" pitchFamily="34" charset="0"/>
                <a:ea typeface="Calibri" pitchFamily="34" charset="-122"/>
                <a:cs typeface="Calibri" pitchFamily="34" charset="-120"/>
              </a:rPr>
              <a:t>01  U vlasništvu saveza — svi podaci i infrastruktura ostaju </a:t>
            </a:r>
            <a:r>
              <a:rPr lang="en-US" sz="1100" dirty="0" err="1">
                <a:solidFill>
                  <a:srgbClr val="94A3B8"/>
                </a:solidFill>
                <a:latin typeface="Calibri" pitchFamily="34" charset="0"/>
                <a:ea typeface="Calibri" pitchFamily="34" charset="-122"/>
                <a:cs typeface="Calibri" pitchFamily="34" charset="-120"/>
              </a:rPr>
              <a:t>kod</a:t>
            </a:r>
            <a:r>
              <a:rPr lang="en-US" sz="1100" dirty="0">
                <a:solidFill>
                  <a:srgbClr val="94A3B8"/>
                </a:solidFill>
                <a:latin typeface="Calibri" pitchFamily="34" charset="0"/>
                <a:ea typeface="Calibri" pitchFamily="34" charset="-122"/>
                <a:cs typeface="Calibri" pitchFamily="34" charset="-120"/>
              </a:rPr>
              <a:t> vas </a:t>
            </a:r>
            <a:r>
              <a:rPr lang="en-US" sz="1100" dirty="0" err="1">
                <a:solidFill>
                  <a:srgbClr val="94A3B8"/>
                </a:solidFill>
                <a:latin typeface="Calibri" pitchFamily="34" charset="0"/>
                <a:ea typeface="Calibri" pitchFamily="34" charset="-122"/>
                <a:cs typeface="Calibri" pitchFamily="34" charset="-120"/>
              </a:rPr>
              <a:t>zajedno</a:t>
            </a:r>
            <a:r>
              <a:rPr lang="en-US" sz="1100" dirty="0">
                <a:solidFill>
                  <a:srgbClr val="94A3B8"/>
                </a:solidFill>
                <a:latin typeface="Calibri" pitchFamily="34" charset="0"/>
                <a:ea typeface="Calibri" pitchFamily="34" charset="-122"/>
                <a:cs typeface="Calibri" pitchFamily="34" charset="-120"/>
              </a:rPr>
              <a:t> </a:t>
            </a:r>
            <a:r>
              <a:rPr lang="en-US" sz="1100" dirty="0" err="1">
                <a:solidFill>
                  <a:srgbClr val="94A3B8"/>
                </a:solidFill>
                <a:latin typeface="Calibri" pitchFamily="34" charset="0"/>
                <a:ea typeface="Calibri" pitchFamily="34" charset="-122"/>
                <a:cs typeface="Calibri" pitchFamily="34" charset="-120"/>
              </a:rPr>
              <a:t>sa</a:t>
            </a:r>
            <a:r>
              <a:rPr lang="en-US" sz="1100" dirty="0">
                <a:solidFill>
                  <a:srgbClr val="94A3B8"/>
                </a:solidFill>
                <a:latin typeface="Calibri" pitchFamily="34" charset="0"/>
                <a:ea typeface="Calibri" pitchFamily="34" charset="-122"/>
                <a:cs typeface="Calibri" pitchFamily="34" charset="-120"/>
              </a:rPr>
              <a:t> </a:t>
            </a:r>
            <a:r>
              <a:rPr lang="en-US" sz="1100" dirty="0" err="1">
                <a:solidFill>
                  <a:srgbClr val="94A3B8"/>
                </a:solidFill>
                <a:latin typeface="Calibri" pitchFamily="34" charset="0"/>
                <a:ea typeface="Calibri" pitchFamily="34" charset="-122"/>
                <a:cs typeface="Calibri" pitchFamily="34" charset="-120"/>
              </a:rPr>
              <a:t>pravima</a:t>
            </a:r>
            <a:r>
              <a:rPr lang="en-US" sz="1100" dirty="0">
                <a:solidFill>
                  <a:srgbClr val="94A3B8"/>
                </a:solidFill>
                <a:latin typeface="Calibri" pitchFamily="34" charset="0"/>
                <a:ea typeface="Calibri" pitchFamily="34" charset="-122"/>
                <a:cs typeface="Calibri" pitchFamily="34" charset="-120"/>
              </a:rPr>
              <a:t> za </a:t>
            </a:r>
            <a:r>
              <a:rPr lang="en-US" sz="1100" dirty="0" err="1">
                <a:solidFill>
                  <a:srgbClr val="94A3B8"/>
                </a:solidFill>
                <a:latin typeface="Calibri" pitchFamily="34" charset="0"/>
                <a:ea typeface="Calibri" pitchFamily="34" charset="-122"/>
                <a:cs typeface="Calibri" pitchFamily="34" charset="-120"/>
              </a:rPr>
              <a:t>prodaju</a:t>
            </a:r>
            <a:r>
              <a:rPr lang="en-US" sz="1100" dirty="0">
                <a:solidFill>
                  <a:srgbClr val="94A3B8"/>
                </a:solidFill>
                <a:latin typeface="Calibri" pitchFamily="34" charset="0"/>
                <a:ea typeface="Calibri" pitchFamily="34" charset="-122"/>
                <a:cs typeface="Calibri" pitchFamily="34" charset="-120"/>
              </a:rPr>
              <a:t> </a:t>
            </a:r>
            <a:r>
              <a:rPr lang="en-US" sz="1100" dirty="0" err="1">
                <a:solidFill>
                  <a:srgbClr val="94A3B8"/>
                </a:solidFill>
                <a:latin typeface="Calibri" pitchFamily="34" charset="0"/>
                <a:ea typeface="Calibri" pitchFamily="34" charset="-122"/>
                <a:cs typeface="Calibri" pitchFamily="34" charset="-120"/>
              </a:rPr>
              <a:t>i</a:t>
            </a:r>
            <a:r>
              <a:rPr lang="en-US" sz="1100" dirty="0">
                <a:solidFill>
                  <a:srgbClr val="94A3B8"/>
                </a:solidFill>
                <a:latin typeface="Calibri" pitchFamily="34" charset="0"/>
                <a:ea typeface="Calibri" pitchFamily="34" charset="-122"/>
                <a:cs typeface="Calibri" pitchFamily="34" charset="-120"/>
              </a:rPr>
              <a:t> </a:t>
            </a:r>
            <a:r>
              <a:rPr lang="en-US" sz="1100" dirty="0" err="1">
                <a:solidFill>
                  <a:srgbClr val="94A3B8"/>
                </a:solidFill>
                <a:latin typeface="Calibri" pitchFamily="34" charset="0"/>
                <a:ea typeface="Calibri" pitchFamily="34" charset="-122"/>
                <a:cs typeface="Calibri" pitchFamily="34" charset="-120"/>
              </a:rPr>
              <a:t>zaradu</a:t>
            </a:r>
            <a:r>
              <a:rPr lang="en-US" sz="1100" dirty="0">
                <a:solidFill>
                  <a:srgbClr val="94A3B8"/>
                </a:solidFill>
                <a:latin typeface="Calibri" pitchFamily="34" charset="0"/>
                <a:ea typeface="Calibri" pitchFamily="34" charset="-122"/>
                <a:cs typeface="Calibri" pitchFamily="34" charset="-120"/>
              </a:rPr>
              <a:t>.</a:t>
            </a:r>
            <a:endParaRPr lang="en-US" sz="1100" dirty="0"/>
          </a:p>
          <a:p>
            <a:pPr marL="0" indent="0">
              <a:buNone/>
            </a:pPr>
            <a:endParaRPr lang="en-US" sz="700" dirty="0"/>
          </a:p>
          <a:p>
            <a:pPr>
              <a:spcBef>
                <a:spcPts val="200"/>
              </a:spcBef>
            </a:pPr>
            <a:r>
              <a:rPr lang="en-US" sz="1100" dirty="0">
                <a:solidFill>
                  <a:srgbClr val="94A3B8"/>
                </a:solidFill>
                <a:latin typeface="Calibri" pitchFamily="34" charset="0"/>
                <a:ea typeface="Calibri" pitchFamily="34" charset="-122"/>
                <a:cs typeface="Calibri" pitchFamily="34" charset="-120"/>
              </a:rPr>
              <a:t>02  Sistem radi umjesto nas — 180 </a:t>
            </a:r>
            <a:r>
              <a:rPr lang="en-US" sz="1100" dirty="0" err="1">
                <a:solidFill>
                  <a:srgbClr val="94A3B8"/>
                </a:solidFill>
                <a:latin typeface="Calibri" pitchFamily="34" charset="0"/>
                <a:ea typeface="Calibri" pitchFamily="34" charset="-122"/>
                <a:cs typeface="Calibri" pitchFamily="34" charset="-120"/>
              </a:rPr>
              <a:t>utakmica</a:t>
            </a:r>
            <a:r>
              <a:rPr lang="en-US" sz="1100" dirty="0">
                <a:solidFill>
                  <a:srgbClr val="94A3B8"/>
                </a:solidFill>
                <a:latin typeface="Calibri" pitchFamily="34" charset="0"/>
                <a:ea typeface="Calibri" pitchFamily="34" charset="-122"/>
                <a:cs typeface="Calibri" pitchFamily="34" charset="-120"/>
              </a:rPr>
              <a:t> po </a:t>
            </a:r>
            <a:r>
              <a:rPr lang="en-US" sz="1100" dirty="0" err="1">
                <a:solidFill>
                  <a:srgbClr val="94A3B8"/>
                </a:solidFill>
                <a:latin typeface="Calibri" pitchFamily="34" charset="0"/>
                <a:ea typeface="Calibri" pitchFamily="34" charset="-122"/>
                <a:cs typeface="Calibri" pitchFamily="34" charset="-120"/>
              </a:rPr>
              <a:t>sezoni</a:t>
            </a:r>
            <a:r>
              <a:rPr lang="en-US" sz="1100" dirty="0">
                <a:solidFill>
                  <a:srgbClr val="94A3B8"/>
                </a:solidFill>
                <a:latin typeface="Calibri" pitchFamily="34" charset="0"/>
                <a:ea typeface="Calibri" pitchFamily="34" charset="-122"/>
                <a:cs typeface="Calibri" pitchFamily="34" charset="-120"/>
              </a:rPr>
              <a:t> ne </a:t>
            </a:r>
            <a:r>
              <a:rPr lang="en-US" sz="1100" dirty="0" err="1">
                <a:solidFill>
                  <a:srgbClr val="94A3B8"/>
                </a:solidFill>
                <a:latin typeface="Calibri" pitchFamily="34" charset="0"/>
                <a:ea typeface="Calibri" pitchFamily="34" charset="-122"/>
                <a:cs typeface="Calibri" pitchFamily="34" charset="-120"/>
              </a:rPr>
              <a:t>označavamo</a:t>
            </a:r>
            <a:r>
              <a:rPr lang="en-US" sz="1100" dirty="0">
                <a:solidFill>
                  <a:srgbClr val="94A3B8"/>
                </a:solidFill>
                <a:latin typeface="Calibri" pitchFamily="34" charset="0"/>
                <a:ea typeface="Calibri" pitchFamily="34" charset="-122"/>
                <a:cs typeface="Calibri" pitchFamily="34" charset="-120"/>
              </a:rPr>
              <a:t> </a:t>
            </a:r>
            <a:r>
              <a:rPr lang="en-US" sz="1100" dirty="0" err="1">
                <a:solidFill>
                  <a:srgbClr val="94A3B8"/>
                </a:solidFill>
                <a:latin typeface="Calibri" pitchFamily="34" charset="0"/>
                <a:ea typeface="Calibri" pitchFamily="34" charset="-122"/>
                <a:cs typeface="Calibri" pitchFamily="34" charset="-120"/>
              </a:rPr>
              <a:t>poptuno</a:t>
            </a:r>
            <a:r>
              <a:rPr lang="en-US" sz="1100" dirty="0">
                <a:solidFill>
                  <a:srgbClr val="94A3B8"/>
                </a:solidFill>
                <a:latin typeface="Calibri" pitchFamily="34" charset="0"/>
                <a:ea typeface="Calibri" pitchFamily="34" charset="-122"/>
                <a:cs typeface="Calibri" pitchFamily="34" charset="-120"/>
              </a:rPr>
              <a:t> ručno. CV pipeline automatski detektuje, prati i klasifikuje. Tim od dvoje upravlja infrastrukturom, </a:t>
            </a:r>
            <a:r>
              <a:rPr lang="en-US" sz="1100" dirty="0" err="1">
                <a:solidFill>
                  <a:srgbClr val="94A3B8"/>
                </a:solidFill>
                <a:latin typeface="Calibri" pitchFamily="34" charset="0"/>
                <a:ea typeface="Calibri" pitchFamily="34" charset="-122"/>
                <a:cs typeface="Calibri" pitchFamily="34" charset="-120"/>
              </a:rPr>
              <a:t>i</a:t>
            </a:r>
            <a:r>
              <a:rPr lang="en-US" sz="1100" dirty="0">
                <a:solidFill>
                  <a:srgbClr val="94A3B8"/>
                </a:solidFill>
                <a:latin typeface="Calibri" pitchFamily="34" charset="0"/>
                <a:ea typeface="Calibri" pitchFamily="34" charset="-122"/>
                <a:cs typeface="Calibri" pitchFamily="34" charset="-120"/>
              </a:rPr>
              <a:t> gleda svaku </a:t>
            </a:r>
            <a:r>
              <a:rPr lang="en-US" sz="1100" dirty="0" err="1">
                <a:solidFill>
                  <a:srgbClr val="94A3B8"/>
                </a:solidFill>
                <a:latin typeface="Calibri" pitchFamily="34" charset="0"/>
                <a:ea typeface="Calibri" pitchFamily="34" charset="-122"/>
                <a:cs typeface="Calibri" pitchFamily="34" charset="-120"/>
              </a:rPr>
              <a:t>utakmicu</a:t>
            </a:r>
            <a:r>
              <a:rPr lang="en-US" sz="1100" dirty="0">
                <a:solidFill>
                  <a:srgbClr val="94A3B8"/>
                </a:solidFill>
                <a:latin typeface="Calibri" pitchFamily="34" charset="0"/>
                <a:ea typeface="Calibri" pitchFamily="34" charset="-122"/>
                <a:cs typeface="Calibri" pitchFamily="34" charset="-120"/>
              </a:rPr>
              <a:t> </a:t>
            </a:r>
            <a:r>
              <a:rPr lang="en-US" sz="1100" dirty="0" err="1">
                <a:solidFill>
                  <a:srgbClr val="94A3B8"/>
                </a:solidFill>
                <a:latin typeface="Calibri" pitchFamily="34" charset="0"/>
                <a:ea typeface="Calibri" pitchFamily="34" charset="-122"/>
                <a:cs typeface="Calibri" pitchFamily="34" charset="-120"/>
              </a:rPr>
              <a:t>samo</a:t>
            </a:r>
            <a:r>
              <a:rPr lang="en-US" sz="1100" dirty="0">
                <a:solidFill>
                  <a:srgbClr val="94A3B8"/>
                </a:solidFill>
                <a:latin typeface="Calibri" pitchFamily="34" charset="0"/>
                <a:ea typeface="Calibri" pitchFamily="34" charset="-122"/>
                <a:cs typeface="Calibri" pitchFamily="34" charset="-120"/>
              </a:rPr>
              <a:t> za </a:t>
            </a:r>
            <a:r>
              <a:rPr lang="en-US" sz="1100" dirty="0" err="1">
                <a:solidFill>
                  <a:srgbClr val="94A3B8"/>
                </a:solidFill>
                <a:latin typeface="Calibri" pitchFamily="34" charset="0"/>
                <a:ea typeface="Calibri" pitchFamily="34" charset="-122"/>
                <a:cs typeface="Calibri" pitchFamily="34" charset="-120"/>
              </a:rPr>
              <a:t>potvrdu</a:t>
            </a:r>
            <a:r>
              <a:rPr lang="en-US" sz="1100" dirty="0">
                <a:solidFill>
                  <a:srgbClr val="94A3B8"/>
                </a:solidFill>
                <a:latin typeface="Calibri" pitchFamily="34" charset="0"/>
                <a:ea typeface="Calibri" pitchFamily="34" charset="-122"/>
                <a:cs typeface="Calibri" pitchFamily="34" charset="-120"/>
              </a:rPr>
              <a:t> </a:t>
            </a:r>
            <a:r>
              <a:rPr lang="en-US" sz="1100" dirty="0" err="1">
                <a:solidFill>
                  <a:srgbClr val="94A3B8"/>
                </a:solidFill>
                <a:latin typeface="Calibri" pitchFamily="34" charset="0"/>
                <a:ea typeface="Calibri" pitchFamily="34" charset="-122"/>
                <a:cs typeface="Calibri" pitchFamily="34" charset="-120"/>
              </a:rPr>
              <a:t>kvaliteta</a:t>
            </a:r>
            <a:r>
              <a:rPr lang="en-US" sz="1100" dirty="0">
                <a:solidFill>
                  <a:srgbClr val="94A3B8"/>
                </a:solidFill>
                <a:latin typeface="Calibri" pitchFamily="34" charset="0"/>
                <a:ea typeface="Calibri" pitchFamily="34" charset="-122"/>
                <a:cs typeface="Calibri" pitchFamily="34" charset="-120"/>
              </a:rPr>
              <a:t> </a:t>
            </a:r>
            <a:r>
              <a:rPr lang="en-US" sz="1100" dirty="0" err="1">
                <a:solidFill>
                  <a:srgbClr val="94A3B8"/>
                </a:solidFill>
                <a:latin typeface="Calibri" pitchFamily="34" charset="0"/>
                <a:ea typeface="Calibri" pitchFamily="34" charset="-122"/>
                <a:cs typeface="Calibri" pitchFamily="34" charset="-120"/>
              </a:rPr>
              <a:t>i</a:t>
            </a:r>
            <a:r>
              <a:rPr lang="en-US" sz="1100" dirty="0">
                <a:solidFill>
                  <a:srgbClr val="94A3B8"/>
                </a:solidFill>
                <a:latin typeface="Calibri" pitchFamily="34" charset="0"/>
                <a:ea typeface="Calibri" pitchFamily="34" charset="-122"/>
                <a:cs typeface="Calibri" pitchFamily="34" charset="-120"/>
              </a:rPr>
              <a:t> </a:t>
            </a:r>
            <a:r>
              <a:rPr lang="en-US" sz="1100" dirty="0" err="1">
                <a:solidFill>
                  <a:srgbClr val="94A3B8"/>
                </a:solidFill>
                <a:latin typeface="Calibri" pitchFamily="34" charset="0"/>
                <a:ea typeface="Calibri" pitchFamily="34" charset="-122"/>
                <a:cs typeface="Calibri" pitchFamily="34" charset="-120"/>
              </a:rPr>
              <a:t>manje</a:t>
            </a:r>
            <a:r>
              <a:rPr lang="en-US" sz="1100" dirty="0">
                <a:solidFill>
                  <a:srgbClr val="94A3B8"/>
                </a:solidFill>
                <a:latin typeface="Calibri" pitchFamily="34" charset="0"/>
                <a:ea typeface="Calibri" pitchFamily="34" charset="-122"/>
                <a:cs typeface="Calibri" pitchFamily="34" charset="-120"/>
              </a:rPr>
              <a:t> </a:t>
            </a:r>
            <a:r>
              <a:rPr lang="en-US" sz="1100" dirty="0" err="1">
                <a:solidFill>
                  <a:srgbClr val="94A3B8"/>
                </a:solidFill>
                <a:latin typeface="Calibri" pitchFamily="34" charset="0"/>
                <a:ea typeface="Calibri" pitchFamily="34" charset="-122"/>
                <a:cs typeface="Calibri" pitchFamily="34" charset="-120"/>
              </a:rPr>
              <a:t>ispravke</a:t>
            </a:r>
            <a:r>
              <a:rPr lang="en-US" sz="1100" dirty="0">
                <a:solidFill>
                  <a:srgbClr val="94A3B8"/>
                </a:solidFill>
                <a:latin typeface="Calibri" pitchFamily="34" charset="0"/>
                <a:ea typeface="Calibri" pitchFamily="34" charset="-122"/>
                <a:cs typeface="Calibri" pitchFamily="34" charset="-120"/>
              </a:rPr>
              <a:t>.</a:t>
            </a:r>
            <a:endParaRPr lang="en-US" sz="1100" dirty="0"/>
          </a:p>
          <a:p>
            <a:pPr marL="0" indent="0">
              <a:buNone/>
            </a:pPr>
            <a:endParaRPr lang="en-US" sz="700" dirty="0"/>
          </a:p>
          <a:p>
            <a:pPr marL="0" indent="0">
              <a:spcBef>
                <a:spcPts val="200"/>
              </a:spcBef>
              <a:buNone/>
            </a:pPr>
            <a:r>
              <a:rPr lang="en-US" sz="1100" dirty="0">
                <a:solidFill>
                  <a:srgbClr val="94A3B8"/>
                </a:solidFill>
                <a:latin typeface="Calibri" pitchFamily="34" charset="0"/>
                <a:ea typeface="Calibri" pitchFamily="34" charset="-122"/>
                <a:cs typeface="Calibri" pitchFamily="34" charset="-120"/>
              </a:rPr>
              <a:t>03  </a:t>
            </a:r>
            <a:r>
              <a:rPr lang="en-US" sz="1100" dirty="0" err="1">
                <a:solidFill>
                  <a:srgbClr val="94A3B8"/>
                </a:solidFill>
                <a:latin typeface="Calibri" pitchFamily="34" charset="0"/>
                <a:ea typeface="Calibri" pitchFamily="34" charset="-122"/>
                <a:cs typeface="Calibri" pitchFamily="34" charset="-120"/>
              </a:rPr>
              <a:t>Stalni</a:t>
            </a:r>
            <a:r>
              <a:rPr lang="en-US" sz="1100" dirty="0">
                <a:solidFill>
                  <a:srgbClr val="94A3B8"/>
                </a:solidFill>
                <a:latin typeface="Calibri" pitchFamily="34" charset="0"/>
                <a:ea typeface="Calibri" pitchFamily="34" charset="-122"/>
                <a:cs typeface="Calibri" pitchFamily="34" charset="-120"/>
              </a:rPr>
              <a:t> </a:t>
            </a:r>
            <a:r>
              <a:rPr lang="en-US" sz="1100" dirty="0" err="1">
                <a:solidFill>
                  <a:srgbClr val="94A3B8"/>
                </a:solidFill>
                <a:latin typeface="Calibri" pitchFamily="34" charset="0"/>
                <a:ea typeface="Calibri" pitchFamily="34" charset="-122"/>
                <a:cs typeface="Calibri" pitchFamily="34" charset="-120"/>
              </a:rPr>
              <a:t>tim</a:t>
            </a:r>
            <a:r>
              <a:rPr lang="en-US" sz="1100" dirty="0">
                <a:solidFill>
                  <a:srgbClr val="94A3B8"/>
                </a:solidFill>
                <a:latin typeface="Calibri" pitchFamily="34" charset="0"/>
                <a:ea typeface="Calibri" pitchFamily="34" charset="-122"/>
                <a:cs typeface="Calibri" pitchFamily="34" charset="-120"/>
              </a:rPr>
              <a:t> koji </a:t>
            </a:r>
            <a:r>
              <a:rPr lang="en-US" sz="1100" dirty="0" err="1">
                <a:solidFill>
                  <a:srgbClr val="94A3B8"/>
                </a:solidFill>
                <a:latin typeface="Calibri" pitchFamily="34" charset="0"/>
                <a:ea typeface="Calibri" pitchFamily="34" charset="-122"/>
                <a:cs typeface="Calibri" pitchFamily="34" charset="-120"/>
              </a:rPr>
              <a:t>odgovara</a:t>
            </a:r>
            <a:r>
              <a:rPr lang="en-US" sz="1100" dirty="0">
                <a:solidFill>
                  <a:srgbClr val="94A3B8"/>
                </a:solidFill>
                <a:latin typeface="Calibri" pitchFamily="34" charset="0"/>
                <a:ea typeface="Calibri" pitchFamily="34" charset="-122"/>
                <a:cs typeface="Calibri" pitchFamily="34" charset="-120"/>
              </a:rPr>
              <a:t> </a:t>
            </a:r>
            <a:r>
              <a:rPr lang="en-US" sz="1100" dirty="0" err="1">
                <a:solidFill>
                  <a:srgbClr val="94A3B8"/>
                </a:solidFill>
                <a:latin typeface="Calibri" pitchFamily="34" charset="0"/>
                <a:ea typeface="Calibri" pitchFamily="34" charset="-122"/>
                <a:cs typeface="Calibri" pitchFamily="34" charset="-120"/>
              </a:rPr>
              <a:t>rukovodstvu</a:t>
            </a:r>
            <a:r>
              <a:rPr lang="en-US" sz="1100" dirty="0">
                <a:solidFill>
                  <a:srgbClr val="94A3B8"/>
                </a:solidFill>
                <a:latin typeface="Calibri" pitchFamily="34" charset="0"/>
                <a:ea typeface="Calibri" pitchFamily="34" charset="-122"/>
                <a:cs typeface="Calibri" pitchFamily="34" charset="-120"/>
              </a:rPr>
              <a:t> — neko kome uvijek možete doći s pitanjem, a ne firma koja šalje izvještaj jednom </a:t>
            </a:r>
            <a:r>
              <a:rPr lang="en-US" sz="1100" dirty="0" err="1">
                <a:solidFill>
                  <a:srgbClr val="94A3B8"/>
                </a:solidFill>
                <a:latin typeface="Calibri" pitchFamily="34" charset="0"/>
                <a:ea typeface="Calibri" pitchFamily="34" charset="-122"/>
                <a:cs typeface="Calibri" pitchFamily="34" charset="-120"/>
              </a:rPr>
              <a:t>kvartalno</a:t>
            </a:r>
            <a:r>
              <a:rPr lang="en-US" sz="1100" dirty="0">
                <a:solidFill>
                  <a:srgbClr val="94A3B8"/>
                </a:solidFill>
                <a:latin typeface="Calibri" pitchFamily="34" charset="0"/>
                <a:ea typeface="Calibri" pitchFamily="34" charset="-122"/>
                <a:cs typeface="Calibri" pitchFamily="34" charset="-120"/>
              </a:rPr>
              <a:t>.</a:t>
            </a:r>
            <a:endParaRPr lang="en-US" sz="1100" dirty="0"/>
          </a:p>
        </p:txBody>
      </p:sp>
      <p:sp>
        <p:nvSpPr>
          <p:cNvPr id="19" name="Text 17"/>
          <p:cNvSpPr/>
          <p:nvPr/>
        </p:nvSpPr>
        <p:spPr>
          <a:xfrm>
            <a:off x="457200" y="4777740"/>
            <a:ext cx="5486400" cy="274320"/>
          </a:xfrm>
          <a:prstGeom prst="rect">
            <a:avLst/>
          </a:prstGeom>
          <a:noFill/>
          <a:ln/>
        </p:spPr>
        <p:txBody>
          <a:bodyPr wrap="square" lIns="0" tIns="0" rIns="0" bIns="0" rtlCol="0" anchor="ctr"/>
          <a:lstStyle/>
          <a:p>
            <a:pPr marL="0" indent="0">
              <a:buNone/>
            </a:pPr>
            <a:r>
              <a:rPr lang="en-US" sz="800" b="1" kern="0" spc="300" dirty="0">
                <a:solidFill>
                  <a:srgbClr val="64748B"/>
                </a:solidFill>
                <a:latin typeface="Calibri" pitchFamily="34" charset="0"/>
                <a:ea typeface="Calibri" pitchFamily="34" charset="-122"/>
                <a:cs typeface="Calibri" pitchFamily="34" charset="-120"/>
              </a:rPr>
              <a:t>ANALITIKA PODATAKA ZA CRNOGORSKI FUDBAL</a:t>
            </a:r>
            <a:endParaRPr lang="en-US" sz="800" dirty="0"/>
          </a:p>
        </p:txBody>
      </p:sp>
      <p:sp>
        <p:nvSpPr>
          <p:cNvPr id="20" name="Text 18"/>
          <p:cNvSpPr/>
          <p:nvPr/>
        </p:nvSpPr>
        <p:spPr>
          <a:xfrm>
            <a:off x="7955280" y="4777740"/>
            <a:ext cx="9144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11 / 21</a:t>
            </a:r>
            <a:endParaRPr lang="en-US" sz="900" dirty="0"/>
          </a:p>
        </p:txBody>
      </p:sp>
      <p:sp>
        <p:nvSpPr>
          <p:cNvPr id="22" name="Text 4">
            <a:extLst>
              <a:ext uri="{FF2B5EF4-FFF2-40B4-BE49-F238E27FC236}">
                <a16:creationId xmlns:a16="http://schemas.microsoft.com/office/drawing/2014/main" id="{6D8B6EDD-E1E5-E31D-21F9-579FC23256D5}"/>
              </a:ext>
            </a:extLst>
          </p:cNvPr>
          <p:cNvSpPr/>
          <p:nvPr/>
        </p:nvSpPr>
        <p:spPr>
          <a:xfrm>
            <a:off x="1316081" y="3862854"/>
            <a:ext cx="2926080" cy="256032"/>
          </a:xfrm>
          <a:prstGeom prst="rect">
            <a:avLst/>
          </a:prstGeom>
          <a:noFill/>
          <a:ln/>
        </p:spPr>
        <p:txBody>
          <a:bodyPr wrap="square" lIns="0" tIns="0" rIns="0" bIns="0" rtlCol="0" anchor="ctr"/>
          <a:lstStyle/>
          <a:p>
            <a:pPr marL="0" indent="0">
              <a:buNone/>
            </a:pPr>
            <a:r>
              <a:rPr lang="en-US" sz="1000" b="1" kern="0" spc="200" dirty="0">
                <a:solidFill>
                  <a:srgbClr val="22C55E"/>
                </a:solidFill>
                <a:latin typeface="Calibri" pitchFamily="34" charset="0"/>
                <a:ea typeface="Calibri" pitchFamily="34" charset="-122"/>
                <a:cs typeface="Calibri" pitchFamily="34" charset="-120"/>
              </a:rPr>
              <a:t>ŠEF ANALITIKE PODATAKA</a:t>
            </a:r>
            <a:endParaRPr lang="en-US" sz="1000" dirty="0"/>
          </a:p>
        </p:txBody>
      </p:sp>
      <p:sp>
        <p:nvSpPr>
          <p:cNvPr id="23" name="Text 6">
            <a:extLst>
              <a:ext uri="{FF2B5EF4-FFF2-40B4-BE49-F238E27FC236}">
                <a16:creationId xmlns:a16="http://schemas.microsoft.com/office/drawing/2014/main" id="{0F3398C6-47DB-7820-789B-B9A74273D1BC}"/>
              </a:ext>
            </a:extLst>
          </p:cNvPr>
          <p:cNvSpPr/>
          <p:nvPr/>
        </p:nvSpPr>
        <p:spPr>
          <a:xfrm>
            <a:off x="1316081" y="4205753"/>
            <a:ext cx="3089364" cy="320041"/>
          </a:xfrm>
          <a:prstGeom prst="rect">
            <a:avLst/>
          </a:prstGeom>
          <a:noFill/>
          <a:ln/>
        </p:spPr>
        <p:txBody>
          <a:bodyPr wrap="square" lIns="0" tIns="0" rIns="0" bIns="0" rtlCol="0" anchor="ctr"/>
          <a:lstStyle/>
          <a:p>
            <a:pPr marL="0" indent="0" algn="ctr">
              <a:buNone/>
            </a:pPr>
            <a:r>
              <a:rPr lang="en-US" sz="900" dirty="0">
                <a:solidFill>
                  <a:srgbClr val="94A3B8"/>
                </a:solidFill>
                <a:latin typeface="Calibri" pitchFamily="34" charset="0"/>
                <a:ea typeface="Calibri" pitchFamily="34" charset="-122"/>
                <a:cs typeface="Calibri" pitchFamily="34" charset="-120"/>
              </a:rPr>
              <a:t>inženjer · strategija · partnerstva · prijave za grantove · edukacija i seminari</a:t>
            </a:r>
            <a:endParaRPr lang="en-US" sz="900" dirty="0"/>
          </a:p>
        </p:txBody>
      </p:sp>
      <p:sp>
        <p:nvSpPr>
          <p:cNvPr id="24" name="Shape 7">
            <a:extLst>
              <a:ext uri="{FF2B5EF4-FFF2-40B4-BE49-F238E27FC236}">
                <a16:creationId xmlns:a16="http://schemas.microsoft.com/office/drawing/2014/main" id="{8227CCAA-DFC7-D2FA-2243-936210060EFB}"/>
              </a:ext>
            </a:extLst>
          </p:cNvPr>
          <p:cNvSpPr/>
          <p:nvPr/>
        </p:nvSpPr>
        <p:spPr>
          <a:xfrm flipH="1">
            <a:off x="4571998" y="4190730"/>
            <a:ext cx="457201" cy="0"/>
          </a:xfrm>
          <a:prstGeom prst="line">
            <a:avLst/>
          </a:prstGeom>
          <a:noFill/>
          <a:ln w="19050">
            <a:solidFill>
              <a:srgbClr val="243049"/>
            </a:solidFill>
            <a:prstDash val="solid"/>
          </a:ln>
        </p:spPr>
        <p:txBody>
          <a:bodyPr/>
          <a:lstStyle/>
          <a:p>
            <a:endParaRPr/>
          </a:p>
        </p:txBody>
      </p:sp>
      <p:sp>
        <p:nvSpPr>
          <p:cNvPr id="25" name="Shape 11">
            <a:extLst>
              <a:ext uri="{FF2B5EF4-FFF2-40B4-BE49-F238E27FC236}">
                <a16:creationId xmlns:a16="http://schemas.microsoft.com/office/drawing/2014/main" id="{8F95D02F-B985-8613-B871-3AB7A6DF4116}"/>
              </a:ext>
            </a:extLst>
          </p:cNvPr>
          <p:cNvSpPr/>
          <p:nvPr/>
        </p:nvSpPr>
        <p:spPr>
          <a:xfrm>
            <a:off x="5029198" y="3768803"/>
            <a:ext cx="3566160" cy="901989"/>
          </a:xfrm>
          <a:prstGeom prst="rect">
            <a:avLst/>
          </a:prstGeom>
          <a:solidFill>
            <a:srgbClr val="141B2E"/>
          </a:solidFill>
          <a:ln w="12700">
            <a:solidFill>
              <a:srgbClr val="243049"/>
            </a:solidFill>
            <a:prstDash val="solid"/>
          </a:ln>
        </p:spPr>
        <p:txBody>
          <a:bodyPr/>
          <a:lstStyle/>
          <a:p>
            <a:endParaRPr/>
          </a:p>
        </p:txBody>
      </p:sp>
      <p:sp>
        <p:nvSpPr>
          <p:cNvPr id="26" name="Text 12">
            <a:extLst>
              <a:ext uri="{FF2B5EF4-FFF2-40B4-BE49-F238E27FC236}">
                <a16:creationId xmlns:a16="http://schemas.microsoft.com/office/drawing/2014/main" id="{BE964FAF-823C-6548-00A2-6A4E48ACE693}"/>
              </a:ext>
            </a:extLst>
          </p:cNvPr>
          <p:cNvSpPr/>
          <p:nvPr/>
        </p:nvSpPr>
        <p:spPr>
          <a:xfrm>
            <a:off x="5293721" y="3849793"/>
            <a:ext cx="3200400" cy="256032"/>
          </a:xfrm>
          <a:prstGeom prst="rect">
            <a:avLst/>
          </a:prstGeom>
          <a:noFill/>
          <a:ln/>
        </p:spPr>
        <p:txBody>
          <a:bodyPr wrap="square" lIns="0" tIns="0" rIns="0" bIns="0" rtlCol="0" anchor="ctr"/>
          <a:lstStyle/>
          <a:p>
            <a:pPr marL="0" indent="0">
              <a:buNone/>
            </a:pPr>
            <a:r>
              <a:rPr lang="en-US" sz="1000" b="1" kern="0" spc="200" dirty="0">
                <a:solidFill>
                  <a:srgbClr val="22C55E"/>
                </a:solidFill>
                <a:latin typeface="Calibri" pitchFamily="34" charset="0"/>
                <a:ea typeface="Calibri" pitchFamily="34" charset="-122"/>
                <a:cs typeface="Calibri" pitchFamily="34" charset="-120"/>
              </a:rPr>
              <a:t>MLAĐI INŽENJER/ANALITIČAR</a:t>
            </a:r>
            <a:endParaRPr lang="en-US" sz="1000" dirty="0"/>
          </a:p>
        </p:txBody>
      </p:sp>
      <p:sp>
        <p:nvSpPr>
          <p:cNvPr id="27" name="Text 13">
            <a:extLst>
              <a:ext uri="{FF2B5EF4-FFF2-40B4-BE49-F238E27FC236}">
                <a16:creationId xmlns:a16="http://schemas.microsoft.com/office/drawing/2014/main" id="{02DB6EB6-2BC9-4C6F-5C10-19C0527CFD6F}"/>
              </a:ext>
            </a:extLst>
          </p:cNvPr>
          <p:cNvSpPr/>
          <p:nvPr/>
        </p:nvSpPr>
        <p:spPr>
          <a:xfrm>
            <a:off x="5248001" y="4206408"/>
            <a:ext cx="3200400" cy="378823"/>
          </a:xfrm>
          <a:prstGeom prst="rect">
            <a:avLst/>
          </a:prstGeom>
          <a:noFill/>
          <a:ln/>
        </p:spPr>
        <p:txBody>
          <a:bodyPr wrap="square" lIns="0" tIns="0" rIns="0" bIns="0" rtlCol="0" anchor="ctr"/>
          <a:lstStyle/>
          <a:p>
            <a:pPr marL="0" indent="0" algn="ctr">
              <a:buNone/>
            </a:pPr>
            <a:r>
              <a:rPr lang="en-US" sz="900" dirty="0">
                <a:solidFill>
                  <a:srgbClr val="94A3B8"/>
                </a:solidFill>
                <a:latin typeface="Calibri" pitchFamily="34" charset="0"/>
                <a:ea typeface="Calibri" pitchFamily="34" charset="-122"/>
                <a:cs typeface="Calibri" pitchFamily="34" charset="-120"/>
              </a:rPr>
              <a:t>izgradnja infrastrukture · kvalitet podataka · </a:t>
            </a:r>
            <a:r>
              <a:rPr lang="en-US" sz="900" dirty="0" err="1">
                <a:solidFill>
                  <a:srgbClr val="94A3B8"/>
                </a:solidFill>
                <a:latin typeface="Calibri" pitchFamily="34" charset="0"/>
                <a:ea typeface="Calibri" pitchFamily="34" charset="-122"/>
                <a:cs typeface="Calibri" pitchFamily="34" charset="-120"/>
              </a:rPr>
              <a:t>označavanje</a:t>
            </a:r>
            <a:r>
              <a:rPr lang="en-US" sz="900" dirty="0">
                <a:solidFill>
                  <a:srgbClr val="94A3B8"/>
                </a:solidFill>
                <a:latin typeface="Calibri" pitchFamily="34" charset="0"/>
                <a:ea typeface="Calibri" pitchFamily="34" charset="-122"/>
                <a:cs typeface="Calibri" pitchFamily="34" charset="-120"/>
              </a:rPr>
              <a:t> </a:t>
            </a:r>
            <a:r>
              <a:rPr lang="en-US" sz="900" dirty="0" err="1">
                <a:solidFill>
                  <a:srgbClr val="94A3B8"/>
                </a:solidFill>
                <a:latin typeface="Calibri" pitchFamily="34" charset="0"/>
                <a:ea typeface="Calibri" pitchFamily="34" charset="-122"/>
                <a:cs typeface="Calibri" pitchFamily="34" charset="-120"/>
              </a:rPr>
              <a:t>događaja</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0A0F1C"/>
        </a:solidFill>
        <a:effectLst/>
      </p:bgPr>
    </p:bg>
    <p:spTree>
      <p:nvGrpSpPr>
        <p:cNvPr id="1" name=""/>
        <p:cNvGrpSpPr/>
        <p:nvPr/>
      </p:nvGrpSpPr>
      <p:grpSpPr>
        <a:xfrm>
          <a:off x="0" y="0"/>
          <a:ext cx="0" cy="0"/>
          <a:chOff x="0" y="0"/>
          <a:chExt cx="0" cy="0"/>
        </a:xfrm>
      </p:grpSpPr>
      <p:sp>
        <p:nvSpPr>
          <p:cNvPr id="2" name="Shape 0"/>
          <p:cNvSpPr/>
          <p:nvPr/>
        </p:nvSpPr>
        <p:spPr>
          <a:xfrm>
            <a:off x="457200" y="411480"/>
            <a:ext cx="164592" cy="164592"/>
          </a:xfrm>
          <a:prstGeom prst="rect">
            <a:avLst/>
          </a:prstGeom>
          <a:solidFill>
            <a:srgbClr val="22C55E"/>
          </a:solidFill>
          <a:ln w="12700">
            <a:solidFill>
              <a:srgbClr val="22C55E"/>
            </a:solidFill>
            <a:prstDash val="solid"/>
          </a:ln>
        </p:spPr>
        <p:txBody>
          <a:bodyPr/>
          <a:lstStyle/>
          <a:p>
            <a:endParaRPr/>
          </a:p>
        </p:txBody>
      </p:sp>
      <p:sp>
        <p:nvSpPr>
          <p:cNvPr id="3" name="Text 1"/>
          <p:cNvSpPr/>
          <p:nvPr/>
        </p:nvSpPr>
        <p:spPr>
          <a:xfrm>
            <a:off x="749808" y="384048"/>
            <a:ext cx="7315200" cy="228600"/>
          </a:xfrm>
          <a:prstGeom prst="rect">
            <a:avLst/>
          </a:prstGeom>
          <a:noFill/>
          <a:ln/>
        </p:spPr>
        <p:txBody>
          <a:bodyPr wrap="square" lIns="0" tIns="0" rIns="0" bIns="0" rtlCol="0" anchor="ctr"/>
          <a:lstStyle/>
          <a:p>
            <a:pPr marL="0" indent="0">
              <a:buNone/>
            </a:pPr>
            <a:r>
              <a:rPr lang="en-US" sz="1000" b="1" kern="0" spc="400" dirty="0">
                <a:solidFill>
                  <a:srgbClr val="22C55E"/>
                </a:solidFill>
                <a:latin typeface="Calibri" pitchFamily="34" charset="0"/>
                <a:ea typeface="Calibri" pitchFamily="34" charset="-122"/>
                <a:cs typeface="Calibri" pitchFamily="34" charset="-120"/>
              </a:rPr>
              <a:t>REZULTATI 1. GODINE</a:t>
            </a:r>
            <a:endParaRPr lang="en-US" sz="1000" dirty="0"/>
          </a:p>
        </p:txBody>
      </p:sp>
      <p:sp>
        <p:nvSpPr>
          <p:cNvPr id="4" name="Text 2"/>
          <p:cNvSpPr/>
          <p:nvPr/>
        </p:nvSpPr>
        <p:spPr>
          <a:xfrm>
            <a:off x="457200" y="685800"/>
            <a:ext cx="8229600" cy="640080"/>
          </a:xfrm>
          <a:prstGeom prst="rect">
            <a:avLst/>
          </a:prstGeom>
          <a:noFill/>
          <a:ln/>
        </p:spPr>
        <p:txBody>
          <a:bodyPr wrap="square" lIns="0" tIns="0" rIns="0" bIns="0" rtlCol="0" anchor="ctr"/>
          <a:lstStyle/>
          <a:p>
            <a:pPr marL="0" indent="0">
              <a:buNone/>
            </a:pPr>
            <a:r>
              <a:rPr lang="en-US" sz="2600" b="1" dirty="0">
                <a:solidFill>
                  <a:srgbClr val="F8FAFC"/>
                </a:solidFill>
                <a:latin typeface="Calibri" pitchFamily="34" charset="0"/>
                <a:ea typeface="Calibri" pitchFamily="34" charset="-122"/>
                <a:cs typeface="Calibri" pitchFamily="34" charset="-120"/>
              </a:rPr>
              <a:t>Šta odjeljenje isporučuje</a:t>
            </a:r>
            <a:endParaRPr lang="en-US" sz="2600" dirty="0"/>
          </a:p>
        </p:txBody>
      </p:sp>
      <p:sp>
        <p:nvSpPr>
          <p:cNvPr id="5" name="Shape 3"/>
          <p:cNvSpPr/>
          <p:nvPr/>
        </p:nvSpPr>
        <p:spPr>
          <a:xfrm>
            <a:off x="292608" y="1508760"/>
            <a:ext cx="2057400" cy="3063240"/>
          </a:xfrm>
          <a:prstGeom prst="rect">
            <a:avLst/>
          </a:prstGeom>
          <a:solidFill>
            <a:srgbClr val="141B2E"/>
          </a:solidFill>
          <a:ln w="12700">
            <a:solidFill>
              <a:srgbClr val="243049"/>
            </a:solidFill>
            <a:prstDash val="solid"/>
          </a:ln>
        </p:spPr>
        <p:txBody>
          <a:bodyPr/>
          <a:lstStyle/>
          <a:p>
            <a:endParaRPr/>
          </a:p>
        </p:txBody>
      </p:sp>
      <p:pic>
        <p:nvPicPr>
          <p:cNvPr id="6" name="Image 0" descr="preencoded.png"/>
          <p:cNvPicPr>
            <a:picLocks noChangeAspect="1"/>
          </p:cNvPicPr>
          <p:nvPr/>
        </p:nvPicPr>
        <p:blipFill>
          <a:blip r:embed="rId3"/>
          <a:stretch>
            <a:fillRect/>
          </a:stretch>
        </p:blipFill>
        <p:spPr>
          <a:xfrm>
            <a:off x="475488" y="1709928"/>
            <a:ext cx="292608" cy="292608"/>
          </a:xfrm>
          <a:prstGeom prst="rect">
            <a:avLst/>
          </a:prstGeom>
        </p:spPr>
      </p:pic>
      <p:sp>
        <p:nvSpPr>
          <p:cNvPr id="7" name="Text 4"/>
          <p:cNvSpPr/>
          <p:nvPr/>
        </p:nvSpPr>
        <p:spPr>
          <a:xfrm>
            <a:off x="475488" y="2057400"/>
            <a:ext cx="1691640" cy="292608"/>
          </a:xfrm>
          <a:prstGeom prst="rect">
            <a:avLst/>
          </a:prstGeom>
          <a:noFill/>
          <a:ln/>
        </p:spPr>
        <p:txBody>
          <a:bodyPr wrap="square" lIns="0" tIns="0" rIns="0" bIns="0" rtlCol="0" anchor="ctr"/>
          <a:lstStyle/>
          <a:p>
            <a:pPr marL="0" indent="0">
              <a:buNone/>
            </a:pPr>
            <a:r>
              <a:rPr lang="en-US" sz="1000" b="1" kern="0" spc="200" dirty="0">
                <a:solidFill>
                  <a:srgbClr val="F8FAFC"/>
                </a:solidFill>
                <a:latin typeface="Calibri" pitchFamily="34" charset="0"/>
                <a:ea typeface="Calibri" pitchFamily="34" charset="-122"/>
                <a:cs typeface="Calibri" pitchFamily="34" charset="-120"/>
              </a:rPr>
              <a:t>NACIONALNI TIM</a:t>
            </a:r>
            <a:endParaRPr lang="en-US" sz="1000" dirty="0"/>
          </a:p>
        </p:txBody>
      </p:sp>
      <p:sp>
        <p:nvSpPr>
          <p:cNvPr id="8" name="Shape 5"/>
          <p:cNvSpPr/>
          <p:nvPr/>
        </p:nvSpPr>
        <p:spPr>
          <a:xfrm>
            <a:off x="475488" y="2377440"/>
            <a:ext cx="457200" cy="0"/>
          </a:xfrm>
          <a:prstGeom prst="line">
            <a:avLst/>
          </a:prstGeom>
          <a:noFill/>
          <a:ln w="19050">
            <a:solidFill>
              <a:srgbClr val="22C55E"/>
            </a:solidFill>
            <a:prstDash val="solid"/>
          </a:ln>
        </p:spPr>
        <p:txBody>
          <a:bodyPr/>
          <a:lstStyle/>
          <a:p>
            <a:endParaRPr/>
          </a:p>
        </p:txBody>
      </p:sp>
      <p:sp>
        <p:nvSpPr>
          <p:cNvPr id="9" name="Text 6"/>
          <p:cNvSpPr/>
          <p:nvPr/>
        </p:nvSpPr>
        <p:spPr>
          <a:xfrm>
            <a:off x="475488" y="2514600"/>
            <a:ext cx="1691640" cy="1965960"/>
          </a:xfrm>
          <a:prstGeom prst="rect">
            <a:avLst/>
          </a:prstGeom>
          <a:noFill/>
          <a:ln/>
        </p:spPr>
        <p:txBody>
          <a:bodyPr wrap="square" lIns="0" tIns="0" rIns="0" bIns="0" rtlCol="0" anchor="t"/>
          <a:lstStyle/>
          <a:p>
            <a:pPr marL="171450" indent="-171450">
              <a:buFont typeface="Arial" panose="020B0604020202020204" pitchFamily="34" charset="0"/>
              <a:buChar char="•"/>
            </a:pPr>
            <a:r>
              <a:rPr lang="en-US" sz="1050" dirty="0">
                <a:solidFill>
                  <a:srgbClr val="94A3B8"/>
                </a:solidFill>
                <a:latin typeface="Calibri" pitchFamily="34" charset="0"/>
                <a:ea typeface="Calibri" pitchFamily="34" charset="-122"/>
                <a:cs typeface="Calibri" pitchFamily="34" charset="-120"/>
              </a:rPr>
              <a:t>Profili svakog protivnika sa podacima iz 20+ utakmica — za svaki FIFA prozor
Selektor u realnom vremenu zna ko je u formi i ko zaslužuje poziv iz 1. CFL
Analiza utakmica: podaci koji potvrđuju ili demantuju taktičke odluke</a:t>
            </a:r>
            <a:endParaRPr lang="en-US" sz="1050" dirty="0"/>
          </a:p>
        </p:txBody>
      </p:sp>
      <p:sp>
        <p:nvSpPr>
          <p:cNvPr id="10" name="Shape 7"/>
          <p:cNvSpPr/>
          <p:nvPr/>
        </p:nvSpPr>
        <p:spPr>
          <a:xfrm>
            <a:off x="2459736" y="1508760"/>
            <a:ext cx="2057400" cy="3063240"/>
          </a:xfrm>
          <a:prstGeom prst="rect">
            <a:avLst/>
          </a:prstGeom>
          <a:solidFill>
            <a:srgbClr val="141B2E"/>
          </a:solidFill>
          <a:ln w="12700">
            <a:solidFill>
              <a:srgbClr val="243049"/>
            </a:solidFill>
            <a:prstDash val="solid"/>
          </a:ln>
        </p:spPr>
        <p:txBody>
          <a:bodyPr/>
          <a:lstStyle/>
          <a:p>
            <a:endParaRPr/>
          </a:p>
        </p:txBody>
      </p:sp>
      <p:pic>
        <p:nvPicPr>
          <p:cNvPr id="11" name="Image 1" descr="preencoded.png"/>
          <p:cNvPicPr>
            <a:picLocks noChangeAspect="1"/>
          </p:cNvPicPr>
          <p:nvPr/>
        </p:nvPicPr>
        <p:blipFill>
          <a:blip r:embed="rId4"/>
          <a:stretch>
            <a:fillRect/>
          </a:stretch>
        </p:blipFill>
        <p:spPr>
          <a:xfrm>
            <a:off x="2642616" y="1709928"/>
            <a:ext cx="292608" cy="292608"/>
          </a:xfrm>
          <a:prstGeom prst="rect">
            <a:avLst/>
          </a:prstGeom>
        </p:spPr>
      </p:pic>
      <p:sp>
        <p:nvSpPr>
          <p:cNvPr id="12" name="Text 8"/>
          <p:cNvSpPr/>
          <p:nvPr/>
        </p:nvSpPr>
        <p:spPr>
          <a:xfrm>
            <a:off x="2642616" y="2057400"/>
            <a:ext cx="1691640" cy="292608"/>
          </a:xfrm>
          <a:prstGeom prst="rect">
            <a:avLst/>
          </a:prstGeom>
          <a:noFill/>
          <a:ln/>
        </p:spPr>
        <p:txBody>
          <a:bodyPr wrap="square" lIns="0" tIns="0" rIns="0" bIns="0" rtlCol="0" anchor="ctr"/>
          <a:lstStyle/>
          <a:p>
            <a:pPr marL="0" indent="0">
              <a:buNone/>
            </a:pPr>
            <a:r>
              <a:rPr lang="en-US" sz="1000" b="1" kern="0" spc="200" dirty="0">
                <a:solidFill>
                  <a:srgbClr val="F8FAFC"/>
                </a:solidFill>
                <a:latin typeface="Calibri" pitchFamily="34" charset="0"/>
                <a:ea typeface="Calibri" pitchFamily="34" charset="-122"/>
                <a:cs typeface="Calibri" pitchFamily="34" charset="-120"/>
              </a:rPr>
              <a:t>PODACI 1. CFL</a:t>
            </a:r>
            <a:endParaRPr lang="en-US" sz="1000" dirty="0"/>
          </a:p>
        </p:txBody>
      </p:sp>
      <p:sp>
        <p:nvSpPr>
          <p:cNvPr id="13" name="Shape 9"/>
          <p:cNvSpPr/>
          <p:nvPr/>
        </p:nvSpPr>
        <p:spPr>
          <a:xfrm>
            <a:off x="2642616" y="2377440"/>
            <a:ext cx="457200" cy="0"/>
          </a:xfrm>
          <a:prstGeom prst="line">
            <a:avLst/>
          </a:prstGeom>
          <a:noFill/>
          <a:ln w="19050">
            <a:solidFill>
              <a:srgbClr val="22C55E"/>
            </a:solidFill>
            <a:prstDash val="solid"/>
          </a:ln>
        </p:spPr>
        <p:txBody>
          <a:bodyPr/>
          <a:lstStyle/>
          <a:p>
            <a:endParaRPr/>
          </a:p>
        </p:txBody>
      </p:sp>
      <p:sp>
        <p:nvSpPr>
          <p:cNvPr id="14" name="Text 10"/>
          <p:cNvSpPr/>
          <p:nvPr/>
        </p:nvSpPr>
        <p:spPr>
          <a:xfrm>
            <a:off x="2642616" y="2514600"/>
            <a:ext cx="1691640" cy="1965960"/>
          </a:xfrm>
          <a:prstGeom prst="rect">
            <a:avLst/>
          </a:prstGeom>
          <a:noFill/>
          <a:ln/>
        </p:spPr>
        <p:txBody>
          <a:bodyPr wrap="square" lIns="0" tIns="0" rIns="0" bIns="0" rtlCol="0" anchor="t"/>
          <a:lstStyle/>
          <a:p>
            <a:pPr marL="171450" indent="-171450">
              <a:buFont typeface="Arial" panose="020B0604020202020204" pitchFamily="34" charset="0"/>
              <a:buChar char="•"/>
            </a:pPr>
            <a:r>
              <a:rPr lang="en-US" sz="1050" dirty="0">
                <a:solidFill>
                  <a:srgbClr val="94A3B8"/>
                </a:solidFill>
                <a:latin typeface="Calibri" pitchFamily="34" charset="0"/>
                <a:ea typeface="Calibri" pitchFamily="34" charset="-122"/>
                <a:cs typeface="Calibri" pitchFamily="34" charset="-120"/>
              </a:rPr>
              <a:t>Kompletna baza event podataka za svaku utakmicu 1. CFL u roku 48h — prva takva baza u istoriji crnogorskog fudbala
Sedmični izvještaj svakom klubu — nešto što nijedan klub trenutno ne dobija
Javni profili igrača vidljivi u međunarodnim skauting bazama</a:t>
            </a:r>
            <a:endParaRPr lang="en-US" sz="1050" dirty="0"/>
          </a:p>
        </p:txBody>
      </p:sp>
      <p:sp>
        <p:nvSpPr>
          <p:cNvPr id="15" name="Shape 11"/>
          <p:cNvSpPr/>
          <p:nvPr/>
        </p:nvSpPr>
        <p:spPr>
          <a:xfrm>
            <a:off x="4626864" y="1508760"/>
            <a:ext cx="2057400" cy="3063240"/>
          </a:xfrm>
          <a:prstGeom prst="rect">
            <a:avLst/>
          </a:prstGeom>
          <a:solidFill>
            <a:srgbClr val="141B2E"/>
          </a:solidFill>
          <a:ln w="12700">
            <a:solidFill>
              <a:srgbClr val="243049"/>
            </a:solidFill>
            <a:prstDash val="solid"/>
          </a:ln>
        </p:spPr>
        <p:txBody>
          <a:bodyPr/>
          <a:lstStyle/>
          <a:p>
            <a:endParaRPr/>
          </a:p>
        </p:txBody>
      </p:sp>
      <p:pic>
        <p:nvPicPr>
          <p:cNvPr id="16" name="Image 2" descr="preencoded.png"/>
          <p:cNvPicPr>
            <a:picLocks noChangeAspect="1"/>
          </p:cNvPicPr>
          <p:nvPr/>
        </p:nvPicPr>
        <p:blipFill>
          <a:blip r:embed="rId5"/>
          <a:stretch>
            <a:fillRect/>
          </a:stretch>
        </p:blipFill>
        <p:spPr>
          <a:xfrm>
            <a:off x="4809744" y="1709928"/>
            <a:ext cx="292608" cy="292608"/>
          </a:xfrm>
          <a:prstGeom prst="rect">
            <a:avLst/>
          </a:prstGeom>
        </p:spPr>
      </p:pic>
      <p:sp>
        <p:nvSpPr>
          <p:cNvPr id="17" name="Text 12"/>
          <p:cNvSpPr/>
          <p:nvPr/>
        </p:nvSpPr>
        <p:spPr>
          <a:xfrm>
            <a:off x="4809744" y="2057400"/>
            <a:ext cx="1691640" cy="292608"/>
          </a:xfrm>
          <a:prstGeom prst="rect">
            <a:avLst/>
          </a:prstGeom>
          <a:noFill/>
          <a:ln/>
        </p:spPr>
        <p:txBody>
          <a:bodyPr wrap="square" lIns="0" tIns="0" rIns="0" bIns="0" rtlCol="0" anchor="ctr"/>
          <a:lstStyle/>
          <a:p>
            <a:pPr marL="0" indent="0">
              <a:buNone/>
            </a:pPr>
            <a:r>
              <a:rPr lang="en-US" sz="1000" b="1" kern="0" spc="200" dirty="0">
                <a:solidFill>
                  <a:srgbClr val="F8FAFC"/>
                </a:solidFill>
                <a:latin typeface="Calibri" pitchFamily="34" charset="0"/>
                <a:ea typeface="Calibri" pitchFamily="34" charset="-122"/>
                <a:cs typeface="Calibri" pitchFamily="34" charset="-120"/>
              </a:rPr>
              <a:t>NIVO FEDERACIJE</a:t>
            </a:r>
            <a:endParaRPr lang="en-US" sz="1000" dirty="0"/>
          </a:p>
        </p:txBody>
      </p:sp>
      <p:sp>
        <p:nvSpPr>
          <p:cNvPr id="18" name="Shape 13"/>
          <p:cNvSpPr/>
          <p:nvPr/>
        </p:nvSpPr>
        <p:spPr>
          <a:xfrm>
            <a:off x="4809744" y="2377440"/>
            <a:ext cx="457200" cy="0"/>
          </a:xfrm>
          <a:prstGeom prst="line">
            <a:avLst/>
          </a:prstGeom>
          <a:noFill/>
          <a:ln w="19050">
            <a:solidFill>
              <a:srgbClr val="22C55E"/>
            </a:solidFill>
            <a:prstDash val="solid"/>
          </a:ln>
        </p:spPr>
        <p:txBody>
          <a:bodyPr/>
          <a:lstStyle/>
          <a:p>
            <a:endParaRPr/>
          </a:p>
        </p:txBody>
      </p:sp>
      <p:sp>
        <p:nvSpPr>
          <p:cNvPr id="19" name="Text 14"/>
          <p:cNvSpPr/>
          <p:nvPr/>
        </p:nvSpPr>
        <p:spPr>
          <a:xfrm>
            <a:off x="4809744" y="2514600"/>
            <a:ext cx="1691640" cy="1965960"/>
          </a:xfrm>
          <a:prstGeom prst="rect">
            <a:avLst/>
          </a:prstGeom>
          <a:noFill/>
          <a:ln/>
        </p:spPr>
        <p:txBody>
          <a:bodyPr wrap="square" lIns="0" tIns="0" rIns="0" bIns="0" rtlCol="0" anchor="t"/>
          <a:lstStyle/>
          <a:p>
            <a:pPr marL="171450" indent="-171450">
              <a:buFont typeface="Arial" panose="020B0604020202020204" pitchFamily="34" charset="0"/>
              <a:buChar char="•"/>
            </a:pPr>
            <a:r>
              <a:rPr lang="en-US" sz="1050" dirty="0">
                <a:solidFill>
                  <a:srgbClr val="94A3B8"/>
                </a:solidFill>
                <a:latin typeface="Calibri" pitchFamily="34" charset="0"/>
                <a:ea typeface="Calibri" pitchFamily="34" charset="-122"/>
                <a:cs typeface="Calibri" pitchFamily="34" charset="-120"/>
              </a:rPr>
              <a:t>Dokumentovana osnova za prijave UEFA HatTrick i FIFA Forward grantova
FSCG postaje ravnopravni partner — ne samo korisnik tuđih programa
Dva godišnja seminara za sve klubove 1. CFL — FSCG kao edukativni lider crnogorskog fudbala, ne samo administrator</a:t>
            </a:r>
            <a:endParaRPr lang="en-US" sz="1050" dirty="0"/>
          </a:p>
        </p:txBody>
      </p:sp>
      <p:sp>
        <p:nvSpPr>
          <p:cNvPr id="20" name="Shape 15"/>
          <p:cNvSpPr/>
          <p:nvPr/>
        </p:nvSpPr>
        <p:spPr>
          <a:xfrm>
            <a:off x="6793992" y="1508760"/>
            <a:ext cx="2057400" cy="3063240"/>
          </a:xfrm>
          <a:prstGeom prst="rect">
            <a:avLst/>
          </a:prstGeom>
          <a:solidFill>
            <a:srgbClr val="141B2E"/>
          </a:solidFill>
          <a:ln w="12700">
            <a:solidFill>
              <a:srgbClr val="243049"/>
            </a:solidFill>
            <a:prstDash val="solid"/>
          </a:ln>
        </p:spPr>
        <p:txBody>
          <a:bodyPr/>
          <a:lstStyle/>
          <a:p>
            <a:endParaRPr/>
          </a:p>
        </p:txBody>
      </p:sp>
      <p:pic>
        <p:nvPicPr>
          <p:cNvPr id="21" name="Image 3" descr="preencoded.png"/>
          <p:cNvPicPr>
            <a:picLocks noChangeAspect="1"/>
          </p:cNvPicPr>
          <p:nvPr/>
        </p:nvPicPr>
        <p:blipFill>
          <a:blip r:embed="rId6"/>
          <a:stretch>
            <a:fillRect/>
          </a:stretch>
        </p:blipFill>
        <p:spPr>
          <a:xfrm>
            <a:off x="6976872" y="1709928"/>
            <a:ext cx="292608" cy="292608"/>
          </a:xfrm>
          <a:prstGeom prst="rect">
            <a:avLst/>
          </a:prstGeom>
        </p:spPr>
      </p:pic>
      <p:sp>
        <p:nvSpPr>
          <p:cNvPr id="22" name="Text 16"/>
          <p:cNvSpPr/>
          <p:nvPr/>
        </p:nvSpPr>
        <p:spPr>
          <a:xfrm>
            <a:off x="6976872" y="2057400"/>
            <a:ext cx="1691640" cy="292608"/>
          </a:xfrm>
          <a:prstGeom prst="rect">
            <a:avLst/>
          </a:prstGeom>
          <a:noFill/>
          <a:ln/>
        </p:spPr>
        <p:txBody>
          <a:bodyPr wrap="square" lIns="0" tIns="0" rIns="0" bIns="0" rtlCol="0" anchor="ctr"/>
          <a:lstStyle/>
          <a:p>
            <a:pPr marL="0" indent="0">
              <a:buNone/>
            </a:pPr>
            <a:r>
              <a:rPr lang="en-US" sz="1000" b="1" kern="0" spc="200" dirty="0">
                <a:solidFill>
                  <a:srgbClr val="F8FAFC"/>
                </a:solidFill>
                <a:latin typeface="Calibri" pitchFamily="34" charset="0"/>
                <a:ea typeface="Calibri" pitchFamily="34" charset="-122"/>
                <a:cs typeface="Calibri" pitchFamily="34" charset="-120"/>
              </a:rPr>
              <a:t>NAVIJAČI, MEDIJI, TV</a:t>
            </a:r>
            <a:endParaRPr lang="en-US" sz="1000" dirty="0"/>
          </a:p>
        </p:txBody>
      </p:sp>
      <p:sp>
        <p:nvSpPr>
          <p:cNvPr id="23" name="Shape 17"/>
          <p:cNvSpPr/>
          <p:nvPr/>
        </p:nvSpPr>
        <p:spPr>
          <a:xfrm>
            <a:off x="6976872" y="2377440"/>
            <a:ext cx="457200" cy="0"/>
          </a:xfrm>
          <a:prstGeom prst="line">
            <a:avLst/>
          </a:prstGeom>
          <a:noFill/>
          <a:ln w="19050">
            <a:solidFill>
              <a:srgbClr val="22C55E"/>
            </a:solidFill>
            <a:prstDash val="solid"/>
          </a:ln>
        </p:spPr>
        <p:txBody>
          <a:bodyPr/>
          <a:lstStyle/>
          <a:p>
            <a:endParaRPr/>
          </a:p>
        </p:txBody>
      </p:sp>
      <p:sp>
        <p:nvSpPr>
          <p:cNvPr id="24" name="Text 18"/>
          <p:cNvSpPr/>
          <p:nvPr/>
        </p:nvSpPr>
        <p:spPr>
          <a:xfrm>
            <a:off x="6976872" y="2514600"/>
            <a:ext cx="1691640" cy="1965960"/>
          </a:xfrm>
          <a:prstGeom prst="rect">
            <a:avLst/>
          </a:prstGeom>
          <a:noFill/>
          <a:ln/>
        </p:spPr>
        <p:txBody>
          <a:bodyPr wrap="square" lIns="0" tIns="0" rIns="0" bIns="0" rtlCol="0" anchor="t"/>
          <a:lstStyle/>
          <a:p>
            <a:pPr marL="171450" indent="-171450">
              <a:buFont typeface="Arial" panose="020B0604020202020204" pitchFamily="34" charset="0"/>
              <a:buChar char="•"/>
            </a:pPr>
            <a:r>
              <a:rPr lang="en-US" sz="1050" dirty="0">
                <a:solidFill>
                  <a:srgbClr val="94A3B8"/>
                </a:solidFill>
                <a:latin typeface="Calibri" pitchFamily="34" charset="0"/>
                <a:ea typeface="Calibri" pitchFamily="34" charset="-122"/>
                <a:cs typeface="Calibri" pitchFamily="34" charset="-120"/>
              </a:rPr>
              <a:t>TV grafike koje se danas plaćaju trećim stranama postaju vlasništvo FSCG
Sadržaj svake nedjelje: mape udaraca, statistike kola, razrada golova
Liga koja privlači investitore, sponzore i međunarodnu pažnju</a:t>
            </a:r>
            <a:endParaRPr lang="en-US" sz="1050" dirty="0"/>
          </a:p>
        </p:txBody>
      </p:sp>
      <p:sp>
        <p:nvSpPr>
          <p:cNvPr id="25" name="Text 19"/>
          <p:cNvSpPr/>
          <p:nvPr/>
        </p:nvSpPr>
        <p:spPr>
          <a:xfrm>
            <a:off x="457200" y="4777740"/>
            <a:ext cx="5486400" cy="274320"/>
          </a:xfrm>
          <a:prstGeom prst="rect">
            <a:avLst/>
          </a:prstGeom>
          <a:noFill/>
          <a:ln/>
        </p:spPr>
        <p:txBody>
          <a:bodyPr wrap="square" lIns="0" tIns="0" rIns="0" bIns="0" rtlCol="0" anchor="ctr"/>
          <a:lstStyle/>
          <a:p>
            <a:pPr marL="0" indent="0">
              <a:buNone/>
            </a:pPr>
            <a:r>
              <a:rPr lang="en-US" sz="800" b="1" kern="0" spc="300" dirty="0">
                <a:solidFill>
                  <a:srgbClr val="64748B"/>
                </a:solidFill>
                <a:latin typeface="Calibri" pitchFamily="34" charset="0"/>
                <a:ea typeface="Calibri" pitchFamily="34" charset="-122"/>
                <a:cs typeface="Calibri" pitchFamily="34" charset="-120"/>
              </a:rPr>
              <a:t>ANALITIKA PODATAKA ZA CRNOGORSKI FUDBAL</a:t>
            </a:r>
            <a:endParaRPr lang="en-US" sz="800" dirty="0"/>
          </a:p>
        </p:txBody>
      </p:sp>
      <p:sp>
        <p:nvSpPr>
          <p:cNvPr id="26" name="Text 20"/>
          <p:cNvSpPr/>
          <p:nvPr/>
        </p:nvSpPr>
        <p:spPr>
          <a:xfrm>
            <a:off x="7955280" y="4777740"/>
            <a:ext cx="9144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13 / 21</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7">
    <p:bg>
      <p:bgPr>
        <a:solidFill>
          <a:srgbClr val="0A0F1C"/>
        </a:solidFill>
        <a:effectLst/>
      </p:bgPr>
    </p:bg>
    <p:spTree>
      <p:nvGrpSpPr>
        <p:cNvPr id="1" name=""/>
        <p:cNvGrpSpPr/>
        <p:nvPr/>
      </p:nvGrpSpPr>
      <p:grpSpPr>
        <a:xfrm>
          <a:off x="0" y="0"/>
          <a:ext cx="0" cy="0"/>
          <a:chOff x="0" y="0"/>
          <a:chExt cx="0" cy="0"/>
        </a:xfrm>
      </p:grpSpPr>
      <p:sp>
        <p:nvSpPr>
          <p:cNvPr id="2" name="Shape 0"/>
          <p:cNvSpPr/>
          <p:nvPr/>
        </p:nvSpPr>
        <p:spPr>
          <a:xfrm>
            <a:off x="457200" y="411480"/>
            <a:ext cx="164592" cy="164592"/>
          </a:xfrm>
          <a:prstGeom prst="rect">
            <a:avLst/>
          </a:prstGeom>
          <a:solidFill>
            <a:srgbClr val="22C55E"/>
          </a:solidFill>
          <a:ln w="12700">
            <a:solidFill>
              <a:srgbClr val="22C55E"/>
            </a:solidFill>
            <a:prstDash val="solid"/>
          </a:ln>
        </p:spPr>
        <p:txBody>
          <a:bodyPr/>
          <a:lstStyle/>
          <a:p>
            <a:endParaRPr/>
          </a:p>
        </p:txBody>
      </p:sp>
      <p:sp>
        <p:nvSpPr>
          <p:cNvPr id="3" name="Text 1"/>
          <p:cNvSpPr/>
          <p:nvPr/>
        </p:nvSpPr>
        <p:spPr>
          <a:xfrm>
            <a:off x="749808" y="384048"/>
            <a:ext cx="7315200" cy="228600"/>
          </a:xfrm>
          <a:prstGeom prst="rect">
            <a:avLst/>
          </a:prstGeom>
          <a:noFill/>
          <a:ln/>
        </p:spPr>
        <p:txBody>
          <a:bodyPr wrap="square" lIns="0" tIns="0" rIns="0" bIns="0" rtlCol="0" anchor="ctr"/>
          <a:lstStyle/>
          <a:p>
            <a:pPr marL="0" indent="0">
              <a:buNone/>
            </a:pPr>
            <a:r>
              <a:rPr lang="en-US" sz="1000" b="1" kern="0" spc="400" dirty="0">
                <a:solidFill>
                  <a:srgbClr val="22C55E"/>
                </a:solidFill>
                <a:latin typeface="Calibri" pitchFamily="34" charset="0"/>
                <a:ea typeface="Calibri" pitchFamily="34" charset="-122"/>
                <a:cs typeface="Calibri" pitchFamily="34" charset="-120"/>
              </a:rPr>
              <a:t>TEMELJ</a:t>
            </a:r>
            <a:endParaRPr lang="en-US" sz="1000" dirty="0"/>
          </a:p>
        </p:txBody>
      </p:sp>
      <p:sp>
        <p:nvSpPr>
          <p:cNvPr id="4" name="Text 2"/>
          <p:cNvSpPr/>
          <p:nvPr/>
        </p:nvSpPr>
        <p:spPr>
          <a:xfrm>
            <a:off x="457200" y="685800"/>
            <a:ext cx="8229600" cy="640080"/>
          </a:xfrm>
          <a:prstGeom prst="rect">
            <a:avLst/>
          </a:prstGeom>
          <a:noFill/>
          <a:ln/>
        </p:spPr>
        <p:txBody>
          <a:bodyPr wrap="square" lIns="0" tIns="0" rIns="0" bIns="0" rtlCol="0" anchor="ctr"/>
          <a:lstStyle/>
          <a:p>
            <a:pPr marL="0" indent="0">
              <a:buNone/>
            </a:pPr>
            <a:r>
              <a:rPr lang="en-US" sz="2600" b="1" dirty="0">
                <a:solidFill>
                  <a:srgbClr val="F8FAFC"/>
                </a:solidFill>
                <a:latin typeface="Calibri" pitchFamily="34" charset="0"/>
                <a:ea typeface="Calibri" pitchFamily="34" charset="-122"/>
                <a:cs typeface="Calibri" pitchFamily="34" charset="-120"/>
              </a:rPr>
              <a:t>Ovo nije prijedlog koji počinje od nule</a:t>
            </a:r>
            <a:endParaRPr lang="en-US" sz="2600" dirty="0"/>
          </a:p>
        </p:txBody>
      </p:sp>
      <p:sp>
        <p:nvSpPr>
          <p:cNvPr id="5" name="Text 3"/>
          <p:cNvSpPr/>
          <p:nvPr/>
        </p:nvSpPr>
        <p:spPr>
          <a:xfrm>
            <a:off x="457200" y="1554480"/>
            <a:ext cx="4572000" cy="274320"/>
          </a:xfrm>
          <a:prstGeom prst="rect">
            <a:avLst/>
          </a:prstGeom>
          <a:noFill/>
          <a:ln/>
        </p:spPr>
        <p:txBody>
          <a:bodyPr wrap="square" lIns="0" tIns="0" rIns="0" bIns="0" rtlCol="0" anchor="ctr"/>
          <a:lstStyle/>
          <a:p>
            <a:pPr marL="0" indent="0">
              <a:buNone/>
            </a:pPr>
            <a:r>
              <a:rPr lang="en-US" sz="1000" b="1" kern="0" spc="300" dirty="0">
                <a:solidFill>
                  <a:srgbClr val="22C55E"/>
                </a:solidFill>
                <a:latin typeface="Calibri" pitchFamily="34" charset="0"/>
                <a:ea typeface="Calibri" pitchFamily="34" charset="-122"/>
                <a:cs typeface="Calibri" pitchFamily="34" charset="-120"/>
              </a:rPr>
              <a:t>TRENUTNO AKTIVNO</a:t>
            </a:r>
            <a:endParaRPr lang="en-US" sz="1000" dirty="0"/>
          </a:p>
        </p:txBody>
      </p:sp>
      <p:pic>
        <p:nvPicPr>
          <p:cNvPr id="6" name="Image 0" descr="preencoded.png"/>
          <p:cNvPicPr>
            <a:picLocks noChangeAspect="1"/>
          </p:cNvPicPr>
          <p:nvPr/>
        </p:nvPicPr>
        <p:blipFill>
          <a:blip r:embed="rId3"/>
          <a:stretch>
            <a:fillRect/>
          </a:stretch>
        </p:blipFill>
        <p:spPr>
          <a:xfrm>
            <a:off x="457200" y="1938528"/>
            <a:ext cx="182880" cy="182880"/>
          </a:xfrm>
          <a:prstGeom prst="rect">
            <a:avLst/>
          </a:prstGeom>
        </p:spPr>
      </p:pic>
      <p:sp>
        <p:nvSpPr>
          <p:cNvPr id="7" name="Text 4"/>
          <p:cNvSpPr/>
          <p:nvPr/>
        </p:nvSpPr>
        <p:spPr>
          <a:xfrm>
            <a:off x="749808" y="1874520"/>
            <a:ext cx="4279392" cy="365760"/>
          </a:xfrm>
          <a:prstGeom prst="rect">
            <a:avLst/>
          </a:prstGeom>
          <a:noFill/>
          <a:ln/>
        </p:spPr>
        <p:txBody>
          <a:bodyPr wrap="square" lIns="0" tIns="0" rIns="0" bIns="0" rtlCol="0" anchor="ctr"/>
          <a:lstStyle/>
          <a:p>
            <a:pPr marL="0" indent="0">
              <a:buNone/>
            </a:pPr>
            <a:r>
              <a:rPr lang="en-US" sz="1100" dirty="0">
                <a:solidFill>
                  <a:srgbClr val="F8FAFC"/>
                </a:solidFill>
                <a:latin typeface="Calibri" pitchFamily="34" charset="0"/>
                <a:ea typeface="Calibri" pitchFamily="34" charset="-122"/>
                <a:cs typeface="Calibri" pitchFamily="34" charset="-120"/>
              </a:rPr>
              <a:t>Igrači i lopta automatski prepoznati na stvarnim snimcima utakmica 1. CFL</a:t>
            </a:r>
            <a:endParaRPr lang="en-US" sz="1100" dirty="0"/>
          </a:p>
        </p:txBody>
      </p:sp>
      <p:pic>
        <p:nvPicPr>
          <p:cNvPr id="8" name="Image 1" descr="preencoded.png"/>
          <p:cNvPicPr>
            <a:picLocks noChangeAspect="1"/>
          </p:cNvPicPr>
          <p:nvPr/>
        </p:nvPicPr>
        <p:blipFill>
          <a:blip r:embed="rId3"/>
          <a:stretch>
            <a:fillRect/>
          </a:stretch>
        </p:blipFill>
        <p:spPr>
          <a:xfrm>
            <a:off x="457200" y="2304288"/>
            <a:ext cx="182880" cy="182880"/>
          </a:xfrm>
          <a:prstGeom prst="rect">
            <a:avLst/>
          </a:prstGeom>
        </p:spPr>
      </p:pic>
      <p:sp>
        <p:nvSpPr>
          <p:cNvPr id="9" name="Text 5"/>
          <p:cNvSpPr/>
          <p:nvPr/>
        </p:nvSpPr>
        <p:spPr>
          <a:xfrm>
            <a:off x="749808" y="2240280"/>
            <a:ext cx="4279392" cy="365760"/>
          </a:xfrm>
          <a:prstGeom prst="rect">
            <a:avLst/>
          </a:prstGeom>
          <a:noFill/>
          <a:ln/>
        </p:spPr>
        <p:txBody>
          <a:bodyPr wrap="square" lIns="0" tIns="0" rIns="0" bIns="0" rtlCol="0" anchor="ctr"/>
          <a:lstStyle/>
          <a:p>
            <a:pPr marL="0" indent="0">
              <a:buNone/>
            </a:pPr>
            <a:r>
              <a:rPr lang="en-US" sz="1100" dirty="0">
                <a:solidFill>
                  <a:srgbClr val="F8FAFC"/>
                </a:solidFill>
                <a:latin typeface="Calibri" pitchFamily="34" charset="0"/>
                <a:ea typeface="Calibri" pitchFamily="34" charset="-122"/>
                <a:cs typeface="Calibri" pitchFamily="34" charset="-120"/>
              </a:rPr>
              <a:t>Svaki igrač praćen neprekidno od početnog udarca do kraja utakmice</a:t>
            </a:r>
            <a:endParaRPr lang="en-US" sz="1100" dirty="0"/>
          </a:p>
        </p:txBody>
      </p:sp>
      <p:pic>
        <p:nvPicPr>
          <p:cNvPr id="10" name="Image 2" descr="preencoded.png"/>
          <p:cNvPicPr>
            <a:picLocks noChangeAspect="1"/>
          </p:cNvPicPr>
          <p:nvPr/>
        </p:nvPicPr>
        <p:blipFill>
          <a:blip r:embed="rId3"/>
          <a:stretch>
            <a:fillRect/>
          </a:stretch>
        </p:blipFill>
        <p:spPr>
          <a:xfrm>
            <a:off x="457200" y="2670048"/>
            <a:ext cx="182880" cy="182880"/>
          </a:xfrm>
          <a:prstGeom prst="rect">
            <a:avLst/>
          </a:prstGeom>
        </p:spPr>
      </p:pic>
      <p:sp>
        <p:nvSpPr>
          <p:cNvPr id="11" name="Text 6"/>
          <p:cNvSpPr/>
          <p:nvPr/>
        </p:nvSpPr>
        <p:spPr>
          <a:xfrm>
            <a:off x="749808" y="2606040"/>
            <a:ext cx="4279392" cy="365760"/>
          </a:xfrm>
          <a:prstGeom prst="rect">
            <a:avLst/>
          </a:prstGeom>
          <a:noFill/>
          <a:ln/>
        </p:spPr>
        <p:txBody>
          <a:bodyPr wrap="square" lIns="0" tIns="0" rIns="0" bIns="0" rtlCol="0" anchor="ctr"/>
          <a:lstStyle/>
          <a:p>
            <a:pPr marL="0" indent="0">
              <a:buNone/>
            </a:pPr>
            <a:r>
              <a:rPr lang="en-US" sz="1100" dirty="0">
                <a:solidFill>
                  <a:srgbClr val="F8FAFC"/>
                </a:solidFill>
                <a:latin typeface="Calibri" pitchFamily="34" charset="0"/>
                <a:ea typeface="Calibri" pitchFamily="34" charset="-122"/>
                <a:cs typeface="Calibri" pitchFamily="34" charset="-120"/>
              </a:rPr>
              <a:t>Sistem ispravno razlikuje igrače svake ekipe — automatski</a:t>
            </a:r>
            <a:endParaRPr lang="en-US" sz="1100" dirty="0"/>
          </a:p>
        </p:txBody>
      </p:sp>
      <p:pic>
        <p:nvPicPr>
          <p:cNvPr id="12" name="Image 3" descr="preencoded.png"/>
          <p:cNvPicPr>
            <a:picLocks noChangeAspect="1"/>
          </p:cNvPicPr>
          <p:nvPr/>
        </p:nvPicPr>
        <p:blipFill>
          <a:blip r:embed="rId3"/>
          <a:stretch>
            <a:fillRect/>
          </a:stretch>
        </p:blipFill>
        <p:spPr>
          <a:xfrm>
            <a:off x="457200" y="3035808"/>
            <a:ext cx="182880" cy="182880"/>
          </a:xfrm>
          <a:prstGeom prst="rect">
            <a:avLst/>
          </a:prstGeom>
        </p:spPr>
      </p:pic>
      <p:sp>
        <p:nvSpPr>
          <p:cNvPr id="13" name="Text 7"/>
          <p:cNvSpPr/>
          <p:nvPr/>
        </p:nvSpPr>
        <p:spPr>
          <a:xfrm>
            <a:off x="749808" y="2971800"/>
            <a:ext cx="4279392" cy="365760"/>
          </a:xfrm>
          <a:prstGeom prst="rect">
            <a:avLst/>
          </a:prstGeom>
          <a:noFill/>
          <a:ln/>
        </p:spPr>
        <p:txBody>
          <a:bodyPr wrap="square" lIns="0" tIns="0" rIns="0" bIns="0" rtlCol="0" anchor="ctr"/>
          <a:lstStyle/>
          <a:p>
            <a:pPr marL="0" indent="0">
              <a:buNone/>
            </a:pPr>
            <a:r>
              <a:rPr lang="en-US" sz="1100" dirty="0">
                <a:solidFill>
                  <a:srgbClr val="F8FAFC"/>
                </a:solidFill>
                <a:latin typeface="Calibri" pitchFamily="34" charset="0"/>
                <a:ea typeface="Calibri" pitchFamily="34" charset="-122"/>
                <a:cs typeface="Calibri" pitchFamily="34" charset="-120"/>
              </a:rPr>
              <a:t>Pozicije igrača mapirane na teren — gdje se ko nalazi, u svakom trenutku</a:t>
            </a:r>
            <a:endParaRPr lang="en-US" sz="1100" dirty="0"/>
          </a:p>
        </p:txBody>
      </p:sp>
      <p:pic>
        <p:nvPicPr>
          <p:cNvPr id="14" name="Image 4" descr="preencoded.png"/>
          <p:cNvPicPr>
            <a:picLocks noChangeAspect="1"/>
          </p:cNvPicPr>
          <p:nvPr/>
        </p:nvPicPr>
        <p:blipFill>
          <a:blip r:embed="rId3"/>
          <a:stretch>
            <a:fillRect/>
          </a:stretch>
        </p:blipFill>
        <p:spPr>
          <a:xfrm>
            <a:off x="457200" y="3401568"/>
            <a:ext cx="182880" cy="182880"/>
          </a:xfrm>
          <a:prstGeom prst="rect">
            <a:avLst/>
          </a:prstGeom>
        </p:spPr>
      </p:pic>
      <p:sp>
        <p:nvSpPr>
          <p:cNvPr id="15" name="Text 8"/>
          <p:cNvSpPr/>
          <p:nvPr/>
        </p:nvSpPr>
        <p:spPr>
          <a:xfrm>
            <a:off x="749808" y="3337560"/>
            <a:ext cx="4279392" cy="365760"/>
          </a:xfrm>
          <a:prstGeom prst="rect">
            <a:avLst/>
          </a:prstGeom>
          <a:noFill/>
          <a:ln/>
        </p:spPr>
        <p:txBody>
          <a:bodyPr wrap="square" lIns="0" tIns="0" rIns="0" bIns="0" rtlCol="0" anchor="ctr"/>
          <a:lstStyle/>
          <a:p>
            <a:pPr marL="0" indent="0">
              <a:buNone/>
            </a:pPr>
            <a:r>
              <a:rPr lang="en-US" sz="1100" dirty="0" err="1">
                <a:solidFill>
                  <a:srgbClr val="F8FAFC"/>
                </a:solidFill>
                <a:latin typeface="Calibri" pitchFamily="34" charset="0"/>
                <a:ea typeface="Calibri" pitchFamily="34" charset="-122"/>
                <a:cs typeface="Calibri" pitchFamily="34" charset="-120"/>
              </a:rPr>
              <a:t>Igra</a:t>
            </a:r>
            <a:r>
              <a:rPr lang="en-US" sz="1100" dirty="0">
                <a:solidFill>
                  <a:srgbClr val="F8FAFC"/>
                </a:solidFill>
                <a:latin typeface="Calibri" pitchFamily="34" charset="0"/>
                <a:ea typeface="Calibri" pitchFamily="34" charset="-122"/>
                <a:cs typeface="Calibri" pitchFamily="34" charset="-120"/>
              </a:rPr>
              <a:t> automatski odvojena od repriza i krupnih planova</a:t>
            </a:r>
            <a:endParaRPr lang="en-US" sz="1100" dirty="0"/>
          </a:p>
        </p:txBody>
      </p:sp>
      <p:pic>
        <p:nvPicPr>
          <p:cNvPr id="16" name="Image 5" descr="preencoded.png"/>
          <p:cNvPicPr>
            <a:picLocks noChangeAspect="1"/>
          </p:cNvPicPr>
          <p:nvPr/>
        </p:nvPicPr>
        <p:blipFill>
          <a:blip r:embed="rId3"/>
          <a:stretch>
            <a:fillRect/>
          </a:stretch>
        </p:blipFill>
        <p:spPr>
          <a:xfrm>
            <a:off x="457200" y="3767328"/>
            <a:ext cx="182880" cy="182880"/>
          </a:xfrm>
          <a:prstGeom prst="rect">
            <a:avLst/>
          </a:prstGeom>
        </p:spPr>
      </p:pic>
      <p:sp>
        <p:nvSpPr>
          <p:cNvPr id="17" name="Text 9"/>
          <p:cNvSpPr/>
          <p:nvPr/>
        </p:nvSpPr>
        <p:spPr>
          <a:xfrm>
            <a:off x="749808" y="3703320"/>
            <a:ext cx="4279392" cy="365760"/>
          </a:xfrm>
          <a:prstGeom prst="rect">
            <a:avLst/>
          </a:prstGeom>
          <a:noFill/>
          <a:ln/>
        </p:spPr>
        <p:txBody>
          <a:bodyPr wrap="square" lIns="0" tIns="0" rIns="0" bIns="0" rtlCol="0" anchor="ctr"/>
          <a:lstStyle/>
          <a:p>
            <a:pPr marL="0" indent="0">
              <a:buNone/>
            </a:pPr>
            <a:r>
              <a:rPr lang="en-US" sz="1100" dirty="0">
                <a:solidFill>
                  <a:srgbClr val="F8FAFC"/>
                </a:solidFill>
                <a:latin typeface="Calibri" pitchFamily="34" charset="0"/>
                <a:ea typeface="Calibri" pitchFamily="34" charset="-122"/>
                <a:cs typeface="Calibri" pitchFamily="34" charset="-120"/>
              </a:rPr>
              <a:t>Statistike prikupljene za svakog igrača u toku tekuće sezone 1. CFL</a:t>
            </a:r>
            <a:endParaRPr lang="en-US" sz="1100" dirty="0"/>
          </a:p>
        </p:txBody>
      </p:sp>
      <p:sp>
        <p:nvSpPr>
          <p:cNvPr id="20" name="Shape 11"/>
          <p:cNvSpPr/>
          <p:nvPr/>
        </p:nvSpPr>
        <p:spPr>
          <a:xfrm>
            <a:off x="5303520" y="1554480"/>
            <a:ext cx="3383280" cy="2606040"/>
          </a:xfrm>
          <a:prstGeom prst="rect">
            <a:avLst/>
          </a:prstGeom>
          <a:solidFill>
            <a:srgbClr val="1B2438"/>
          </a:solidFill>
          <a:ln w="25400">
            <a:solidFill>
              <a:srgbClr val="22C55E"/>
            </a:solidFill>
            <a:prstDash val="solid"/>
          </a:ln>
        </p:spPr>
        <p:txBody>
          <a:bodyPr/>
          <a:lstStyle/>
          <a:p>
            <a:endParaRPr/>
          </a:p>
        </p:txBody>
      </p:sp>
      <p:sp>
        <p:nvSpPr>
          <p:cNvPr id="21" name="Shape 12"/>
          <p:cNvSpPr/>
          <p:nvPr/>
        </p:nvSpPr>
        <p:spPr>
          <a:xfrm>
            <a:off x="6995160" y="1737360"/>
            <a:ext cx="0" cy="2240280"/>
          </a:xfrm>
          <a:prstGeom prst="line">
            <a:avLst/>
          </a:prstGeom>
          <a:noFill/>
          <a:ln w="12700">
            <a:solidFill>
              <a:srgbClr val="22C55E"/>
            </a:solidFill>
            <a:prstDash val="dash"/>
          </a:ln>
        </p:spPr>
        <p:txBody>
          <a:bodyPr/>
          <a:lstStyle/>
          <a:p>
            <a:endParaRPr/>
          </a:p>
        </p:txBody>
      </p:sp>
      <p:pic>
        <p:nvPicPr>
          <p:cNvPr id="22" name="Image 7" descr="preencoded.png"/>
          <p:cNvPicPr>
            <a:picLocks noChangeAspect="1"/>
          </p:cNvPicPr>
          <p:nvPr/>
        </p:nvPicPr>
        <p:blipFill>
          <a:blip r:embed="rId4"/>
          <a:stretch>
            <a:fillRect/>
          </a:stretch>
        </p:blipFill>
        <p:spPr>
          <a:xfrm>
            <a:off x="6720840" y="2583180"/>
            <a:ext cx="548640" cy="548640"/>
          </a:xfrm>
          <a:prstGeom prst="rect">
            <a:avLst/>
          </a:prstGeom>
        </p:spPr>
      </p:pic>
      <p:sp>
        <p:nvSpPr>
          <p:cNvPr id="23" name="Text 13"/>
          <p:cNvSpPr/>
          <p:nvPr/>
        </p:nvSpPr>
        <p:spPr>
          <a:xfrm>
            <a:off x="5303520" y="3794760"/>
            <a:ext cx="3383280" cy="274320"/>
          </a:xfrm>
          <a:prstGeom prst="rect">
            <a:avLst/>
          </a:prstGeom>
          <a:noFill/>
          <a:ln/>
        </p:spPr>
        <p:txBody>
          <a:bodyPr wrap="square" lIns="0" tIns="0" rIns="0" bIns="0" rtlCol="0" anchor="ctr"/>
          <a:lstStyle/>
          <a:p>
            <a:pPr marL="0" indent="0" algn="ctr">
              <a:buNone/>
            </a:pPr>
            <a:r>
              <a:rPr lang="en-US" sz="900" b="1" kern="0" spc="300" dirty="0">
                <a:solidFill>
                  <a:srgbClr val="22C55E"/>
                </a:solidFill>
                <a:latin typeface="Calibri" pitchFamily="34" charset="0"/>
                <a:ea typeface="Calibri" pitchFamily="34" charset="-122"/>
                <a:cs typeface="Calibri" pitchFamily="34" charset="-120"/>
              </a:rPr>
              <a:t>[ VIDEO PLACEHOLDER ]</a:t>
            </a:r>
            <a:endParaRPr lang="en-US" sz="900" dirty="0"/>
          </a:p>
        </p:txBody>
      </p:sp>
      <p:sp>
        <p:nvSpPr>
          <p:cNvPr id="24" name="Text 14"/>
          <p:cNvSpPr/>
          <p:nvPr/>
        </p:nvSpPr>
        <p:spPr>
          <a:xfrm>
            <a:off x="5303520" y="4206240"/>
            <a:ext cx="3383280" cy="457200"/>
          </a:xfrm>
          <a:prstGeom prst="rect">
            <a:avLst/>
          </a:prstGeom>
          <a:noFill/>
          <a:ln/>
        </p:spPr>
        <p:txBody>
          <a:bodyPr wrap="square" lIns="0" tIns="0" rIns="0" bIns="0" rtlCol="0" anchor="ctr"/>
          <a:lstStyle/>
          <a:p>
            <a:pPr marL="0" indent="0" algn="ctr">
              <a:buNone/>
            </a:pPr>
            <a:r>
              <a:rPr lang="en-US" sz="950" i="1" dirty="0">
                <a:solidFill>
                  <a:srgbClr val="94A3B8"/>
                </a:solidFill>
                <a:latin typeface="Calibri" pitchFamily="34" charset="0"/>
                <a:ea typeface="Calibri" pitchFamily="34" charset="-122"/>
                <a:cs typeface="Calibri" pitchFamily="34" charset="-120"/>
              </a:rPr>
              <a:t>Sistem već radi na stvarnim snimcima utakmica 1. CFL —</a:t>
            </a:r>
            <a:endParaRPr lang="en-US" sz="950" dirty="0"/>
          </a:p>
          <a:p>
            <a:pPr marL="0" indent="0" algn="ctr">
              <a:buNone/>
            </a:pPr>
            <a:r>
              <a:rPr lang="en-US" sz="950" i="1" dirty="0">
                <a:solidFill>
                  <a:srgbClr val="94A3B8"/>
                </a:solidFill>
                <a:latin typeface="Calibri" pitchFamily="34" charset="0"/>
                <a:ea typeface="Calibri" pitchFamily="34" charset="-122"/>
                <a:cs typeface="Calibri" pitchFamily="34" charset="-120"/>
              </a:rPr>
              <a:t>kao što možete vidjeti ovdje.</a:t>
            </a:r>
            <a:endParaRPr lang="en-US" sz="950" dirty="0"/>
          </a:p>
        </p:txBody>
      </p:sp>
      <p:sp>
        <p:nvSpPr>
          <p:cNvPr id="25" name="Text 15"/>
          <p:cNvSpPr/>
          <p:nvPr/>
        </p:nvSpPr>
        <p:spPr>
          <a:xfrm>
            <a:off x="457200" y="4777740"/>
            <a:ext cx="5486400" cy="274320"/>
          </a:xfrm>
          <a:prstGeom prst="rect">
            <a:avLst/>
          </a:prstGeom>
          <a:noFill/>
          <a:ln/>
        </p:spPr>
        <p:txBody>
          <a:bodyPr wrap="square" lIns="0" tIns="0" rIns="0" bIns="0" rtlCol="0" anchor="ctr"/>
          <a:lstStyle/>
          <a:p>
            <a:pPr marL="0" indent="0">
              <a:buNone/>
            </a:pPr>
            <a:r>
              <a:rPr lang="en-US" sz="800" b="1" kern="0" spc="300" dirty="0">
                <a:solidFill>
                  <a:srgbClr val="64748B"/>
                </a:solidFill>
                <a:latin typeface="Calibri" pitchFamily="34" charset="0"/>
                <a:ea typeface="Calibri" pitchFamily="34" charset="-122"/>
                <a:cs typeface="Calibri" pitchFamily="34" charset="-120"/>
              </a:rPr>
              <a:t>ANALITIKA PODATAKA ZA CRNOGORSKI FUDBAL</a:t>
            </a:r>
            <a:endParaRPr lang="en-US" sz="800" dirty="0"/>
          </a:p>
        </p:txBody>
      </p:sp>
      <p:sp>
        <p:nvSpPr>
          <p:cNvPr id="26" name="Text 16"/>
          <p:cNvSpPr/>
          <p:nvPr/>
        </p:nvSpPr>
        <p:spPr>
          <a:xfrm>
            <a:off x="7955280" y="4777740"/>
            <a:ext cx="9144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17 / 21</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0F1C"/>
        </a:solidFill>
        <a:effectLst/>
      </p:bgPr>
    </p:bg>
    <p:spTree>
      <p:nvGrpSpPr>
        <p:cNvPr id="1" name=""/>
        <p:cNvGrpSpPr/>
        <p:nvPr/>
      </p:nvGrpSpPr>
      <p:grpSpPr>
        <a:xfrm>
          <a:off x="0" y="0"/>
          <a:ext cx="0" cy="0"/>
          <a:chOff x="0" y="0"/>
          <a:chExt cx="0" cy="0"/>
        </a:xfrm>
      </p:grpSpPr>
      <p:sp>
        <p:nvSpPr>
          <p:cNvPr id="2" name="Shape 0"/>
          <p:cNvSpPr/>
          <p:nvPr/>
        </p:nvSpPr>
        <p:spPr>
          <a:xfrm>
            <a:off x="457200" y="411480"/>
            <a:ext cx="164592" cy="164592"/>
          </a:xfrm>
          <a:prstGeom prst="rect">
            <a:avLst/>
          </a:prstGeom>
          <a:solidFill>
            <a:srgbClr val="22C55E"/>
          </a:solidFill>
          <a:ln w="12700">
            <a:solidFill>
              <a:srgbClr val="22C55E"/>
            </a:solidFill>
            <a:prstDash val="solid"/>
          </a:ln>
        </p:spPr>
        <p:txBody>
          <a:bodyPr/>
          <a:lstStyle/>
          <a:p>
            <a:endParaRPr/>
          </a:p>
        </p:txBody>
      </p:sp>
      <p:sp>
        <p:nvSpPr>
          <p:cNvPr id="3" name="Text 1"/>
          <p:cNvSpPr/>
          <p:nvPr/>
        </p:nvSpPr>
        <p:spPr>
          <a:xfrm>
            <a:off x="749808" y="384048"/>
            <a:ext cx="7315200" cy="228600"/>
          </a:xfrm>
          <a:prstGeom prst="rect">
            <a:avLst/>
          </a:prstGeom>
          <a:noFill/>
          <a:ln/>
        </p:spPr>
        <p:txBody>
          <a:bodyPr wrap="square" lIns="0" tIns="0" rIns="0" bIns="0" rtlCol="0" anchor="ctr"/>
          <a:lstStyle/>
          <a:p>
            <a:pPr marL="0" indent="0">
              <a:buNone/>
            </a:pPr>
            <a:r>
              <a:rPr lang="en-US" sz="1000" b="1" kern="0" spc="400" dirty="0">
                <a:solidFill>
                  <a:srgbClr val="22C55E"/>
                </a:solidFill>
                <a:latin typeface="Calibri" pitchFamily="34" charset="0"/>
                <a:ea typeface="Calibri" pitchFamily="34" charset="-122"/>
                <a:cs typeface="Calibri" pitchFamily="34" charset="-120"/>
              </a:rPr>
              <a:t>NOVAC</a:t>
            </a:r>
            <a:endParaRPr lang="en-US" sz="1000" dirty="0"/>
          </a:p>
        </p:txBody>
      </p:sp>
      <p:sp>
        <p:nvSpPr>
          <p:cNvPr id="4" name="Text 2"/>
          <p:cNvSpPr/>
          <p:nvPr/>
        </p:nvSpPr>
        <p:spPr>
          <a:xfrm>
            <a:off x="457200" y="685800"/>
            <a:ext cx="8229600" cy="640080"/>
          </a:xfrm>
          <a:prstGeom prst="rect">
            <a:avLst/>
          </a:prstGeom>
          <a:noFill/>
          <a:ln/>
        </p:spPr>
        <p:txBody>
          <a:bodyPr wrap="square" lIns="0" tIns="0" rIns="0" bIns="0" rtlCol="0" anchor="ctr"/>
          <a:lstStyle/>
          <a:p>
            <a:pPr marL="0" indent="0">
              <a:buNone/>
            </a:pPr>
            <a:r>
              <a:rPr lang="en-US" sz="2600" b="1" dirty="0">
                <a:solidFill>
                  <a:srgbClr val="F8FAFC"/>
                </a:solidFill>
                <a:latin typeface="Calibri" pitchFamily="34" charset="0"/>
                <a:ea typeface="Calibri" pitchFamily="34" charset="-122"/>
                <a:cs typeface="Calibri" pitchFamily="34" charset="-120"/>
              </a:rPr>
              <a:t>Asimetrična investicija</a:t>
            </a:r>
            <a:endParaRPr lang="en-US" sz="2600" dirty="0"/>
          </a:p>
        </p:txBody>
      </p:sp>
      <p:sp>
        <p:nvSpPr>
          <p:cNvPr id="5" name="Text 3"/>
          <p:cNvSpPr/>
          <p:nvPr/>
        </p:nvSpPr>
        <p:spPr>
          <a:xfrm>
            <a:off x="457200" y="1371600"/>
            <a:ext cx="8229600" cy="292608"/>
          </a:xfrm>
          <a:prstGeom prst="rect">
            <a:avLst/>
          </a:prstGeom>
          <a:noFill/>
          <a:ln/>
        </p:spPr>
        <p:txBody>
          <a:bodyPr wrap="square" lIns="0" tIns="0" rIns="0" bIns="0" rtlCol="0" anchor="ctr"/>
          <a:lstStyle/>
          <a:p>
            <a:pPr marL="0" indent="0">
              <a:buNone/>
            </a:pPr>
            <a:r>
              <a:rPr lang="en-US" sz="1300" i="1" dirty="0">
                <a:solidFill>
                  <a:srgbClr val="94A3B8"/>
                </a:solidFill>
                <a:latin typeface="Calibri" pitchFamily="34" charset="0"/>
                <a:ea typeface="Calibri" pitchFamily="34" charset="-122"/>
                <a:cs typeface="Calibri" pitchFamily="34" charset="-120"/>
              </a:rPr>
              <a:t>~50.000 € godišnje — osoblje, infrastruktura, edukacija i seminari za klubove.</a:t>
            </a:r>
            <a:endParaRPr lang="en-US" sz="1300" dirty="0"/>
          </a:p>
        </p:txBody>
      </p:sp>
      <p:sp>
        <p:nvSpPr>
          <p:cNvPr id="6" name="Shape 4"/>
          <p:cNvSpPr/>
          <p:nvPr/>
        </p:nvSpPr>
        <p:spPr>
          <a:xfrm>
            <a:off x="457200" y="1719072"/>
            <a:ext cx="3566160" cy="2487168"/>
          </a:xfrm>
          <a:prstGeom prst="rect">
            <a:avLst/>
          </a:prstGeom>
          <a:solidFill>
            <a:srgbClr val="141B2E"/>
          </a:solidFill>
          <a:ln w="19050">
            <a:solidFill>
              <a:srgbClr val="EF4444"/>
            </a:solidFill>
            <a:prstDash val="solid"/>
          </a:ln>
        </p:spPr>
        <p:txBody>
          <a:bodyPr/>
          <a:lstStyle/>
          <a:p>
            <a:endParaRPr/>
          </a:p>
        </p:txBody>
      </p:sp>
      <p:sp>
        <p:nvSpPr>
          <p:cNvPr id="7" name="Text 5"/>
          <p:cNvSpPr/>
          <p:nvPr/>
        </p:nvSpPr>
        <p:spPr>
          <a:xfrm>
            <a:off x="640080" y="1789611"/>
            <a:ext cx="3200400" cy="228600"/>
          </a:xfrm>
          <a:prstGeom prst="rect">
            <a:avLst/>
          </a:prstGeom>
          <a:noFill/>
          <a:ln/>
        </p:spPr>
        <p:txBody>
          <a:bodyPr wrap="square" lIns="0" tIns="0" rIns="0" bIns="0" rtlCol="0" anchor="ctr"/>
          <a:lstStyle/>
          <a:p>
            <a:pPr marL="0" indent="0">
              <a:buNone/>
            </a:pPr>
            <a:r>
              <a:rPr lang="en-US" sz="1200" b="1" kern="0" spc="300" dirty="0">
                <a:solidFill>
                  <a:srgbClr val="EF4444"/>
                </a:solidFill>
                <a:latin typeface="Calibri" pitchFamily="34" charset="0"/>
                <a:ea typeface="Calibri" pitchFamily="34" charset="-122"/>
                <a:cs typeface="Calibri" pitchFamily="34" charset="-120"/>
              </a:rPr>
              <a:t>ŠTA ULAŽETE</a:t>
            </a:r>
            <a:endParaRPr lang="en-US" sz="1200" dirty="0"/>
          </a:p>
        </p:txBody>
      </p:sp>
      <p:sp>
        <p:nvSpPr>
          <p:cNvPr id="8" name="Text 6"/>
          <p:cNvSpPr/>
          <p:nvPr/>
        </p:nvSpPr>
        <p:spPr>
          <a:xfrm>
            <a:off x="640079" y="2058046"/>
            <a:ext cx="3324497" cy="2076233"/>
          </a:xfrm>
          <a:prstGeom prst="rect">
            <a:avLst/>
          </a:prstGeom>
          <a:noFill/>
          <a:ln/>
        </p:spPr>
        <p:txBody>
          <a:bodyPr wrap="square" lIns="0" tIns="0" rIns="0" bIns="0" rtlCol="0" anchor="t"/>
          <a:lstStyle/>
          <a:p>
            <a:pPr marL="0" indent="0">
              <a:buNone/>
            </a:pPr>
            <a:r>
              <a:rPr lang="en-US" sz="850" b="1" kern="0" spc="200" dirty="0">
                <a:solidFill>
                  <a:srgbClr val="94A3B8"/>
                </a:solidFill>
                <a:latin typeface="Calibri" pitchFamily="34" charset="0"/>
                <a:ea typeface="Calibri" pitchFamily="34" charset="-122"/>
                <a:cs typeface="Calibri" pitchFamily="34" charset="-120"/>
              </a:rPr>
              <a:t>OSOBLJE</a:t>
            </a:r>
            <a:endParaRPr lang="en-US" sz="850" dirty="0"/>
          </a:p>
          <a:p>
            <a:pPr marL="0" indent="0">
              <a:spcBef>
                <a:spcPts val="100"/>
              </a:spcBef>
              <a:buNone/>
            </a:pPr>
            <a:r>
              <a:rPr lang="en-US" sz="1000" dirty="0">
                <a:solidFill>
                  <a:srgbClr val="F8FAFC"/>
                </a:solidFill>
                <a:latin typeface="Calibri" pitchFamily="34" charset="0"/>
                <a:ea typeface="Calibri" pitchFamily="34" charset="-122"/>
                <a:cs typeface="Calibri" pitchFamily="34" charset="-120"/>
              </a:rPr>
              <a:t>Šef analitike </a:t>
            </a:r>
            <a:r>
              <a:rPr lang="en-US" sz="1000" dirty="0" err="1">
                <a:solidFill>
                  <a:srgbClr val="F8FAFC"/>
                </a:solidFill>
                <a:latin typeface="Calibri" pitchFamily="34" charset="0"/>
                <a:ea typeface="Calibri" pitchFamily="34" charset="-122"/>
                <a:cs typeface="Calibri" pitchFamily="34" charset="-120"/>
              </a:rPr>
              <a:t>podataka</a:t>
            </a:r>
            <a:r>
              <a:rPr lang="en-US" sz="1000" dirty="0">
                <a:solidFill>
                  <a:srgbClr val="F8FAFC"/>
                </a:solidFill>
                <a:latin typeface="Calibri" pitchFamily="34" charset="0"/>
                <a:ea typeface="Calibri" pitchFamily="34" charset="-122"/>
                <a:cs typeface="Calibri" pitchFamily="34" charset="-120"/>
              </a:rPr>
              <a:t>                                €26,000 –30,000</a:t>
            </a:r>
            <a:endParaRPr lang="en-US" sz="1000" dirty="0"/>
          </a:p>
          <a:p>
            <a:pPr marL="0" indent="0">
              <a:buNone/>
            </a:pPr>
            <a:r>
              <a:rPr lang="en-US" sz="1000" dirty="0">
                <a:solidFill>
                  <a:srgbClr val="F8FAFC"/>
                </a:solidFill>
                <a:latin typeface="Calibri" pitchFamily="34" charset="0"/>
                <a:ea typeface="Calibri" pitchFamily="34" charset="-122"/>
                <a:cs typeface="Calibri" pitchFamily="34" charset="-120"/>
              </a:rPr>
              <a:t>Mlađi analitičar </a:t>
            </a:r>
            <a:r>
              <a:rPr lang="en-US" sz="1000" dirty="0" err="1">
                <a:solidFill>
                  <a:srgbClr val="F8FAFC"/>
                </a:solidFill>
                <a:latin typeface="Calibri" pitchFamily="34" charset="0"/>
                <a:ea typeface="Calibri" pitchFamily="34" charset="-122"/>
                <a:cs typeface="Calibri" pitchFamily="34" charset="-120"/>
              </a:rPr>
              <a:t>podataka</a:t>
            </a:r>
            <a:r>
              <a:rPr lang="en-US" sz="1000" dirty="0">
                <a:solidFill>
                  <a:srgbClr val="F8FAFC"/>
                </a:solidFill>
                <a:latin typeface="Calibri" pitchFamily="34" charset="0"/>
                <a:ea typeface="Calibri" pitchFamily="34" charset="-122"/>
                <a:cs typeface="Calibri" pitchFamily="34" charset="-120"/>
              </a:rPr>
              <a:t>                          €13,000-15,000</a:t>
            </a:r>
            <a:endParaRPr lang="en-US" sz="1000" dirty="0"/>
          </a:p>
          <a:p>
            <a:pPr marL="0" indent="0">
              <a:buNone/>
            </a:pPr>
            <a:endParaRPr lang="en-US" sz="500" dirty="0"/>
          </a:p>
          <a:p>
            <a:pPr marL="0" indent="0">
              <a:buNone/>
            </a:pPr>
            <a:r>
              <a:rPr lang="en-US" sz="850" b="1" kern="0" spc="200" dirty="0">
                <a:solidFill>
                  <a:srgbClr val="94A3B8"/>
                </a:solidFill>
                <a:latin typeface="Calibri" pitchFamily="34" charset="0"/>
                <a:ea typeface="Calibri" pitchFamily="34" charset="-122"/>
                <a:cs typeface="Calibri" pitchFamily="34" charset="-120"/>
              </a:rPr>
              <a:t>INFRASTRUKTURA</a:t>
            </a:r>
            <a:endParaRPr lang="en-US" sz="850" dirty="0"/>
          </a:p>
          <a:p>
            <a:pPr marL="0" indent="0">
              <a:spcBef>
                <a:spcPts val="100"/>
              </a:spcBef>
              <a:buNone/>
            </a:pPr>
            <a:r>
              <a:rPr lang="en-US" sz="1000" dirty="0">
                <a:solidFill>
                  <a:srgbClr val="F8FAFC"/>
                </a:solidFill>
                <a:latin typeface="Calibri" pitchFamily="34" charset="0"/>
                <a:ea typeface="Calibri" pitchFamily="34" charset="-122"/>
                <a:cs typeface="Calibri" pitchFamily="34" charset="-120"/>
              </a:rPr>
              <a:t>Storage i cloud backup                               €1,000</a:t>
            </a:r>
            <a:endParaRPr lang="en-US" sz="1000" dirty="0"/>
          </a:p>
          <a:p>
            <a:r>
              <a:rPr lang="en-US" sz="1000" dirty="0" err="1">
                <a:solidFill>
                  <a:srgbClr val="F8FAFC"/>
                </a:solidFill>
                <a:latin typeface="Calibri" pitchFamily="34" charset="0"/>
                <a:ea typeface="Calibri" pitchFamily="34" charset="-122"/>
                <a:cs typeface="Calibri" pitchFamily="34" charset="-120"/>
              </a:rPr>
              <a:t>Komputacija</a:t>
            </a:r>
            <a:r>
              <a:rPr lang="en-US" sz="1000" dirty="0">
                <a:solidFill>
                  <a:srgbClr val="F8FAFC"/>
                </a:solidFill>
                <a:latin typeface="Calibri" pitchFamily="34" charset="0"/>
                <a:ea typeface="Calibri" pitchFamily="34" charset="-122"/>
                <a:cs typeface="Calibri" pitchFamily="34" charset="-120"/>
              </a:rPr>
              <a:t>                                                 €2,000 </a:t>
            </a:r>
          </a:p>
          <a:p>
            <a:r>
              <a:rPr lang="en-US" sz="1000" dirty="0" err="1">
                <a:solidFill>
                  <a:srgbClr val="F8FAFC"/>
                </a:solidFill>
                <a:latin typeface="Calibri" pitchFamily="34" charset="0"/>
                <a:ea typeface="Calibri" pitchFamily="34" charset="-122"/>
                <a:cs typeface="Calibri" pitchFamily="34" charset="-120"/>
              </a:rPr>
              <a:t>Softver</a:t>
            </a:r>
            <a:r>
              <a:rPr lang="en-US" sz="1000" dirty="0">
                <a:solidFill>
                  <a:srgbClr val="F8FAFC"/>
                </a:solidFill>
                <a:latin typeface="Calibri" pitchFamily="34" charset="0"/>
                <a:ea typeface="Calibri" pitchFamily="34" charset="-122"/>
                <a:cs typeface="Calibri" pitchFamily="34" charset="-120"/>
              </a:rPr>
              <a:t>                                                           €0 </a:t>
            </a:r>
            <a:endParaRPr lang="en-US" sz="1000" dirty="0"/>
          </a:p>
          <a:p>
            <a:pPr marL="0" indent="0">
              <a:buNone/>
            </a:pPr>
            <a:endParaRPr lang="en-US" sz="500" dirty="0"/>
          </a:p>
          <a:p>
            <a:pPr marL="0" indent="0">
              <a:buNone/>
            </a:pPr>
            <a:r>
              <a:rPr lang="en-US" sz="850" b="1" kern="0" spc="200" dirty="0">
                <a:solidFill>
                  <a:srgbClr val="94A3B8"/>
                </a:solidFill>
                <a:latin typeface="Calibri" pitchFamily="34" charset="0"/>
                <a:ea typeface="Calibri" pitchFamily="34" charset="-122"/>
                <a:cs typeface="Calibri" pitchFamily="34" charset="-120"/>
              </a:rPr>
              <a:t>EDUKACIJA I PUTOVANJA</a:t>
            </a:r>
            <a:endParaRPr lang="en-US" sz="850" dirty="0"/>
          </a:p>
          <a:p>
            <a:pPr marL="0" indent="0">
              <a:spcBef>
                <a:spcPts val="100"/>
              </a:spcBef>
              <a:buNone/>
            </a:pPr>
            <a:r>
              <a:rPr lang="en-US" sz="1000" dirty="0">
                <a:solidFill>
                  <a:srgbClr val="F8FAFC"/>
                </a:solidFill>
                <a:latin typeface="Calibri" pitchFamily="34" charset="0"/>
                <a:ea typeface="Calibri" pitchFamily="34" charset="-122"/>
                <a:cs typeface="Calibri" pitchFamily="34" charset="-120"/>
              </a:rPr>
              <a:t>Konferencije, posjete, </a:t>
            </a:r>
            <a:r>
              <a:rPr lang="en-US" sz="1000" dirty="0" err="1">
                <a:solidFill>
                  <a:srgbClr val="F8FAFC"/>
                </a:solidFill>
                <a:latin typeface="Calibri" pitchFamily="34" charset="0"/>
                <a:ea typeface="Calibri" pitchFamily="34" charset="-122"/>
                <a:cs typeface="Calibri" pitchFamily="34" charset="-120"/>
              </a:rPr>
              <a:t>kursevi</a:t>
            </a:r>
            <a:r>
              <a:rPr lang="en-US" sz="1000" dirty="0">
                <a:solidFill>
                  <a:srgbClr val="F8FAFC"/>
                </a:solidFill>
                <a:latin typeface="Calibri" pitchFamily="34" charset="0"/>
                <a:ea typeface="Calibri" pitchFamily="34" charset="-122"/>
                <a:cs typeface="Calibri" pitchFamily="34" charset="-120"/>
              </a:rPr>
              <a:t>                   €5,000</a:t>
            </a:r>
            <a:endParaRPr lang="en-US" sz="1000" dirty="0"/>
          </a:p>
          <a:p>
            <a:pPr marL="0" indent="0">
              <a:buNone/>
            </a:pPr>
            <a:endParaRPr lang="en-US" sz="500" dirty="0"/>
          </a:p>
          <a:p>
            <a:pPr marL="0" indent="0">
              <a:buNone/>
            </a:pPr>
            <a:r>
              <a:rPr lang="en-US" sz="850" b="1" kern="0" spc="200" dirty="0">
                <a:solidFill>
                  <a:srgbClr val="94A3B8"/>
                </a:solidFill>
                <a:latin typeface="Calibri" pitchFamily="34" charset="0"/>
                <a:ea typeface="Calibri" pitchFamily="34" charset="-122"/>
                <a:cs typeface="Calibri" pitchFamily="34" charset="-120"/>
              </a:rPr>
              <a:t>SEMINARI ZA KLUBOVE</a:t>
            </a:r>
            <a:endParaRPr lang="en-US" sz="850" dirty="0"/>
          </a:p>
          <a:p>
            <a:pPr marL="0" indent="0">
              <a:spcBef>
                <a:spcPts val="100"/>
              </a:spcBef>
              <a:buNone/>
            </a:pPr>
            <a:r>
              <a:rPr lang="en-US" sz="1000" dirty="0">
                <a:solidFill>
                  <a:srgbClr val="F8FAFC"/>
                </a:solidFill>
                <a:latin typeface="Calibri" pitchFamily="34" charset="0"/>
                <a:ea typeface="Calibri" pitchFamily="34" charset="-122"/>
                <a:cs typeface="Calibri" pitchFamily="34" charset="-120"/>
              </a:rPr>
              <a:t>Dva godišnja seminara (10 klubova)         €2,000</a:t>
            </a:r>
            <a:endParaRPr lang="en-US" sz="1000" dirty="0"/>
          </a:p>
        </p:txBody>
      </p:sp>
      <p:sp>
        <p:nvSpPr>
          <p:cNvPr id="10" name="Text 8"/>
          <p:cNvSpPr/>
          <p:nvPr/>
        </p:nvSpPr>
        <p:spPr>
          <a:xfrm>
            <a:off x="640080" y="3017520"/>
            <a:ext cx="3200400" cy="0"/>
          </a:xfrm>
          <a:prstGeom prst="rect">
            <a:avLst/>
          </a:prstGeom>
          <a:noFill/>
          <a:ln/>
        </p:spPr>
        <p:txBody>
          <a:bodyPr wrap="square" lIns="0" tIns="0" rIns="0" bIns="0" rtlCol="0" anchor="ctr"/>
          <a:lstStyle/>
          <a:p>
            <a:pPr marL="0" indent="0">
              <a:buNone/>
            </a:pPr>
            <a:endParaRPr lang="en-US" sz="800" dirty="0"/>
          </a:p>
        </p:txBody>
      </p:sp>
      <p:sp>
        <p:nvSpPr>
          <p:cNvPr id="11" name="Text 9"/>
          <p:cNvSpPr/>
          <p:nvPr/>
        </p:nvSpPr>
        <p:spPr>
          <a:xfrm>
            <a:off x="640080" y="3227832"/>
            <a:ext cx="3200400" cy="0"/>
          </a:xfrm>
          <a:prstGeom prst="rect">
            <a:avLst/>
          </a:prstGeom>
          <a:noFill/>
          <a:ln/>
        </p:spPr>
        <p:txBody>
          <a:bodyPr wrap="square" lIns="0" tIns="0" rIns="0" bIns="0" rtlCol="0" anchor="t"/>
          <a:lstStyle/>
          <a:p>
            <a:pPr marL="0" indent="0">
              <a:buNone/>
            </a:pPr>
            <a:endParaRPr lang="en-US" sz="800" dirty="0"/>
          </a:p>
        </p:txBody>
      </p:sp>
      <p:sp>
        <p:nvSpPr>
          <p:cNvPr id="12" name="Text 10"/>
          <p:cNvSpPr/>
          <p:nvPr/>
        </p:nvSpPr>
        <p:spPr>
          <a:xfrm>
            <a:off x="640080" y="3960000"/>
            <a:ext cx="3200400" cy="220000"/>
          </a:xfrm>
          <a:prstGeom prst="rect">
            <a:avLst/>
          </a:prstGeom>
          <a:noFill/>
          <a:ln/>
        </p:spPr>
        <p:txBody>
          <a:bodyPr wrap="square" lIns="0" tIns="0" rIns="0" bIns="0" rtlCol="0" anchor="ctr"/>
          <a:lstStyle/>
          <a:p>
            <a:pPr marL="0" indent="0">
              <a:buNone/>
            </a:pPr>
            <a:r>
              <a:rPr lang="en-US" sz="1150" b="1" dirty="0">
                <a:solidFill>
                  <a:srgbClr val="EF4444"/>
                </a:solidFill>
                <a:latin typeface="Calibri" pitchFamily="34" charset="0"/>
                <a:ea typeface="Calibri" pitchFamily="34" charset="-122"/>
                <a:cs typeface="Calibri" pitchFamily="34" charset="-120"/>
              </a:rPr>
              <a:t>UKUPNO PRVA GODINA                 €50,000-55,000</a:t>
            </a:r>
            <a:endParaRPr lang="en-US" sz="1150" dirty="0"/>
          </a:p>
        </p:txBody>
      </p:sp>
      <p:sp>
        <p:nvSpPr>
          <p:cNvPr id="14" name="Text 12"/>
          <p:cNvSpPr/>
          <p:nvPr/>
        </p:nvSpPr>
        <p:spPr>
          <a:xfrm>
            <a:off x="4114800" y="3675888"/>
            <a:ext cx="1188720" cy="457200"/>
          </a:xfrm>
          <a:prstGeom prst="rect">
            <a:avLst/>
          </a:prstGeom>
          <a:noFill/>
          <a:ln/>
        </p:spPr>
        <p:txBody>
          <a:bodyPr wrap="square" lIns="0" tIns="0" rIns="0" bIns="0" rtlCol="0" anchor="ctr"/>
          <a:lstStyle/>
          <a:p>
            <a:pPr marL="0" indent="0" algn="ctr">
              <a:buNone/>
            </a:pPr>
            <a:r>
              <a:rPr lang="en-US" sz="850" i="1" dirty="0">
                <a:solidFill>
                  <a:srgbClr val="EF4444"/>
                </a:solidFill>
                <a:latin typeface="Calibri" pitchFamily="34" charset="0"/>
                <a:ea typeface="Calibri" pitchFamily="34" charset="-122"/>
                <a:cs typeface="Calibri" pitchFamily="34" charset="-120"/>
              </a:rPr>
              <a:t>ograničen</a:t>
            </a:r>
            <a:endParaRPr lang="en-US" sz="850" dirty="0"/>
          </a:p>
          <a:p>
            <a:pPr marL="0" indent="0" algn="ctr">
              <a:buNone/>
            </a:pPr>
            <a:r>
              <a:rPr lang="en-US" sz="850" i="1" dirty="0">
                <a:solidFill>
                  <a:srgbClr val="EF4444"/>
                </a:solidFill>
                <a:latin typeface="Calibri" pitchFamily="34" charset="0"/>
                <a:ea typeface="Calibri" pitchFamily="34" charset="-122"/>
                <a:cs typeface="Calibri" pitchFamily="34" charset="-120"/>
              </a:rPr>
              <a:t>rizik</a:t>
            </a:r>
            <a:endParaRPr lang="en-US" sz="850" dirty="0"/>
          </a:p>
        </p:txBody>
      </p:sp>
      <p:sp>
        <p:nvSpPr>
          <p:cNvPr id="15" name="Text 13"/>
          <p:cNvSpPr/>
          <p:nvPr/>
        </p:nvSpPr>
        <p:spPr>
          <a:xfrm>
            <a:off x="4114800" y="1792224"/>
            <a:ext cx="1188720" cy="457200"/>
          </a:xfrm>
          <a:prstGeom prst="rect">
            <a:avLst/>
          </a:prstGeom>
          <a:noFill/>
          <a:ln/>
        </p:spPr>
        <p:txBody>
          <a:bodyPr wrap="square" lIns="0" tIns="0" rIns="0" bIns="0" rtlCol="0" anchor="ctr"/>
          <a:lstStyle/>
          <a:p>
            <a:pPr marL="0" indent="0" algn="ctr">
              <a:buNone/>
            </a:pPr>
            <a:r>
              <a:rPr lang="en-US" sz="850" i="1" dirty="0">
                <a:solidFill>
                  <a:srgbClr val="22C55E"/>
                </a:solidFill>
                <a:latin typeface="Calibri" pitchFamily="34" charset="0"/>
                <a:ea typeface="Calibri" pitchFamily="34" charset="-122"/>
                <a:cs typeface="Calibri" pitchFamily="34" charset="-120"/>
              </a:rPr>
              <a:t>neograničen</a:t>
            </a:r>
            <a:endParaRPr lang="en-US" sz="850" dirty="0"/>
          </a:p>
          <a:p>
            <a:pPr marL="0" indent="0" algn="ctr">
              <a:buNone/>
            </a:pPr>
            <a:r>
              <a:rPr lang="en-US" sz="850" i="1" dirty="0">
                <a:solidFill>
                  <a:srgbClr val="22C55E"/>
                </a:solidFill>
                <a:latin typeface="Calibri" pitchFamily="34" charset="0"/>
                <a:ea typeface="Calibri" pitchFamily="34" charset="-122"/>
                <a:cs typeface="Calibri" pitchFamily="34" charset="-120"/>
              </a:rPr>
              <a:t>potencijal</a:t>
            </a:r>
            <a:endParaRPr lang="en-US" sz="850" dirty="0"/>
          </a:p>
        </p:txBody>
      </p:sp>
      <p:sp>
        <p:nvSpPr>
          <p:cNvPr id="16" name="Shape 14"/>
          <p:cNvSpPr/>
          <p:nvPr/>
        </p:nvSpPr>
        <p:spPr>
          <a:xfrm>
            <a:off x="5394960" y="1709928"/>
            <a:ext cx="3566160" cy="2487168"/>
          </a:xfrm>
          <a:prstGeom prst="rect">
            <a:avLst/>
          </a:prstGeom>
          <a:solidFill>
            <a:srgbClr val="141B2E"/>
          </a:solidFill>
          <a:ln w="19050">
            <a:solidFill>
              <a:srgbClr val="22C55E"/>
            </a:solidFill>
            <a:prstDash val="solid"/>
          </a:ln>
        </p:spPr>
        <p:txBody>
          <a:bodyPr/>
          <a:lstStyle/>
          <a:p>
            <a:endParaRPr dirty="0"/>
          </a:p>
        </p:txBody>
      </p:sp>
      <p:sp>
        <p:nvSpPr>
          <p:cNvPr id="17" name="Text 15"/>
          <p:cNvSpPr/>
          <p:nvPr/>
        </p:nvSpPr>
        <p:spPr>
          <a:xfrm>
            <a:off x="5577839" y="1835013"/>
            <a:ext cx="3200400" cy="228600"/>
          </a:xfrm>
          <a:prstGeom prst="rect">
            <a:avLst/>
          </a:prstGeom>
          <a:noFill/>
          <a:ln/>
        </p:spPr>
        <p:txBody>
          <a:bodyPr wrap="square" lIns="0" tIns="0" rIns="0" bIns="0" rtlCol="0" anchor="ctr"/>
          <a:lstStyle/>
          <a:p>
            <a:pPr marL="0" indent="0">
              <a:buNone/>
            </a:pPr>
            <a:r>
              <a:rPr lang="en-US" sz="1200" b="1" kern="0" spc="300" dirty="0">
                <a:solidFill>
                  <a:srgbClr val="22C55E"/>
                </a:solidFill>
                <a:latin typeface="Calibri" pitchFamily="34" charset="0"/>
                <a:ea typeface="Calibri" pitchFamily="34" charset="-122"/>
                <a:cs typeface="Calibri" pitchFamily="34" charset="-120"/>
              </a:rPr>
              <a:t>ŠTA MOŽETE DOBITI</a:t>
            </a:r>
            <a:endParaRPr lang="en-US" sz="1200" dirty="0"/>
          </a:p>
        </p:txBody>
      </p:sp>
      <p:sp>
        <p:nvSpPr>
          <p:cNvPr id="18" name="Text 16"/>
          <p:cNvSpPr/>
          <p:nvPr/>
        </p:nvSpPr>
        <p:spPr>
          <a:xfrm>
            <a:off x="5577840" y="2157984"/>
            <a:ext cx="2468880" cy="256032"/>
          </a:xfrm>
          <a:prstGeom prst="rect">
            <a:avLst/>
          </a:prstGeom>
          <a:noFill/>
          <a:ln/>
        </p:spPr>
        <p:txBody>
          <a:bodyPr wrap="square" lIns="0" tIns="0" rIns="0" bIns="0" rtlCol="0" anchor="ctr"/>
          <a:lstStyle/>
          <a:p>
            <a:pPr marL="0" indent="0">
              <a:buNone/>
            </a:pPr>
            <a:r>
              <a:rPr lang="en-US" sz="1050" dirty="0" err="1">
                <a:solidFill>
                  <a:srgbClr val="94A3B8"/>
                </a:solidFill>
                <a:latin typeface="Calibri" pitchFamily="34" charset="0"/>
                <a:ea typeface="Calibri" pitchFamily="34" charset="-122"/>
                <a:cs typeface="Calibri" pitchFamily="34" charset="-120"/>
              </a:rPr>
              <a:t>Bolje</a:t>
            </a:r>
            <a:r>
              <a:rPr lang="en-US" sz="1050" dirty="0">
                <a:solidFill>
                  <a:srgbClr val="94A3B8"/>
                </a:solidFill>
                <a:latin typeface="Calibri" pitchFamily="34" charset="0"/>
                <a:ea typeface="Calibri" pitchFamily="34" charset="-122"/>
                <a:cs typeface="Calibri" pitchFamily="34" charset="-120"/>
              </a:rPr>
              <a:t> </a:t>
            </a:r>
            <a:r>
              <a:rPr lang="en-US" sz="1050" dirty="0" err="1">
                <a:solidFill>
                  <a:srgbClr val="94A3B8"/>
                </a:solidFill>
                <a:latin typeface="Calibri" pitchFamily="34" charset="0"/>
                <a:ea typeface="Calibri" pitchFamily="34" charset="-122"/>
                <a:cs typeface="Calibri" pitchFamily="34" charset="-120"/>
              </a:rPr>
              <a:t>sanse</a:t>
            </a:r>
            <a:r>
              <a:rPr lang="en-US" sz="1050" dirty="0">
                <a:solidFill>
                  <a:srgbClr val="94A3B8"/>
                </a:solidFill>
                <a:latin typeface="Calibri" pitchFamily="34" charset="0"/>
                <a:ea typeface="Calibri" pitchFamily="34" charset="-122"/>
                <a:cs typeface="Calibri" pitchFamily="34" charset="-120"/>
              </a:rPr>
              <a:t> za UEFA/FIFA </a:t>
            </a:r>
            <a:r>
              <a:rPr lang="en-US" sz="1050" dirty="0" err="1">
                <a:solidFill>
                  <a:srgbClr val="94A3B8"/>
                </a:solidFill>
                <a:latin typeface="Calibri" pitchFamily="34" charset="0"/>
                <a:ea typeface="Calibri" pitchFamily="34" charset="-122"/>
                <a:cs typeface="Calibri" pitchFamily="34" charset="-120"/>
              </a:rPr>
              <a:t>grantove</a:t>
            </a:r>
            <a:endParaRPr lang="en-US" sz="1050" dirty="0"/>
          </a:p>
        </p:txBody>
      </p:sp>
      <p:sp>
        <p:nvSpPr>
          <p:cNvPr id="19" name="Text 17"/>
          <p:cNvSpPr/>
          <p:nvPr/>
        </p:nvSpPr>
        <p:spPr>
          <a:xfrm>
            <a:off x="8138160" y="2157984"/>
            <a:ext cx="659674" cy="256032"/>
          </a:xfrm>
          <a:prstGeom prst="rect">
            <a:avLst/>
          </a:prstGeom>
          <a:noFill/>
          <a:ln/>
        </p:spPr>
        <p:txBody>
          <a:bodyPr wrap="square" lIns="0" tIns="0" rIns="0" bIns="0" rtlCol="0" anchor="ctr"/>
          <a:lstStyle/>
          <a:p>
            <a:pPr marL="0" indent="0" algn="r">
              <a:buNone/>
            </a:pPr>
            <a:r>
              <a:rPr lang="en-US" sz="1050" b="1" dirty="0">
                <a:solidFill>
                  <a:srgbClr val="22C55E"/>
                </a:solidFill>
                <a:latin typeface="Calibri" pitchFamily="34" charset="0"/>
                <a:ea typeface="Calibri" pitchFamily="34" charset="-122"/>
                <a:cs typeface="Calibri" pitchFamily="34" charset="-120"/>
              </a:rPr>
              <a:t>+€50–150k</a:t>
            </a:r>
            <a:endParaRPr lang="en-US" sz="1050" dirty="0"/>
          </a:p>
        </p:txBody>
      </p:sp>
      <p:sp>
        <p:nvSpPr>
          <p:cNvPr id="20" name="Shape 18"/>
          <p:cNvSpPr/>
          <p:nvPr/>
        </p:nvSpPr>
        <p:spPr>
          <a:xfrm>
            <a:off x="5577840" y="2459736"/>
            <a:ext cx="3200400" cy="0"/>
          </a:xfrm>
          <a:prstGeom prst="line">
            <a:avLst/>
          </a:prstGeom>
          <a:noFill/>
          <a:ln w="6350">
            <a:solidFill>
              <a:srgbClr val="243049"/>
            </a:solidFill>
            <a:prstDash val="solid"/>
          </a:ln>
        </p:spPr>
        <p:txBody>
          <a:bodyPr/>
          <a:lstStyle/>
          <a:p>
            <a:endParaRPr/>
          </a:p>
        </p:txBody>
      </p:sp>
      <p:sp>
        <p:nvSpPr>
          <p:cNvPr id="21" name="Text 19"/>
          <p:cNvSpPr/>
          <p:nvPr/>
        </p:nvSpPr>
        <p:spPr>
          <a:xfrm>
            <a:off x="5577840" y="2492013"/>
            <a:ext cx="2266406" cy="324339"/>
          </a:xfrm>
          <a:prstGeom prst="rect">
            <a:avLst/>
          </a:prstGeom>
          <a:noFill/>
          <a:ln/>
        </p:spPr>
        <p:txBody>
          <a:bodyPr wrap="square" lIns="0" tIns="0" rIns="0" bIns="0" rtlCol="0" anchor="ctr"/>
          <a:lstStyle/>
          <a:p>
            <a:pPr marL="0" indent="0">
              <a:buNone/>
            </a:pPr>
            <a:r>
              <a:rPr lang="en-US" sz="1050" dirty="0">
                <a:solidFill>
                  <a:srgbClr val="94A3B8"/>
                </a:solidFill>
                <a:latin typeface="Calibri" pitchFamily="34" charset="0"/>
                <a:ea typeface="Calibri" pitchFamily="34" charset="-122"/>
                <a:cs typeface="Calibri" pitchFamily="34" charset="-120"/>
              </a:rPr>
              <a:t>Međunarodno </a:t>
            </a:r>
            <a:r>
              <a:rPr lang="en-US" sz="1050" dirty="0" err="1">
                <a:solidFill>
                  <a:srgbClr val="94A3B8"/>
                </a:solidFill>
                <a:latin typeface="Calibri" pitchFamily="34" charset="0"/>
                <a:ea typeface="Calibri" pitchFamily="34" charset="-122"/>
                <a:cs typeface="Calibri" pitchFamily="34" charset="-120"/>
              </a:rPr>
              <a:t>licenciranje</a:t>
            </a:r>
            <a:r>
              <a:rPr lang="en-US" sz="1050" dirty="0">
                <a:solidFill>
                  <a:srgbClr val="94A3B8"/>
                </a:solidFill>
                <a:latin typeface="Calibri" pitchFamily="34" charset="0"/>
                <a:ea typeface="Calibri" pitchFamily="34" charset="-122"/>
                <a:cs typeface="Calibri" pitchFamily="34" charset="-120"/>
              </a:rPr>
              <a:t> </a:t>
            </a:r>
            <a:r>
              <a:rPr lang="en-US" sz="1050" dirty="0" err="1">
                <a:solidFill>
                  <a:srgbClr val="94A3B8"/>
                </a:solidFill>
                <a:latin typeface="Calibri" pitchFamily="34" charset="0"/>
                <a:ea typeface="Calibri" pitchFamily="34" charset="-122"/>
                <a:cs typeface="Calibri" pitchFamily="34" charset="-120"/>
              </a:rPr>
              <a:t>podataka</a:t>
            </a:r>
            <a:br>
              <a:rPr lang="en-US" sz="1050" dirty="0">
                <a:solidFill>
                  <a:srgbClr val="94A3B8"/>
                </a:solidFill>
                <a:latin typeface="Calibri" pitchFamily="34" charset="0"/>
                <a:ea typeface="Calibri" pitchFamily="34" charset="-122"/>
                <a:cs typeface="Calibri" pitchFamily="34" charset="-120"/>
              </a:rPr>
            </a:br>
            <a:r>
              <a:rPr lang="en-US" sz="1050" dirty="0" err="1">
                <a:solidFill>
                  <a:srgbClr val="94A3B8"/>
                </a:solidFill>
                <a:latin typeface="Calibri" pitchFamily="34" charset="0"/>
                <a:ea typeface="Calibri" pitchFamily="34" charset="-122"/>
                <a:cs typeface="Calibri" pitchFamily="34" charset="-120"/>
              </a:rPr>
              <a:t>i</a:t>
            </a:r>
            <a:r>
              <a:rPr lang="en-US" sz="1050" dirty="0">
                <a:solidFill>
                  <a:srgbClr val="94A3B8"/>
                </a:solidFill>
                <a:latin typeface="Calibri" pitchFamily="34" charset="0"/>
                <a:ea typeface="Calibri" pitchFamily="34" charset="-122"/>
                <a:cs typeface="Calibri" pitchFamily="34" charset="-120"/>
              </a:rPr>
              <a:t> </a:t>
            </a:r>
            <a:r>
              <a:rPr lang="en-US" sz="1050" dirty="0" err="1">
                <a:solidFill>
                  <a:srgbClr val="94A3B8"/>
                </a:solidFill>
                <a:latin typeface="Calibri" pitchFamily="34" charset="0"/>
                <a:ea typeface="Calibri" pitchFamily="34" charset="-122"/>
                <a:cs typeface="Calibri" pitchFamily="34" charset="-120"/>
              </a:rPr>
              <a:t>prodaja</a:t>
            </a:r>
            <a:r>
              <a:rPr lang="en-US" sz="1050" dirty="0">
                <a:solidFill>
                  <a:srgbClr val="94A3B8"/>
                </a:solidFill>
                <a:latin typeface="Calibri" pitchFamily="34" charset="0"/>
                <a:ea typeface="Calibri" pitchFamily="34" charset="-122"/>
                <a:cs typeface="Calibri" pitchFamily="34" charset="-120"/>
              </a:rPr>
              <a:t> </a:t>
            </a:r>
            <a:r>
              <a:rPr lang="en-US" sz="1050" dirty="0" err="1">
                <a:solidFill>
                  <a:srgbClr val="94A3B8"/>
                </a:solidFill>
                <a:latin typeface="Calibri" pitchFamily="34" charset="0"/>
                <a:ea typeface="Calibri" pitchFamily="34" charset="-122"/>
                <a:cs typeface="Calibri" pitchFamily="34" charset="-120"/>
              </a:rPr>
              <a:t>istih</a:t>
            </a:r>
            <a:endParaRPr lang="en-US" sz="1050" dirty="0"/>
          </a:p>
        </p:txBody>
      </p:sp>
      <p:sp>
        <p:nvSpPr>
          <p:cNvPr id="22" name="Text 20"/>
          <p:cNvSpPr/>
          <p:nvPr/>
        </p:nvSpPr>
        <p:spPr>
          <a:xfrm>
            <a:off x="7791994" y="2560320"/>
            <a:ext cx="986246" cy="256032"/>
          </a:xfrm>
          <a:prstGeom prst="rect">
            <a:avLst/>
          </a:prstGeom>
          <a:noFill/>
          <a:ln/>
        </p:spPr>
        <p:txBody>
          <a:bodyPr wrap="square" lIns="0" tIns="0" rIns="0" bIns="0" rtlCol="0" anchor="ctr"/>
          <a:lstStyle/>
          <a:p>
            <a:pPr marL="0" indent="0" algn="r">
              <a:buNone/>
            </a:pPr>
            <a:r>
              <a:rPr lang="en-US" sz="1050" b="1" dirty="0">
                <a:solidFill>
                  <a:srgbClr val="22C55E"/>
                </a:solidFill>
                <a:latin typeface="Calibri" pitchFamily="34" charset="0"/>
                <a:ea typeface="Calibri" pitchFamily="34" charset="-122"/>
                <a:cs typeface="Calibri" pitchFamily="34" charset="-120"/>
              </a:rPr>
              <a:t>+€10–50k /god</a:t>
            </a:r>
            <a:endParaRPr lang="en-US" sz="1050" dirty="0"/>
          </a:p>
        </p:txBody>
      </p:sp>
      <p:sp>
        <p:nvSpPr>
          <p:cNvPr id="23" name="Shape 21"/>
          <p:cNvSpPr/>
          <p:nvPr/>
        </p:nvSpPr>
        <p:spPr>
          <a:xfrm>
            <a:off x="5577840" y="2862072"/>
            <a:ext cx="3200400" cy="0"/>
          </a:xfrm>
          <a:prstGeom prst="line">
            <a:avLst/>
          </a:prstGeom>
          <a:noFill/>
          <a:ln w="6350">
            <a:solidFill>
              <a:srgbClr val="243049"/>
            </a:solidFill>
            <a:prstDash val="solid"/>
          </a:ln>
        </p:spPr>
        <p:txBody>
          <a:bodyPr/>
          <a:lstStyle/>
          <a:p>
            <a:endParaRPr/>
          </a:p>
        </p:txBody>
      </p:sp>
      <p:sp>
        <p:nvSpPr>
          <p:cNvPr id="24" name="Text 22"/>
          <p:cNvSpPr/>
          <p:nvPr/>
        </p:nvSpPr>
        <p:spPr>
          <a:xfrm>
            <a:off x="5577839" y="2962656"/>
            <a:ext cx="2377441" cy="256032"/>
          </a:xfrm>
          <a:prstGeom prst="rect">
            <a:avLst/>
          </a:prstGeom>
          <a:noFill/>
          <a:ln/>
        </p:spPr>
        <p:txBody>
          <a:bodyPr wrap="square" lIns="0" tIns="0" rIns="0" bIns="0" rtlCol="0" anchor="ctr"/>
          <a:lstStyle/>
          <a:p>
            <a:pPr marL="0" indent="0">
              <a:buNone/>
            </a:pPr>
            <a:r>
              <a:rPr lang="en-US" sz="1050" dirty="0">
                <a:solidFill>
                  <a:srgbClr val="94A3B8"/>
                </a:solidFill>
                <a:latin typeface="Calibri" pitchFamily="34" charset="0"/>
                <a:ea typeface="Calibri" pitchFamily="34" charset="-122"/>
                <a:cs typeface="Calibri" pitchFamily="34" charset="-120"/>
              </a:rPr>
              <a:t>Transfer procijenjen za </a:t>
            </a:r>
            <a:r>
              <a:rPr lang="en-US" sz="1050" dirty="0" err="1">
                <a:solidFill>
                  <a:srgbClr val="94A3B8"/>
                </a:solidFill>
                <a:latin typeface="Calibri" pitchFamily="34" charset="0"/>
                <a:ea typeface="Calibri" pitchFamily="34" charset="-122"/>
                <a:cs typeface="Calibri" pitchFamily="34" charset="-120"/>
              </a:rPr>
              <a:t>stotine</a:t>
            </a:r>
            <a:r>
              <a:rPr lang="en-US" sz="1050" dirty="0">
                <a:solidFill>
                  <a:srgbClr val="94A3B8"/>
                </a:solidFill>
                <a:latin typeface="Calibri" pitchFamily="34" charset="0"/>
                <a:ea typeface="Calibri" pitchFamily="34" charset="-122"/>
                <a:cs typeface="Calibri" pitchFamily="34" charset="-120"/>
              </a:rPr>
              <a:t> </a:t>
            </a:r>
            <a:r>
              <a:rPr lang="en-US" sz="1050" dirty="0" err="1">
                <a:solidFill>
                  <a:srgbClr val="94A3B8"/>
                </a:solidFill>
                <a:latin typeface="Calibri" pitchFamily="34" charset="0"/>
                <a:ea typeface="Calibri" pitchFamily="34" charset="-122"/>
                <a:cs typeface="Calibri" pitchFamily="34" charset="-120"/>
              </a:rPr>
              <a:t>hiljada</a:t>
            </a:r>
            <a:r>
              <a:rPr lang="en-US" sz="1050" dirty="0">
                <a:solidFill>
                  <a:srgbClr val="94A3B8"/>
                </a:solidFill>
                <a:latin typeface="Calibri" pitchFamily="34" charset="0"/>
                <a:ea typeface="Calibri" pitchFamily="34" charset="-122"/>
                <a:cs typeface="Calibri" pitchFamily="34" charset="-120"/>
              </a:rPr>
              <a:t> € više</a:t>
            </a:r>
            <a:endParaRPr lang="en-US" sz="1050" dirty="0"/>
          </a:p>
        </p:txBody>
      </p:sp>
      <p:sp>
        <p:nvSpPr>
          <p:cNvPr id="25" name="Text 23"/>
          <p:cNvSpPr/>
          <p:nvPr/>
        </p:nvSpPr>
        <p:spPr>
          <a:xfrm>
            <a:off x="8046720" y="2962656"/>
            <a:ext cx="731521" cy="256032"/>
          </a:xfrm>
          <a:prstGeom prst="rect">
            <a:avLst/>
          </a:prstGeom>
          <a:noFill/>
          <a:ln/>
        </p:spPr>
        <p:txBody>
          <a:bodyPr wrap="square" lIns="0" tIns="0" rIns="0" bIns="0" rtlCol="0" anchor="ctr"/>
          <a:lstStyle/>
          <a:p>
            <a:pPr algn="r"/>
            <a:r>
              <a:rPr lang="en-US" sz="1050" b="1" dirty="0" err="1">
                <a:solidFill>
                  <a:srgbClr val="22C55E"/>
                </a:solidFill>
                <a:latin typeface="Calibri" pitchFamily="34" charset="0"/>
                <a:ea typeface="Calibri" pitchFamily="34" charset="-122"/>
                <a:cs typeface="Calibri" pitchFamily="34" charset="-120"/>
              </a:rPr>
              <a:t>Potencijalno</a:t>
            </a:r>
            <a:r>
              <a:rPr lang="en-US" sz="1050" b="1" dirty="0">
                <a:solidFill>
                  <a:srgbClr val="22C55E"/>
                </a:solidFill>
                <a:latin typeface="Calibri" pitchFamily="34" charset="0"/>
                <a:ea typeface="Calibri" pitchFamily="34" charset="-122"/>
                <a:cs typeface="Calibri" pitchFamily="34" charset="-120"/>
              </a:rPr>
              <a:t> </a:t>
            </a:r>
            <a:r>
              <a:rPr lang="en-US" sz="1050" b="1" dirty="0" err="1">
                <a:solidFill>
                  <a:srgbClr val="22C55E"/>
                </a:solidFill>
                <a:latin typeface="Calibri" pitchFamily="34" charset="0"/>
                <a:ea typeface="Calibri" pitchFamily="34" charset="-122"/>
                <a:cs typeface="Calibri" pitchFamily="34" charset="-120"/>
              </a:rPr>
              <a:t>milioni</a:t>
            </a:r>
            <a:r>
              <a:rPr lang="en-US" sz="1050" b="1" dirty="0">
                <a:solidFill>
                  <a:srgbClr val="22C55E"/>
                </a:solidFill>
                <a:latin typeface="Calibri" pitchFamily="34" charset="0"/>
                <a:ea typeface="Calibri" pitchFamily="34" charset="-122"/>
                <a:cs typeface="Calibri" pitchFamily="34" charset="-120"/>
              </a:rPr>
              <a:t> € </a:t>
            </a:r>
            <a:endParaRPr lang="en-US" sz="1050" dirty="0"/>
          </a:p>
        </p:txBody>
      </p:sp>
      <p:sp>
        <p:nvSpPr>
          <p:cNvPr id="26" name="Shape 24"/>
          <p:cNvSpPr/>
          <p:nvPr/>
        </p:nvSpPr>
        <p:spPr>
          <a:xfrm>
            <a:off x="5577840" y="3264408"/>
            <a:ext cx="3200400" cy="0"/>
          </a:xfrm>
          <a:prstGeom prst="line">
            <a:avLst/>
          </a:prstGeom>
          <a:noFill/>
          <a:ln w="6350">
            <a:solidFill>
              <a:srgbClr val="243049"/>
            </a:solidFill>
            <a:prstDash val="solid"/>
          </a:ln>
        </p:spPr>
        <p:txBody>
          <a:bodyPr/>
          <a:lstStyle/>
          <a:p>
            <a:endParaRPr/>
          </a:p>
        </p:txBody>
      </p:sp>
      <p:sp>
        <p:nvSpPr>
          <p:cNvPr id="27" name="Text 25"/>
          <p:cNvSpPr/>
          <p:nvPr/>
        </p:nvSpPr>
        <p:spPr>
          <a:xfrm>
            <a:off x="5577840" y="3319271"/>
            <a:ext cx="2266406" cy="324337"/>
          </a:xfrm>
          <a:prstGeom prst="rect">
            <a:avLst/>
          </a:prstGeom>
          <a:noFill/>
          <a:ln/>
        </p:spPr>
        <p:txBody>
          <a:bodyPr wrap="square" lIns="0" tIns="0" rIns="0" bIns="0" rtlCol="0" anchor="ctr"/>
          <a:lstStyle/>
          <a:p>
            <a:pPr marL="0" indent="0">
              <a:buNone/>
            </a:pPr>
            <a:r>
              <a:rPr lang="en-US" sz="1050" dirty="0">
                <a:solidFill>
                  <a:srgbClr val="94A3B8"/>
                </a:solidFill>
                <a:latin typeface="Calibri" pitchFamily="34" charset="0"/>
                <a:ea typeface="Calibri" pitchFamily="34" charset="-122"/>
                <a:cs typeface="Calibri" pitchFamily="34" charset="-120"/>
              </a:rPr>
              <a:t>Liga koja </a:t>
            </a:r>
            <a:r>
              <a:rPr lang="en-US" sz="1050" dirty="0" err="1">
                <a:solidFill>
                  <a:srgbClr val="94A3B8"/>
                </a:solidFill>
                <a:latin typeface="Calibri" pitchFamily="34" charset="0"/>
                <a:ea typeface="Calibri" pitchFamily="34" charset="-122"/>
                <a:cs typeface="Calibri" pitchFamily="34" charset="-120"/>
              </a:rPr>
              <a:t>izgleda</a:t>
            </a:r>
            <a:r>
              <a:rPr lang="en-US" sz="1050" dirty="0">
                <a:solidFill>
                  <a:srgbClr val="94A3B8"/>
                </a:solidFill>
                <a:latin typeface="Calibri" pitchFamily="34" charset="0"/>
                <a:ea typeface="Calibri" pitchFamily="34" charset="-122"/>
                <a:cs typeface="Calibri" pitchFamily="34" charset="-120"/>
              </a:rPr>
              <a:t> </a:t>
            </a:r>
            <a:r>
              <a:rPr lang="en-US" sz="1050" dirty="0" err="1">
                <a:solidFill>
                  <a:srgbClr val="94A3B8"/>
                </a:solidFill>
                <a:latin typeface="Calibri" pitchFamily="34" charset="0"/>
                <a:ea typeface="Calibri" pitchFamily="34" charset="-122"/>
                <a:cs typeface="Calibri" pitchFamily="34" charset="-120"/>
              </a:rPr>
              <a:t>modernije</a:t>
            </a:r>
            <a:r>
              <a:rPr lang="en-US" sz="1050" dirty="0">
                <a:solidFill>
                  <a:srgbClr val="94A3B8"/>
                </a:solidFill>
                <a:latin typeface="Calibri" pitchFamily="34" charset="0"/>
                <a:ea typeface="Calibri" pitchFamily="34" charset="-122"/>
                <a:cs typeface="Calibri" pitchFamily="34" charset="-120"/>
              </a:rPr>
              <a:t> </a:t>
            </a:r>
            <a:r>
              <a:rPr lang="en-US" sz="1050" dirty="0" err="1">
                <a:solidFill>
                  <a:srgbClr val="94A3B8"/>
                </a:solidFill>
                <a:latin typeface="Calibri" pitchFamily="34" charset="0"/>
                <a:ea typeface="Calibri" pitchFamily="34" charset="-122"/>
                <a:cs typeface="Calibri" pitchFamily="34" charset="-120"/>
              </a:rPr>
              <a:t>i</a:t>
            </a:r>
            <a:r>
              <a:rPr lang="en-US" sz="1050" dirty="0">
                <a:solidFill>
                  <a:srgbClr val="94A3B8"/>
                </a:solidFill>
                <a:latin typeface="Calibri" pitchFamily="34" charset="0"/>
                <a:ea typeface="Calibri" pitchFamily="34" charset="-122"/>
                <a:cs typeface="Calibri" pitchFamily="34" charset="-120"/>
              </a:rPr>
              <a:t> </a:t>
            </a:r>
            <a:r>
              <a:rPr lang="en-US" sz="1050" dirty="0" err="1">
                <a:solidFill>
                  <a:srgbClr val="94A3B8"/>
                </a:solidFill>
                <a:latin typeface="Calibri" pitchFamily="34" charset="0"/>
                <a:ea typeface="Calibri" pitchFamily="34" charset="-122"/>
                <a:cs typeface="Calibri" pitchFamily="34" charset="-120"/>
              </a:rPr>
              <a:t>profesionalnije</a:t>
            </a:r>
            <a:r>
              <a:rPr lang="en-US" sz="1050" dirty="0">
                <a:solidFill>
                  <a:srgbClr val="94A3B8"/>
                </a:solidFill>
                <a:latin typeface="Calibri" pitchFamily="34" charset="0"/>
                <a:ea typeface="Calibri" pitchFamily="34" charset="-122"/>
                <a:cs typeface="Calibri" pitchFamily="34" charset="-120"/>
              </a:rPr>
              <a:t> u očima svijeta</a:t>
            </a:r>
            <a:endParaRPr lang="en-US" sz="1050" dirty="0"/>
          </a:p>
        </p:txBody>
      </p:sp>
      <p:sp>
        <p:nvSpPr>
          <p:cNvPr id="28" name="Text 26"/>
          <p:cNvSpPr/>
          <p:nvPr/>
        </p:nvSpPr>
        <p:spPr>
          <a:xfrm>
            <a:off x="7955280" y="3364992"/>
            <a:ext cx="822960" cy="256032"/>
          </a:xfrm>
          <a:prstGeom prst="rect">
            <a:avLst/>
          </a:prstGeom>
          <a:noFill/>
          <a:ln/>
        </p:spPr>
        <p:txBody>
          <a:bodyPr wrap="square" lIns="0" tIns="0" rIns="0" bIns="0" rtlCol="0" anchor="ctr"/>
          <a:lstStyle/>
          <a:p>
            <a:pPr marL="0" indent="0" algn="r">
              <a:buNone/>
            </a:pPr>
            <a:r>
              <a:rPr lang="en-US" sz="1050" b="1" dirty="0" err="1">
                <a:solidFill>
                  <a:srgbClr val="22C55E"/>
                </a:solidFill>
                <a:latin typeface="Calibri" pitchFamily="34" charset="0"/>
                <a:ea typeface="Calibri" pitchFamily="34" charset="-122"/>
                <a:cs typeface="Calibri" pitchFamily="34" charset="-120"/>
              </a:rPr>
              <a:t>Neprocjenjivo</a:t>
            </a:r>
            <a:endParaRPr lang="en-US" sz="1050" dirty="0"/>
          </a:p>
        </p:txBody>
      </p:sp>
      <p:sp>
        <p:nvSpPr>
          <p:cNvPr id="31" name="Text 29"/>
          <p:cNvSpPr/>
          <p:nvPr/>
        </p:nvSpPr>
        <p:spPr>
          <a:xfrm>
            <a:off x="457200" y="4462272"/>
            <a:ext cx="8229600" cy="274320"/>
          </a:xfrm>
          <a:prstGeom prst="rect">
            <a:avLst/>
          </a:prstGeom>
          <a:noFill/>
          <a:ln/>
        </p:spPr>
        <p:txBody>
          <a:bodyPr wrap="square" lIns="0" tIns="0" rIns="0" bIns="0" rtlCol="0" anchor="ctr"/>
          <a:lstStyle/>
          <a:p>
            <a:pPr marL="0" indent="0" algn="ctr">
              <a:buNone/>
            </a:pPr>
            <a:r>
              <a:rPr lang="en-US" sz="1100" b="1" i="1" dirty="0">
                <a:solidFill>
                  <a:srgbClr val="22C55E"/>
                </a:solidFill>
                <a:latin typeface="Calibri" pitchFamily="34" charset="0"/>
                <a:ea typeface="Calibri" pitchFamily="34" charset="-122"/>
                <a:cs typeface="Calibri" pitchFamily="34" charset="-120"/>
              </a:rPr>
              <a:t>€48,000 ulažete. Potencijal: višestruki povrat investicije, regionalno liderstvo, grantovi. Rizik je ograničen. Potencijal nije.</a:t>
            </a:r>
            <a:endParaRPr lang="en-US" sz="1100" dirty="0"/>
          </a:p>
        </p:txBody>
      </p:sp>
      <p:sp>
        <p:nvSpPr>
          <p:cNvPr id="32" name="Text 30"/>
          <p:cNvSpPr/>
          <p:nvPr/>
        </p:nvSpPr>
        <p:spPr>
          <a:xfrm>
            <a:off x="457200" y="4777740"/>
            <a:ext cx="5486400" cy="274320"/>
          </a:xfrm>
          <a:prstGeom prst="rect">
            <a:avLst/>
          </a:prstGeom>
          <a:noFill/>
          <a:ln/>
        </p:spPr>
        <p:txBody>
          <a:bodyPr wrap="square" lIns="0" tIns="0" rIns="0" bIns="0" rtlCol="0" anchor="ctr"/>
          <a:lstStyle/>
          <a:p>
            <a:pPr marL="0" indent="0">
              <a:buNone/>
            </a:pPr>
            <a:r>
              <a:rPr lang="en-US" sz="800" b="1" kern="0" spc="300" dirty="0">
                <a:solidFill>
                  <a:srgbClr val="64748B"/>
                </a:solidFill>
                <a:latin typeface="Calibri" pitchFamily="34" charset="0"/>
                <a:ea typeface="Calibri" pitchFamily="34" charset="-122"/>
                <a:cs typeface="Calibri" pitchFamily="34" charset="-120"/>
              </a:rPr>
              <a:t>ANALITIKA PODATAKA ZA CRNOGORSKI FUDBAL</a:t>
            </a:r>
            <a:endParaRPr lang="en-US" sz="800" dirty="0"/>
          </a:p>
        </p:txBody>
      </p:sp>
      <p:sp>
        <p:nvSpPr>
          <p:cNvPr id="33" name="Text 31"/>
          <p:cNvSpPr/>
          <p:nvPr/>
        </p:nvSpPr>
        <p:spPr>
          <a:xfrm>
            <a:off x="7955280" y="4777740"/>
            <a:ext cx="9144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14 / 21</a:t>
            </a:r>
            <a:endParaRPr lang="en-US" sz="900" dirty="0"/>
          </a:p>
        </p:txBody>
      </p:sp>
      <p:sp>
        <p:nvSpPr>
          <p:cNvPr id="13" name="Shape 24">
            <a:extLst>
              <a:ext uri="{FF2B5EF4-FFF2-40B4-BE49-F238E27FC236}">
                <a16:creationId xmlns:a16="http://schemas.microsoft.com/office/drawing/2014/main" id="{2794BFF2-3863-19A4-4B77-CAF40D0ED136}"/>
              </a:ext>
            </a:extLst>
          </p:cNvPr>
          <p:cNvSpPr/>
          <p:nvPr/>
        </p:nvSpPr>
        <p:spPr>
          <a:xfrm>
            <a:off x="5577839" y="3747734"/>
            <a:ext cx="3200400" cy="0"/>
          </a:xfrm>
          <a:prstGeom prst="line">
            <a:avLst/>
          </a:prstGeom>
          <a:noFill/>
          <a:ln w="6350">
            <a:solidFill>
              <a:srgbClr val="243049"/>
            </a:solidFill>
            <a:prstDash val="solid"/>
          </a:ln>
        </p:spPr>
        <p:txBody>
          <a:bodyPr/>
          <a:lstStyle/>
          <a:p>
            <a:endParaRPr/>
          </a:p>
        </p:txBody>
      </p:sp>
      <p:sp>
        <p:nvSpPr>
          <p:cNvPr id="34" name="TextBox 33">
            <a:extLst>
              <a:ext uri="{FF2B5EF4-FFF2-40B4-BE49-F238E27FC236}">
                <a16:creationId xmlns:a16="http://schemas.microsoft.com/office/drawing/2014/main" id="{442D6C0E-AA4B-2B25-02A9-6EE1D58B56B0}"/>
              </a:ext>
            </a:extLst>
          </p:cNvPr>
          <p:cNvSpPr txBox="1"/>
          <p:nvPr/>
        </p:nvSpPr>
        <p:spPr>
          <a:xfrm>
            <a:off x="5519056" y="3809766"/>
            <a:ext cx="2031275" cy="253916"/>
          </a:xfrm>
          <a:prstGeom prst="rect">
            <a:avLst/>
          </a:prstGeom>
          <a:noFill/>
        </p:spPr>
        <p:txBody>
          <a:bodyPr wrap="square" rtlCol="0">
            <a:spAutoFit/>
          </a:bodyPr>
          <a:lstStyle/>
          <a:p>
            <a:r>
              <a:rPr lang="en-US" sz="1050" dirty="0" err="1">
                <a:solidFill>
                  <a:srgbClr val="94A3B8"/>
                </a:solidFill>
                <a:latin typeface="Calibri" pitchFamily="34" charset="0"/>
                <a:ea typeface="Calibri" pitchFamily="34" charset="-122"/>
                <a:cs typeface="Calibri" pitchFamily="34" charset="-120"/>
              </a:rPr>
              <a:t>Lokalne</a:t>
            </a:r>
            <a:r>
              <a:rPr lang="en-US" sz="1050" dirty="0">
                <a:solidFill>
                  <a:srgbClr val="94A3B8"/>
                </a:solidFill>
                <a:latin typeface="Calibri" pitchFamily="34" charset="0"/>
                <a:ea typeface="Calibri" pitchFamily="34" charset="-122"/>
                <a:cs typeface="Calibri" pitchFamily="34" charset="-120"/>
              </a:rPr>
              <a:t> </a:t>
            </a:r>
            <a:r>
              <a:rPr lang="en-US" sz="1050" dirty="0" err="1">
                <a:solidFill>
                  <a:srgbClr val="94A3B8"/>
                </a:solidFill>
                <a:latin typeface="Calibri" pitchFamily="34" charset="0"/>
                <a:ea typeface="Calibri" pitchFamily="34" charset="-122"/>
                <a:cs typeface="Calibri" pitchFamily="34" charset="-120"/>
              </a:rPr>
              <a:t>kladionice</a:t>
            </a:r>
            <a:r>
              <a:rPr lang="en-US" sz="1050" dirty="0">
                <a:solidFill>
                  <a:srgbClr val="94A3B8"/>
                </a:solidFill>
                <a:latin typeface="Calibri" pitchFamily="34" charset="0"/>
                <a:ea typeface="Calibri" pitchFamily="34" charset="-122"/>
                <a:cs typeface="Calibri" pitchFamily="34" charset="-120"/>
              </a:rPr>
              <a:t> </a:t>
            </a:r>
            <a:r>
              <a:rPr lang="en-US" sz="1050" dirty="0" err="1">
                <a:solidFill>
                  <a:srgbClr val="94A3B8"/>
                </a:solidFill>
                <a:latin typeface="Calibri" pitchFamily="34" charset="0"/>
                <a:ea typeface="Calibri" pitchFamily="34" charset="-122"/>
                <a:cs typeface="Calibri" pitchFamily="34" charset="-120"/>
              </a:rPr>
              <a:t>kao</a:t>
            </a:r>
            <a:r>
              <a:rPr lang="en-US" sz="1050" dirty="0">
                <a:solidFill>
                  <a:srgbClr val="94A3B8"/>
                </a:solidFill>
                <a:latin typeface="Calibri" pitchFamily="34" charset="0"/>
                <a:ea typeface="Calibri" pitchFamily="34" charset="-122"/>
                <a:cs typeface="Calibri" pitchFamily="34" charset="-120"/>
              </a:rPr>
              <a:t> </a:t>
            </a:r>
            <a:r>
              <a:rPr lang="en-US" sz="1050" dirty="0" err="1">
                <a:solidFill>
                  <a:srgbClr val="94A3B8"/>
                </a:solidFill>
                <a:latin typeface="Calibri" pitchFamily="34" charset="0"/>
                <a:ea typeface="Calibri" pitchFamily="34" charset="-122"/>
                <a:cs typeface="Calibri" pitchFamily="34" charset="-120"/>
              </a:rPr>
              <a:t>kupac</a:t>
            </a:r>
            <a:endParaRPr lang="en-US" sz="1050" dirty="0"/>
          </a:p>
        </p:txBody>
      </p:sp>
      <p:sp>
        <p:nvSpPr>
          <p:cNvPr id="35" name="Text 26">
            <a:extLst>
              <a:ext uri="{FF2B5EF4-FFF2-40B4-BE49-F238E27FC236}">
                <a16:creationId xmlns:a16="http://schemas.microsoft.com/office/drawing/2014/main" id="{756DBB6E-F93E-4DDA-0941-4C1D892B0D0F}"/>
              </a:ext>
            </a:extLst>
          </p:cNvPr>
          <p:cNvSpPr/>
          <p:nvPr/>
        </p:nvSpPr>
        <p:spPr>
          <a:xfrm>
            <a:off x="7955281" y="3787620"/>
            <a:ext cx="822960" cy="256032"/>
          </a:xfrm>
          <a:prstGeom prst="rect">
            <a:avLst/>
          </a:prstGeom>
          <a:noFill/>
          <a:ln/>
        </p:spPr>
        <p:txBody>
          <a:bodyPr wrap="square" lIns="0" tIns="0" rIns="0" bIns="0" rtlCol="0" anchor="ctr"/>
          <a:lstStyle/>
          <a:p>
            <a:pPr marL="0" indent="0" algn="r">
              <a:buNone/>
            </a:pPr>
            <a:endParaRPr lang="en-US" sz="1050" dirty="0"/>
          </a:p>
        </p:txBody>
      </p:sp>
      <p:sp>
        <p:nvSpPr>
          <p:cNvPr id="36" name="Text 26">
            <a:extLst>
              <a:ext uri="{FF2B5EF4-FFF2-40B4-BE49-F238E27FC236}">
                <a16:creationId xmlns:a16="http://schemas.microsoft.com/office/drawing/2014/main" id="{99C6D1F7-B60A-0F8C-0284-E95DF8CB7089}"/>
              </a:ext>
            </a:extLst>
          </p:cNvPr>
          <p:cNvSpPr/>
          <p:nvPr/>
        </p:nvSpPr>
        <p:spPr>
          <a:xfrm>
            <a:off x="7955281" y="3920557"/>
            <a:ext cx="842554" cy="189496"/>
          </a:xfrm>
          <a:prstGeom prst="rect">
            <a:avLst/>
          </a:prstGeom>
          <a:noFill/>
          <a:ln/>
        </p:spPr>
        <p:txBody>
          <a:bodyPr wrap="square" lIns="0" tIns="0" rIns="0" bIns="0" rtlCol="0" anchor="ctr"/>
          <a:lstStyle/>
          <a:p>
            <a:pPr algn="r"/>
            <a:r>
              <a:rPr lang="en-US" sz="1050" b="1" dirty="0">
                <a:solidFill>
                  <a:srgbClr val="22C55E"/>
                </a:solidFill>
                <a:latin typeface="Calibri" pitchFamily="34" charset="0"/>
                <a:ea typeface="Calibri" pitchFamily="34" charset="-122"/>
                <a:cs typeface="Calibri" pitchFamily="34" charset="-120"/>
              </a:rPr>
              <a:t>+€10–30k /god</a:t>
            </a:r>
            <a:endParaRPr lang="en-US" sz="1050" dirty="0"/>
          </a:p>
          <a:p>
            <a:pPr marL="0" indent="0" algn="r">
              <a:buNone/>
            </a:pP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bg>
      <p:bgPr>
        <a:solidFill>
          <a:srgbClr val="0A0F1C"/>
        </a:solidFill>
        <a:effectLst/>
      </p:bgPr>
    </p:bg>
    <p:spTree>
      <p:nvGrpSpPr>
        <p:cNvPr id="1" name=""/>
        <p:cNvGrpSpPr/>
        <p:nvPr/>
      </p:nvGrpSpPr>
      <p:grpSpPr>
        <a:xfrm>
          <a:off x="0" y="0"/>
          <a:ext cx="0" cy="0"/>
          <a:chOff x="0" y="0"/>
          <a:chExt cx="0" cy="0"/>
        </a:xfrm>
      </p:grpSpPr>
      <p:sp>
        <p:nvSpPr>
          <p:cNvPr id="2" name="Shape 0"/>
          <p:cNvSpPr/>
          <p:nvPr/>
        </p:nvSpPr>
        <p:spPr>
          <a:xfrm>
            <a:off x="457200" y="411480"/>
            <a:ext cx="164592" cy="164592"/>
          </a:xfrm>
          <a:prstGeom prst="rect">
            <a:avLst/>
          </a:prstGeom>
          <a:solidFill>
            <a:srgbClr val="22C55E"/>
          </a:solidFill>
          <a:ln w="12700">
            <a:solidFill>
              <a:srgbClr val="22C55E"/>
            </a:solidFill>
            <a:prstDash val="solid"/>
          </a:ln>
        </p:spPr>
        <p:txBody>
          <a:bodyPr/>
          <a:lstStyle/>
          <a:p>
            <a:endParaRPr/>
          </a:p>
        </p:txBody>
      </p:sp>
      <p:sp>
        <p:nvSpPr>
          <p:cNvPr id="3" name="Text 1"/>
          <p:cNvSpPr/>
          <p:nvPr/>
        </p:nvSpPr>
        <p:spPr>
          <a:xfrm>
            <a:off x="749808" y="384048"/>
            <a:ext cx="7315200" cy="228600"/>
          </a:xfrm>
          <a:prstGeom prst="rect">
            <a:avLst/>
          </a:prstGeom>
          <a:noFill/>
          <a:ln/>
        </p:spPr>
        <p:txBody>
          <a:bodyPr wrap="square" lIns="0" tIns="0" rIns="0" bIns="0" rtlCol="0" anchor="ctr"/>
          <a:lstStyle/>
          <a:p>
            <a:pPr marL="0" indent="0">
              <a:buNone/>
            </a:pPr>
            <a:r>
              <a:rPr lang="en-US" sz="1000" b="1" kern="0" spc="400" dirty="0">
                <a:solidFill>
                  <a:srgbClr val="22C55E"/>
                </a:solidFill>
                <a:latin typeface="Calibri" pitchFamily="34" charset="0"/>
                <a:ea typeface="Calibri" pitchFamily="34" charset="-122"/>
                <a:cs typeface="Calibri" pitchFamily="34" charset="-120"/>
              </a:rPr>
              <a:t>PLAN RADA</a:t>
            </a:r>
            <a:endParaRPr lang="en-US" sz="1000" dirty="0"/>
          </a:p>
        </p:txBody>
      </p:sp>
      <p:sp>
        <p:nvSpPr>
          <p:cNvPr id="4" name="Text 2"/>
          <p:cNvSpPr/>
          <p:nvPr/>
        </p:nvSpPr>
        <p:spPr>
          <a:xfrm>
            <a:off x="457200" y="685800"/>
            <a:ext cx="8229600" cy="640080"/>
          </a:xfrm>
          <a:prstGeom prst="rect">
            <a:avLst/>
          </a:prstGeom>
          <a:noFill/>
          <a:ln/>
        </p:spPr>
        <p:txBody>
          <a:bodyPr wrap="square" lIns="0" tIns="0" rIns="0" bIns="0" rtlCol="0" anchor="ctr"/>
          <a:lstStyle/>
          <a:p>
            <a:pPr marL="0" indent="0">
              <a:buNone/>
            </a:pPr>
            <a:r>
              <a:rPr lang="en-US" sz="2600" b="1" dirty="0">
                <a:solidFill>
                  <a:srgbClr val="F8FAFC"/>
                </a:solidFill>
                <a:latin typeface="Calibri" pitchFamily="34" charset="0"/>
                <a:ea typeface="Calibri" pitchFamily="34" charset="-122"/>
                <a:cs typeface="Calibri" pitchFamily="34" charset="-120"/>
              </a:rPr>
              <a:t>Prvih petnaest mjeseci, u praksi</a:t>
            </a:r>
            <a:endParaRPr lang="en-US" sz="2600" dirty="0"/>
          </a:p>
        </p:txBody>
      </p:sp>
      <p:sp>
        <p:nvSpPr>
          <p:cNvPr id="5" name="Shape 3"/>
          <p:cNvSpPr/>
          <p:nvPr/>
        </p:nvSpPr>
        <p:spPr>
          <a:xfrm>
            <a:off x="320040" y="1554480"/>
            <a:ext cx="1627632" cy="2788920"/>
          </a:xfrm>
          <a:prstGeom prst="rect">
            <a:avLst/>
          </a:prstGeom>
          <a:solidFill>
            <a:srgbClr val="141B2E"/>
          </a:solidFill>
          <a:ln w="12700">
            <a:solidFill>
              <a:srgbClr val="243049"/>
            </a:solidFill>
            <a:prstDash val="solid"/>
          </a:ln>
        </p:spPr>
        <p:txBody>
          <a:bodyPr/>
          <a:lstStyle/>
          <a:p>
            <a:endParaRPr/>
          </a:p>
        </p:txBody>
      </p:sp>
      <p:sp>
        <p:nvSpPr>
          <p:cNvPr id="6" name="Shape 4"/>
          <p:cNvSpPr/>
          <p:nvPr/>
        </p:nvSpPr>
        <p:spPr>
          <a:xfrm>
            <a:off x="320040" y="1554480"/>
            <a:ext cx="1627632" cy="54864"/>
          </a:xfrm>
          <a:prstGeom prst="rect">
            <a:avLst/>
          </a:prstGeom>
          <a:solidFill>
            <a:srgbClr val="22C55E"/>
          </a:solidFill>
          <a:ln w="12700">
            <a:solidFill>
              <a:srgbClr val="22C55E"/>
            </a:solidFill>
            <a:prstDash val="solid"/>
          </a:ln>
        </p:spPr>
        <p:txBody>
          <a:bodyPr/>
          <a:lstStyle/>
          <a:p>
            <a:endParaRPr/>
          </a:p>
        </p:txBody>
      </p:sp>
      <p:sp>
        <p:nvSpPr>
          <p:cNvPr id="7" name="Text 5"/>
          <p:cNvSpPr/>
          <p:nvPr/>
        </p:nvSpPr>
        <p:spPr>
          <a:xfrm>
            <a:off x="457200" y="1719072"/>
            <a:ext cx="1353312" cy="228600"/>
          </a:xfrm>
          <a:prstGeom prst="rect">
            <a:avLst/>
          </a:prstGeom>
          <a:noFill/>
          <a:ln/>
        </p:spPr>
        <p:txBody>
          <a:bodyPr wrap="square" lIns="0" tIns="0" rIns="0" bIns="0" rtlCol="0" anchor="ctr"/>
          <a:lstStyle/>
          <a:p>
            <a:pPr marL="0" indent="0">
              <a:buNone/>
            </a:pPr>
            <a:r>
              <a:rPr lang="en-US" sz="900" b="1" kern="0" spc="200" dirty="0">
                <a:solidFill>
                  <a:srgbClr val="22C55E"/>
                </a:solidFill>
                <a:latin typeface="Calibri" pitchFamily="34" charset="0"/>
                <a:ea typeface="Calibri" pitchFamily="34" charset="-122"/>
                <a:cs typeface="Calibri" pitchFamily="34" charset="-120"/>
              </a:rPr>
              <a:t>APR–JUN 2026</a:t>
            </a:r>
            <a:endParaRPr lang="en-US" sz="900" dirty="0"/>
          </a:p>
        </p:txBody>
      </p:sp>
      <p:sp>
        <p:nvSpPr>
          <p:cNvPr id="8" name="Text 6"/>
          <p:cNvSpPr/>
          <p:nvPr/>
        </p:nvSpPr>
        <p:spPr>
          <a:xfrm>
            <a:off x="457200" y="1965960"/>
            <a:ext cx="1353312" cy="411480"/>
          </a:xfrm>
          <a:prstGeom prst="rect">
            <a:avLst/>
          </a:prstGeom>
          <a:noFill/>
          <a:ln/>
        </p:spPr>
        <p:txBody>
          <a:bodyPr wrap="square" lIns="0" tIns="0" rIns="0" bIns="0" rtlCol="0" anchor="ctr"/>
          <a:lstStyle/>
          <a:p>
            <a:pPr marL="0" indent="0">
              <a:buNone/>
            </a:pPr>
            <a:r>
              <a:rPr lang="en-US" sz="1800" b="1" dirty="0">
                <a:solidFill>
                  <a:srgbClr val="F8FAFC"/>
                </a:solidFill>
                <a:latin typeface="Calibri" pitchFamily="34" charset="0"/>
                <a:ea typeface="Calibri" pitchFamily="34" charset="-122"/>
                <a:cs typeface="Calibri" pitchFamily="34" charset="-120"/>
              </a:rPr>
              <a:t>Izgradnja</a:t>
            </a:r>
            <a:endParaRPr lang="en-US" sz="1800" dirty="0"/>
          </a:p>
        </p:txBody>
      </p:sp>
      <p:sp>
        <p:nvSpPr>
          <p:cNvPr id="9" name="Shape 7"/>
          <p:cNvSpPr/>
          <p:nvPr/>
        </p:nvSpPr>
        <p:spPr>
          <a:xfrm>
            <a:off x="457200" y="2450592"/>
            <a:ext cx="365760" cy="0"/>
          </a:xfrm>
          <a:prstGeom prst="line">
            <a:avLst/>
          </a:prstGeom>
          <a:noFill/>
          <a:ln w="19050">
            <a:solidFill>
              <a:srgbClr val="22C55E"/>
            </a:solidFill>
            <a:prstDash val="solid"/>
          </a:ln>
        </p:spPr>
        <p:txBody>
          <a:bodyPr/>
          <a:lstStyle/>
          <a:p>
            <a:endParaRPr/>
          </a:p>
        </p:txBody>
      </p:sp>
      <p:sp>
        <p:nvSpPr>
          <p:cNvPr id="10" name="Text 8"/>
          <p:cNvSpPr/>
          <p:nvPr/>
        </p:nvSpPr>
        <p:spPr>
          <a:xfrm>
            <a:off x="457200" y="2606040"/>
            <a:ext cx="1353312" cy="1645920"/>
          </a:xfrm>
          <a:prstGeom prst="rect">
            <a:avLst/>
          </a:prstGeom>
          <a:noFill/>
          <a:ln/>
        </p:spPr>
        <p:txBody>
          <a:bodyPr wrap="square" lIns="0" tIns="0" rIns="0" bIns="0" rtlCol="0" anchor="t"/>
          <a:lstStyle/>
          <a:p>
            <a:pPr marL="342900" indent="-342900">
              <a:spcAft>
                <a:spcPts val="500"/>
              </a:spcAft>
              <a:buSzPct val="100000"/>
              <a:buChar char="■"/>
            </a:pPr>
            <a:r>
              <a:rPr lang="en-US" sz="950" dirty="0" err="1">
                <a:solidFill>
                  <a:srgbClr val="94A3B8"/>
                </a:solidFill>
                <a:latin typeface="Calibri" pitchFamily="34" charset="0"/>
                <a:ea typeface="Calibri" pitchFamily="34" charset="-122"/>
                <a:cs typeface="Calibri" pitchFamily="34" charset="-120"/>
              </a:rPr>
              <a:t>Uloga</a:t>
            </a:r>
            <a:r>
              <a:rPr lang="en-US" sz="950" dirty="0">
                <a:solidFill>
                  <a:srgbClr val="94A3B8"/>
                </a:solidFill>
                <a:latin typeface="Calibri" pitchFamily="34" charset="0"/>
                <a:ea typeface="Calibri" pitchFamily="34" charset="-122"/>
                <a:cs typeface="Calibri" pitchFamily="34" charset="-120"/>
              </a:rPr>
              <a:t> </a:t>
            </a:r>
            <a:r>
              <a:rPr lang="en-US" sz="950" dirty="0" err="1">
                <a:solidFill>
                  <a:srgbClr val="94A3B8"/>
                </a:solidFill>
                <a:latin typeface="Calibri" pitchFamily="34" charset="0"/>
                <a:ea typeface="Calibri" pitchFamily="34" charset="-122"/>
                <a:cs typeface="Calibri" pitchFamily="34" charset="-120"/>
              </a:rPr>
              <a:t>i</a:t>
            </a:r>
            <a:r>
              <a:rPr lang="en-US" sz="950" dirty="0">
                <a:solidFill>
                  <a:srgbClr val="94A3B8"/>
                </a:solidFill>
                <a:latin typeface="Calibri" pitchFamily="34" charset="0"/>
                <a:ea typeface="Calibri" pitchFamily="34" charset="-122"/>
                <a:cs typeface="Calibri" pitchFamily="34" charset="-120"/>
              </a:rPr>
              <a:t> </a:t>
            </a:r>
            <a:r>
              <a:rPr lang="en-US" sz="950" dirty="0" err="1">
                <a:solidFill>
                  <a:srgbClr val="94A3B8"/>
                </a:solidFill>
                <a:latin typeface="Calibri" pitchFamily="34" charset="0"/>
                <a:ea typeface="Calibri" pitchFamily="34" charset="-122"/>
                <a:cs typeface="Calibri" pitchFamily="34" charset="-120"/>
              </a:rPr>
              <a:t>odjeljenje</a:t>
            </a:r>
            <a:r>
              <a:rPr lang="en-US" sz="950" dirty="0">
                <a:solidFill>
                  <a:srgbClr val="94A3B8"/>
                </a:solidFill>
                <a:latin typeface="Calibri" pitchFamily="34" charset="0"/>
                <a:ea typeface="Calibri" pitchFamily="34" charset="-122"/>
                <a:cs typeface="Calibri" pitchFamily="34" charset="-120"/>
              </a:rPr>
              <a:t> </a:t>
            </a:r>
            <a:r>
              <a:rPr lang="en-US" sz="950" dirty="0" err="1">
                <a:solidFill>
                  <a:srgbClr val="94A3B8"/>
                </a:solidFill>
                <a:latin typeface="Calibri" pitchFamily="34" charset="0"/>
                <a:ea typeface="Calibri" pitchFamily="34" charset="-122"/>
                <a:cs typeface="Calibri" pitchFamily="34" charset="-120"/>
              </a:rPr>
              <a:t>uspostavljeno</a:t>
            </a:r>
            <a:endParaRPr lang="en-US" sz="950" dirty="0"/>
          </a:p>
          <a:p>
            <a:pPr marL="342900" indent="-342900">
              <a:spcAft>
                <a:spcPts val="500"/>
              </a:spcAft>
              <a:buSzPct val="100000"/>
              <a:buChar char="■"/>
            </a:pPr>
            <a:r>
              <a:rPr lang="en-US" sz="950" dirty="0" err="1">
                <a:solidFill>
                  <a:srgbClr val="94A3B8"/>
                </a:solidFill>
                <a:latin typeface="Calibri" pitchFamily="34" charset="0"/>
                <a:ea typeface="Calibri" pitchFamily="34" charset="-122"/>
                <a:cs typeface="Calibri" pitchFamily="34" charset="-120"/>
              </a:rPr>
              <a:t>Gradnja</a:t>
            </a:r>
            <a:r>
              <a:rPr lang="en-US" sz="950" dirty="0">
                <a:solidFill>
                  <a:srgbClr val="94A3B8"/>
                </a:solidFill>
                <a:latin typeface="Calibri" pitchFamily="34" charset="0"/>
                <a:ea typeface="Calibri" pitchFamily="34" charset="-122"/>
                <a:cs typeface="Calibri" pitchFamily="34" charset="-120"/>
              </a:rPr>
              <a:t> </a:t>
            </a:r>
            <a:r>
              <a:rPr lang="en-US" sz="950" dirty="0" err="1">
                <a:solidFill>
                  <a:srgbClr val="94A3B8"/>
                </a:solidFill>
                <a:latin typeface="Calibri" pitchFamily="34" charset="0"/>
                <a:ea typeface="Calibri" pitchFamily="34" charset="-122"/>
                <a:cs typeface="Calibri" pitchFamily="34" charset="-120"/>
              </a:rPr>
              <a:t>infrastrukture</a:t>
            </a:r>
            <a:endParaRPr lang="en-US" sz="950" dirty="0"/>
          </a:p>
          <a:p>
            <a:pPr marL="342900" indent="-342900">
              <a:spcAft>
                <a:spcPts val="500"/>
              </a:spcAft>
              <a:buSzPct val="100000"/>
              <a:buChar char="■"/>
            </a:pPr>
            <a:r>
              <a:rPr lang="en-US" sz="950" dirty="0" err="1">
                <a:solidFill>
                  <a:srgbClr val="94A3B8"/>
                </a:solidFill>
                <a:latin typeface="Calibri" pitchFamily="34" charset="0"/>
                <a:ea typeface="Calibri" pitchFamily="34" charset="-122"/>
                <a:cs typeface="Calibri" pitchFamily="34" charset="-120"/>
              </a:rPr>
              <a:t>Sistem</a:t>
            </a:r>
            <a:r>
              <a:rPr lang="en-US" sz="950" dirty="0">
                <a:solidFill>
                  <a:srgbClr val="94A3B8"/>
                </a:solidFill>
                <a:latin typeface="Calibri" pitchFamily="34" charset="0"/>
                <a:ea typeface="Calibri" pitchFamily="34" charset="-122"/>
                <a:cs typeface="Calibri" pitchFamily="34" charset="-120"/>
              </a:rPr>
              <a:t> finalizovan</a:t>
            </a:r>
            <a:endParaRPr lang="en-US" sz="950" dirty="0"/>
          </a:p>
          <a:p>
            <a:pPr marL="342900" indent="-342900">
              <a:spcAft>
                <a:spcPts val="500"/>
              </a:spcAft>
              <a:buSzPct val="100000"/>
              <a:buChar char="■"/>
            </a:pPr>
            <a:r>
              <a:rPr lang="en-US" sz="950" dirty="0">
                <a:solidFill>
                  <a:srgbClr val="94A3B8"/>
                </a:solidFill>
                <a:latin typeface="Calibri" pitchFamily="34" charset="0"/>
                <a:ea typeface="Calibri" pitchFamily="34" charset="-122"/>
                <a:cs typeface="Calibri" pitchFamily="34" charset="-120"/>
              </a:rPr>
              <a:t>Prva prijava za grant podnijeta</a:t>
            </a:r>
            <a:endParaRPr lang="en-US" sz="950" dirty="0"/>
          </a:p>
        </p:txBody>
      </p:sp>
      <p:sp>
        <p:nvSpPr>
          <p:cNvPr id="11" name="Shape 9"/>
          <p:cNvSpPr/>
          <p:nvPr/>
        </p:nvSpPr>
        <p:spPr>
          <a:xfrm>
            <a:off x="2039112" y="1554480"/>
            <a:ext cx="1627632" cy="2788920"/>
          </a:xfrm>
          <a:prstGeom prst="rect">
            <a:avLst/>
          </a:prstGeom>
          <a:solidFill>
            <a:srgbClr val="141B2E"/>
          </a:solidFill>
          <a:ln w="12700">
            <a:solidFill>
              <a:srgbClr val="243049"/>
            </a:solidFill>
            <a:prstDash val="solid"/>
          </a:ln>
        </p:spPr>
        <p:txBody>
          <a:bodyPr/>
          <a:lstStyle/>
          <a:p>
            <a:endParaRPr/>
          </a:p>
        </p:txBody>
      </p:sp>
      <p:sp>
        <p:nvSpPr>
          <p:cNvPr id="12" name="Shape 10"/>
          <p:cNvSpPr/>
          <p:nvPr/>
        </p:nvSpPr>
        <p:spPr>
          <a:xfrm>
            <a:off x="2039112" y="1554480"/>
            <a:ext cx="1627632" cy="54864"/>
          </a:xfrm>
          <a:prstGeom prst="rect">
            <a:avLst/>
          </a:prstGeom>
          <a:solidFill>
            <a:srgbClr val="22C55E"/>
          </a:solidFill>
          <a:ln w="12700">
            <a:solidFill>
              <a:srgbClr val="22C55E"/>
            </a:solidFill>
            <a:prstDash val="solid"/>
          </a:ln>
        </p:spPr>
        <p:txBody>
          <a:bodyPr/>
          <a:lstStyle/>
          <a:p>
            <a:endParaRPr/>
          </a:p>
        </p:txBody>
      </p:sp>
      <p:sp>
        <p:nvSpPr>
          <p:cNvPr id="13" name="Text 11"/>
          <p:cNvSpPr/>
          <p:nvPr/>
        </p:nvSpPr>
        <p:spPr>
          <a:xfrm>
            <a:off x="2176272" y="1719072"/>
            <a:ext cx="1353312" cy="228600"/>
          </a:xfrm>
          <a:prstGeom prst="rect">
            <a:avLst/>
          </a:prstGeom>
          <a:noFill/>
          <a:ln/>
        </p:spPr>
        <p:txBody>
          <a:bodyPr wrap="square" lIns="0" tIns="0" rIns="0" bIns="0" rtlCol="0" anchor="ctr"/>
          <a:lstStyle/>
          <a:p>
            <a:pPr marL="0" indent="0">
              <a:buNone/>
            </a:pPr>
            <a:r>
              <a:rPr lang="en-US" sz="900" b="1" kern="0" spc="200" dirty="0">
                <a:solidFill>
                  <a:srgbClr val="22C55E"/>
                </a:solidFill>
                <a:latin typeface="Calibri" pitchFamily="34" charset="0"/>
                <a:ea typeface="Calibri" pitchFamily="34" charset="-122"/>
                <a:cs typeface="Calibri" pitchFamily="34" charset="-120"/>
              </a:rPr>
              <a:t>JUL–SEP 2026</a:t>
            </a:r>
            <a:endParaRPr lang="en-US" sz="900" dirty="0"/>
          </a:p>
        </p:txBody>
      </p:sp>
      <p:sp>
        <p:nvSpPr>
          <p:cNvPr id="14" name="Text 12"/>
          <p:cNvSpPr/>
          <p:nvPr/>
        </p:nvSpPr>
        <p:spPr>
          <a:xfrm>
            <a:off x="2176272" y="1965960"/>
            <a:ext cx="1353312" cy="411480"/>
          </a:xfrm>
          <a:prstGeom prst="rect">
            <a:avLst/>
          </a:prstGeom>
          <a:noFill/>
          <a:ln/>
        </p:spPr>
        <p:txBody>
          <a:bodyPr wrap="square" lIns="0" tIns="0" rIns="0" bIns="0" rtlCol="0" anchor="ctr"/>
          <a:lstStyle/>
          <a:p>
            <a:pPr marL="0" indent="0">
              <a:buNone/>
            </a:pPr>
            <a:r>
              <a:rPr lang="en-US" sz="1800" b="1" dirty="0" err="1">
                <a:solidFill>
                  <a:srgbClr val="F8FAFC"/>
                </a:solidFill>
                <a:latin typeface="Calibri" pitchFamily="34" charset="0"/>
                <a:ea typeface="Calibri" pitchFamily="34" charset="-122"/>
                <a:cs typeface="Calibri" pitchFamily="34" charset="-120"/>
              </a:rPr>
              <a:t>Početak</a:t>
            </a:r>
            <a:endParaRPr lang="en-US" sz="1800" dirty="0"/>
          </a:p>
        </p:txBody>
      </p:sp>
      <p:sp>
        <p:nvSpPr>
          <p:cNvPr id="15" name="Shape 13"/>
          <p:cNvSpPr/>
          <p:nvPr/>
        </p:nvSpPr>
        <p:spPr>
          <a:xfrm>
            <a:off x="2176272" y="2450592"/>
            <a:ext cx="365760" cy="0"/>
          </a:xfrm>
          <a:prstGeom prst="line">
            <a:avLst/>
          </a:prstGeom>
          <a:noFill/>
          <a:ln w="19050">
            <a:solidFill>
              <a:srgbClr val="22C55E"/>
            </a:solidFill>
            <a:prstDash val="solid"/>
          </a:ln>
        </p:spPr>
        <p:txBody>
          <a:bodyPr/>
          <a:lstStyle/>
          <a:p>
            <a:endParaRPr/>
          </a:p>
        </p:txBody>
      </p:sp>
      <p:sp>
        <p:nvSpPr>
          <p:cNvPr id="16" name="Text 14"/>
          <p:cNvSpPr/>
          <p:nvPr/>
        </p:nvSpPr>
        <p:spPr>
          <a:xfrm>
            <a:off x="2176272" y="2606040"/>
            <a:ext cx="1353312" cy="1645920"/>
          </a:xfrm>
          <a:prstGeom prst="rect">
            <a:avLst/>
          </a:prstGeom>
          <a:noFill/>
          <a:ln/>
        </p:spPr>
        <p:txBody>
          <a:bodyPr wrap="square" lIns="0" tIns="0" rIns="0" bIns="0" rtlCol="0" anchor="t"/>
          <a:lstStyle/>
          <a:p>
            <a:pPr marL="342900" indent="-342900">
              <a:spcAft>
                <a:spcPts val="500"/>
              </a:spcAft>
              <a:buSzPct val="100000"/>
              <a:buChar char="■"/>
            </a:pPr>
            <a:r>
              <a:rPr lang="en-US" sz="950" dirty="0">
                <a:solidFill>
                  <a:srgbClr val="94A3B8"/>
                </a:solidFill>
                <a:latin typeface="Calibri" pitchFamily="34" charset="0"/>
                <a:ea typeface="Calibri" pitchFamily="34" charset="-122"/>
                <a:cs typeface="Calibri" pitchFamily="34" charset="-120"/>
              </a:rPr>
              <a:t>Sezona počinje u augustu</a:t>
            </a:r>
            <a:endParaRPr lang="en-US" sz="950" dirty="0"/>
          </a:p>
          <a:p>
            <a:pPr marL="342900" indent="-342900">
              <a:spcAft>
                <a:spcPts val="500"/>
              </a:spcAft>
              <a:buSzPct val="100000"/>
              <a:buChar char="■"/>
            </a:pPr>
            <a:r>
              <a:rPr lang="en-US" sz="950" dirty="0">
                <a:solidFill>
                  <a:srgbClr val="94A3B8"/>
                </a:solidFill>
                <a:latin typeface="Calibri" pitchFamily="34" charset="0"/>
                <a:ea typeface="Calibri" pitchFamily="34" charset="-122"/>
                <a:cs typeface="Calibri" pitchFamily="34" charset="-120"/>
              </a:rPr>
              <a:t>Event podaci aktivni, prvo kolo</a:t>
            </a:r>
            <a:endParaRPr lang="en-US" sz="950" dirty="0"/>
          </a:p>
          <a:p>
            <a:pPr marL="342900" indent="-342900">
              <a:spcAft>
                <a:spcPts val="500"/>
              </a:spcAft>
              <a:buSzPct val="100000"/>
              <a:buChar char="■"/>
            </a:pPr>
            <a:r>
              <a:rPr lang="en-US" sz="950" dirty="0">
                <a:solidFill>
                  <a:srgbClr val="94A3B8"/>
                </a:solidFill>
                <a:latin typeface="Calibri" pitchFamily="34" charset="0"/>
                <a:ea typeface="Calibri" pitchFamily="34" charset="-122"/>
                <a:cs typeface="Calibri" pitchFamily="34" charset="-120"/>
              </a:rPr>
              <a:t>Prvi skauting izvještaj</a:t>
            </a:r>
            <a:endParaRPr lang="en-US" sz="950" dirty="0"/>
          </a:p>
          <a:p>
            <a:pPr marL="342900" indent="-342900">
              <a:spcAft>
                <a:spcPts val="500"/>
              </a:spcAft>
              <a:buSzPct val="100000"/>
              <a:buChar char="■"/>
            </a:pPr>
            <a:r>
              <a:rPr lang="en-US" sz="950" dirty="0">
                <a:solidFill>
                  <a:srgbClr val="94A3B8"/>
                </a:solidFill>
                <a:latin typeface="Calibri" pitchFamily="34" charset="0"/>
                <a:ea typeface="Calibri" pitchFamily="34" charset="-122"/>
                <a:cs typeface="Calibri" pitchFamily="34" charset="-120"/>
              </a:rPr>
              <a:t>Prvi izvještaji za klubove</a:t>
            </a:r>
            <a:endParaRPr lang="en-US" sz="950" dirty="0"/>
          </a:p>
        </p:txBody>
      </p:sp>
      <p:sp>
        <p:nvSpPr>
          <p:cNvPr id="17" name="Shape 15"/>
          <p:cNvSpPr/>
          <p:nvPr/>
        </p:nvSpPr>
        <p:spPr>
          <a:xfrm>
            <a:off x="3758184" y="1554480"/>
            <a:ext cx="1627632" cy="2788920"/>
          </a:xfrm>
          <a:prstGeom prst="rect">
            <a:avLst/>
          </a:prstGeom>
          <a:solidFill>
            <a:srgbClr val="141B2E"/>
          </a:solidFill>
          <a:ln w="12700">
            <a:solidFill>
              <a:srgbClr val="243049"/>
            </a:solidFill>
            <a:prstDash val="solid"/>
          </a:ln>
        </p:spPr>
        <p:txBody>
          <a:bodyPr/>
          <a:lstStyle/>
          <a:p>
            <a:endParaRPr/>
          </a:p>
        </p:txBody>
      </p:sp>
      <p:sp>
        <p:nvSpPr>
          <p:cNvPr id="18" name="Shape 16"/>
          <p:cNvSpPr/>
          <p:nvPr/>
        </p:nvSpPr>
        <p:spPr>
          <a:xfrm>
            <a:off x="3758184" y="1554480"/>
            <a:ext cx="1627632" cy="54864"/>
          </a:xfrm>
          <a:prstGeom prst="rect">
            <a:avLst/>
          </a:prstGeom>
          <a:solidFill>
            <a:srgbClr val="22C55E"/>
          </a:solidFill>
          <a:ln w="12700">
            <a:solidFill>
              <a:srgbClr val="22C55E"/>
            </a:solidFill>
            <a:prstDash val="solid"/>
          </a:ln>
        </p:spPr>
        <p:txBody>
          <a:bodyPr/>
          <a:lstStyle/>
          <a:p>
            <a:endParaRPr/>
          </a:p>
        </p:txBody>
      </p:sp>
      <p:sp>
        <p:nvSpPr>
          <p:cNvPr id="19" name="Text 17"/>
          <p:cNvSpPr/>
          <p:nvPr/>
        </p:nvSpPr>
        <p:spPr>
          <a:xfrm>
            <a:off x="3895344" y="1719072"/>
            <a:ext cx="1353312" cy="228600"/>
          </a:xfrm>
          <a:prstGeom prst="rect">
            <a:avLst/>
          </a:prstGeom>
          <a:noFill/>
          <a:ln/>
        </p:spPr>
        <p:txBody>
          <a:bodyPr wrap="square" lIns="0" tIns="0" rIns="0" bIns="0" rtlCol="0" anchor="ctr"/>
          <a:lstStyle/>
          <a:p>
            <a:pPr marL="0" indent="0">
              <a:buNone/>
            </a:pPr>
            <a:r>
              <a:rPr lang="en-US" sz="900" b="1" kern="0" spc="200" dirty="0">
                <a:solidFill>
                  <a:srgbClr val="22C55E"/>
                </a:solidFill>
                <a:latin typeface="Calibri" pitchFamily="34" charset="0"/>
                <a:ea typeface="Calibri" pitchFamily="34" charset="-122"/>
                <a:cs typeface="Calibri" pitchFamily="34" charset="-120"/>
              </a:rPr>
              <a:t>OCT–DEC 2026</a:t>
            </a:r>
            <a:endParaRPr lang="en-US" sz="900" dirty="0"/>
          </a:p>
        </p:txBody>
      </p:sp>
      <p:sp>
        <p:nvSpPr>
          <p:cNvPr id="20" name="Text 18"/>
          <p:cNvSpPr/>
          <p:nvPr/>
        </p:nvSpPr>
        <p:spPr>
          <a:xfrm>
            <a:off x="3895344" y="1965960"/>
            <a:ext cx="1353312" cy="411480"/>
          </a:xfrm>
          <a:prstGeom prst="rect">
            <a:avLst/>
          </a:prstGeom>
          <a:noFill/>
          <a:ln/>
        </p:spPr>
        <p:txBody>
          <a:bodyPr wrap="square" lIns="0" tIns="0" rIns="0" bIns="0" rtlCol="0" anchor="ctr"/>
          <a:lstStyle/>
          <a:p>
            <a:pPr marL="0" indent="0">
              <a:buNone/>
            </a:pPr>
            <a:r>
              <a:rPr lang="en-US" sz="1800" b="1" dirty="0">
                <a:solidFill>
                  <a:srgbClr val="F8FAFC"/>
                </a:solidFill>
                <a:latin typeface="Calibri" pitchFamily="34" charset="0"/>
                <a:ea typeface="Calibri" pitchFamily="34" charset="-122"/>
                <a:cs typeface="Calibri" pitchFamily="34" charset="-120"/>
              </a:rPr>
              <a:t>Ekspanzija</a:t>
            </a:r>
            <a:endParaRPr lang="en-US" sz="1800" dirty="0"/>
          </a:p>
        </p:txBody>
      </p:sp>
      <p:sp>
        <p:nvSpPr>
          <p:cNvPr id="21" name="Shape 19"/>
          <p:cNvSpPr/>
          <p:nvPr/>
        </p:nvSpPr>
        <p:spPr>
          <a:xfrm>
            <a:off x="3895344" y="2450592"/>
            <a:ext cx="365760" cy="0"/>
          </a:xfrm>
          <a:prstGeom prst="line">
            <a:avLst/>
          </a:prstGeom>
          <a:noFill/>
          <a:ln w="19050">
            <a:solidFill>
              <a:srgbClr val="22C55E"/>
            </a:solidFill>
            <a:prstDash val="solid"/>
          </a:ln>
        </p:spPr>
        <p:txBody>
          <a:bodyPr/>
          <a:lstStyle/>
          <a:p>
            <a:endParaRPr/>
          </a:p>
        </p:txBody>
      </p:sp>
      <p:sp>
        <p:nvSpPr>
          <p:cNvPr id="22" name="Text 20"/>
          <p:cNvSpPr/>
          <p:nvPr/>
        </p:nvSpPr>
        <p:spPr>
          <a:xfrm>
            <a:off x="3895344" y="2606040"/>
            <a:ext cx="1353312" cy="1645920"/>
          </a:xfrm>
          <a:prstGeom prst="rect">
            <a:avLst/>
          </a:prstGeom>
          <a:noFill/>
          <a:ln/>
        </p:spPr>
        <p:txBody>
          <a:bodyPr wrap="square" lIns="0" tIns="0" rIns="0" bIns="0" rtlCol="0" anchor="t"/>
          <a:lstStyle/>
          <a:p>
            <a:pPr marL="342900" indent="-342900">
              <a:spcAft>
                <a:spcPts val="500"/>
              </a:spcAft>
              <a:buSzPct val="100000"/>
              <a:buChar char="■"/>
            </a:pPr>
            <a:r>
              <a:rPr lang="en-US" sz="950" dirty="0">
                <a:solidFill>
                  <a:srgbClr val="94A3B8"/>
                </a:solidFill>
                <a:latin typeface="Calibri" pitchFamily="34" charset="0"/>
                <a:ea typeface="Calibri" pitchFamily="34" charset="-122"/>
                <a:cs typeface="Calibri" pitchFamily="34" charset="-120"/>
              </a:rPr>
              <a:t>Testiranje TV grafika</a:t>
            </a:r>
            <a:endParaRPr lang="en-US" sz="950" dirty="0"/>
          </a:p>
          <a:p>
            <a:pPr marL="342900" indent="-342900">
              <a:spcAft>
                <a:spcPts val="500"/>
              </a:spcAft>
              <a:buSzPct val="100000"/>
              <a:buChar char="■"/>
            </a:pPr>
            <a:r>
              <a:rPr lang="en-US" sz="950" dirty="0">
                <a:solidFill>
                  <a:srgbClr val="94A3B8"/>
                </a:solidFill>
                <a:latin typeface="Calibri" pitchFamily="34" charset="0"/>
                <a:ea typeface="Calibri" pitchFamily="34" charset="-122"/>
                <a:cs typeface="Calibri" pitchFamily="34" charset="-120"/>
              </a:rPr>
              <a:t>Mjesečni izvještaji o ligi</a:t>
            </a:r>
            <a:endParaRPr lang="en-US" sz="950" dirty="0"/>
          </a:p>
          <a:p>
            <a:pPr marL="342900" indent="-342900">
              <a:spcAft>
                <a:spcPts val="500"/>
              </a:spcAft>
              <a:buSzPct val="100000"/>
              <a:buChar char="■"/>
            </a:pPr>
            <a:r>
              <a:rPr lang="en-US" sz="950" dirty="0">
                <a:solidFill>
                  <a:srgbClr val="94A3B8"/>
                </a:solidFill>
                <a:latin typeface="Calibri" pitchFamily="34" charset="0"/>
                <a:ea typeface="Calibri" pitchFamily="34" charset="-122"/>
                <a:cs typeface="Calibri" pitchFamily="34" charset="-120"/>
              </a:rPr>
              <a:t>Pregovori s partnerima za podatke</a:t>
            </a:r>
            <a:endParaRPr lang="en-US" sz="950" dirty="0"/>
          </a:p>
          <a:p>
            <a:pPr marL="342900" indent="-342900">
              <a:spcAft>
                <a:spcPts val="500"/>
              </a:spcAft>
              <a:buSzPct val="100000"/>
              <a:buChar char="■"/>
            </a:pPr>
            <a:r>
              <a:rPr lang="en-US" sz="950" dirty="0">
                <a:solidFill>
                  <a:srgbClr val="94A3B8"/>
                </a:solidFill>
                <a:latin typeface="Calibri" pitchFamily="34" charset="0"/>
                <a:ea typeface="Calibri" pitchFamily="34" charset="-122"/>
                <a:cs typeface="Calibri" pitchFamily="34" charset="-120"/>
              </a:rPr>
              <a:t>Javni profili u izradi</a:t>
            </a:r>
            <a:endParaRPr lang="en-US" sz="950" dirty="0"/>
          </a:p>
        </p:txBody>
      </p:sp>
      <p:sp>
        <p:nvSpPr>
          <p:cNvPr id="23" name="Shape 21"/>
          <p:cNvSpPr/>
          <p:nvPr/>
        </p:nvSpPr>
        <p:spPr>
          <a:xfrm>
            <a:off x="5477256" y="1554480"/>
            <a:ext cx="1627632" cy="2788920"/>
          </a:xfrm>
          <a:prstGeom prst="rect">
            <a:avLst/>
          </a:prstGeom>
          <a:solidFill>
            <a:srgbClr val="141B2E"/>
          </a:solidFill>
          <a:ln w="12700">
            <a:solidFill>
              <a:srgbClr val="243049"/>
            </a:solidFill>
            <a:prstDash val="solid"/>
          </a:ln>
        </p:spPr>
        <p:txBody>
          <a:bodyPr/>
          <a:lstStyle/>
          <a:p>
            <a:endParaRPr/>
          </a:p>
        </p:txBody>
      </p:sp>
      <p:sp>
        <p:nvSpPr>
          <p:cNvPr id="24" name="Shape 22"/>
          <p:cNvSpPr/>
          <p:nvPr/>
        </p:nvSpPr>
        <p:spPr>
          <a:xfrm>
            <a:off x="5477256" y="1554480"/>
            <a:ext cx="1627632" cy="54864"/>
          </a:xfrm>
          <a:prstGeom prst="rect">
            <a:avLst/>
          </a:prstGeom>
          <a:solidFill>
            <a:srgbClr val="22C55E"/>
          </a:solidFill>
          <a:ln w="12700">
            <a:solidFill>
              <a:srgbClr val="22C55E"/>
            </a:solidFill>
            <a:prstDash val="solid"/>
          </a:ln>
        </p:spPr>
        <p:txBody>
          <a:bodyPr/>
          <a:lstStyle/>
          <a:p>
            <a:endParaRPr/>
          </a:p>
        </p:txBody>
      </p:sp>
      <p:sp>
        <p:nvSpPr>
          <p:cNvPr id="25" name="Text 23"/>
          <p:cNvSpPr/>
          <p:nvPr/>
        </p:nvSpPr>
        <p:spPr>
          <a:xfrm>
            <a:off x="5614416" y="1719072"/>
            <a:ext cx="1353312" cy="228600"/>
          </a:xfrm>
          <a:prstGeom prst="rect">
            <a:avLst/>
          </a:prstGeom>
          <a:noFill/>
          <a:ln/>
        </p:spPr>
        <p:txBody>
          <a:bodyPr wrap="square" lIns="0" tIns="0" rIns="0" bIns="0" rtlCol="0" anchor="ctr"/>
          <a:lstStyle/>
          <a:p>
            <a:pPr marL="0" indent="0">
              <a:buNone/>
            </a:pPr>
            <a:r>
              <a:rPr lang="en-US" sz="900" b="1" kern="0" spc="200" dirty="0">
                <a:solidFill>
                  <a:srgbClr val="22C55E"/>
                </a:solidFill>
                <a:latin typeface="Calibri" pitchFamily="34" charset="0"/>
                <a:ea typeface="Calibri" pitchFamily="34" charset="-122"/>
                <a:cs typeface="Calibri" pitchFamily="34" charset="-120"/>
              </a:rPr>
              <a:t>JAN–MAR 2027</a:t>
            </a:r>
            <a:endParaRPr lang="en-US" sz="900" dirty="0"/>
          </a:p>
        </p:txBody>
      </p:sp>
      <p:sp>
        <p:nvSpPr>
          <p:cNvPr id="26" name="Text 24"/>
          <p:cNvSpPr/>
          <p:nvPr/>
        </p:nvSpPr>
        <p:spPr>
          <a:xfrm>
            <a:off x="5614416" y="1965960"/>
            <a:ext cx="1353312" cy="411480"/>
          </a:xfrm>
          <a:prstGeom prst="rect">
            <a:avLst/>
          </a:prstGeom>
          <a:noFill/>
          <a:ln/>
        </p:spPr>
        <p:txBody>
          <a:bodyPr wrap="square" lIns="0" tIns="0" rIns="0" bIns="0" rtlCol="0" anchor="ctr"/>
          <a:lstStyle/>
          <a:p>
            <a:pPr marL="0" indent="0">
              <a:buNone/>
            </a:pPr>
            <a:r>
              <a:rPr lang="en-US" sz="1800" b="1" dirty="0">
                <a:solidFill>
                  <a:srgbClr val="F8FAFC"/>
                </a:solidFill>
                <a:latin typeface="Calibri" pitchFamily="34" charset="0"/>
                <a:ea typeface="Calibri" pitchFamily="34" charset="-122"/>
                <a:cs typeface="Calibri" pitchFamily="34" charset="-120"/>
              </a:rPr>
              <a:t>Pregled</a:t>
            </a:r>
            <a:endParaRPr lang="en-US" sz="1800" dirty="0"/>
          </a:p>
        </p:txBody>
      </p:sp>
      <p:sp>
        <p:nvSpPr>
          <p:cNvPr id="27" name="Shape 25"/>
          <p:cNvSpPr/>
          <p:nvPr/>
        </p:nvSpPr>
        <p:spPr>
          <a:xfrm>
            <a:off x="5614416" y="2450592"/>
            <a:ext cx="365760" cy="0"/>
          </a:xfrm>
          <a:prstGeom prst="line">
            <a:avLst/>
          </a:prstGeom>
          <a:noFill/>
          <a:ln w="19050">
            <a:solidFill>
              <a:srgbClr val="22C55E"/>
            </a:solidFill>
            <a:prstDash val="solid"/>
          </a:ln>
        </p:spPr>
        <p:txBody>
          <a:bodyPr/>
          <a:lstStyle/>
          <a:p>
            <a:endParaRPr/>
          </a:p>
        </p:txBody>
      </p:sp>
      <p:sp>
        <p:nvSpPr>
          <p:cNvPr id="28" name="Text 26"/>
          <p:cNvSpPr/>
          <p:nvPr/>
        </p:nvSpPr>
        <p:spPr>
          <a:xfrm>
            <a:off x="5614416" y="2606040"/>
            <a:ext cx="1353312" cy="1645920"/>
          </a:xfrm>
          <a:prstGeom prst="rect">
            <a:avLst/>
          </a:prstGeom>
          <a:noFill/>
          <a:ln/>
        </p:spPr>
        <p:txBody>
          <a:bodyPr wrap="square" lIns="0" tIns="0" rIns="0" bIns="0" rtlCol="0" anchor="t"/>
          <a:lstStyle/>
          <a:p>
            <a:pPr marL="342900" indent="-342900">
              <a:spcAft>
                <a:spcPts val="500"/>
              </a:spcAft>
              <a:buSzPct val="100000"/>
              <a:buChar char="■"/>
            </a:pPr>
            <a:r>
              <a:rPr lang="en-US" sz="950" dirty="0">
                <a:solidFill>
                  <a:srgbClr val="94A3B8"/>
                </a:solidFill>
                <a:latin typeface="Calibri" pitchFamily="34" charset="0"/>
                <a:ea typeface="Calibri" pitchFamily="34" charset="-122"/>
                <a:cs typeface="Calibri" pitchFamily="34" charset="-120"/>
              </a:rPr>
              <a:t>Pregled </a:t>
            </a:r>
            <a:r>
              <a:rPr lang="en-US" sz="950" dirty="0" err="1">
                <a:solidFill>
                  <a:srgbClr val="94A3B8"/>
                </a:solidFill>
                <a:latin typeface="Calibri" pitchFamily="34" charset="0"/>
                <a:ea typeface="Calibri" pitchFamily="34" charset="-122"/>
                <a:cs typeface="Calibri" pitchFamily="34" charset="-120"/>
              </a:rPr>
              <a:t>na</a:t>
            </a:r>
            <a:r>
              <a:rPr lang="en-US" sz="950" dirty="0">
                <a:solidFill>
                  <a:srgbClr val="94A3B8"/>
                </a:solidFill>
                <a:latin typeface="Calibri" pitchFamily="34" charset="0"/>
                <a:ea typeface="Calibri" pitchFamily="34" charset="-122"/>
                <a:cs typeface="Calibri" pitchFamily="34" charset="-120"/>
              </a:rPr>
              <a:t> </a:t>
            </a:r>
            <a:r>
              <a:rPr lang="en-US" sz="950" dirty="0" err="1">
                <a:solidFill>
                  <a:srgbClr val="94A3B8"/>
                </a:solidFill>
                <a:latin typeface="Calibri" pitchFamily="34" charset="0"/>
                <a:ea typeface="Calibri" pitchFamily="34" charset="-122"/>
                <a:cs typeface="Calibri" pitchFamily="34" charset="-120"/>
              </a:rPr>
              <a:t>polusezoni</a:t>
            </a:r>
            <a:endParaRPr lang="en-US" sz="950" dirty="0"/>
          </a:p>
          <a:p>
            <a:pPr marL="342900" indent="-342900">
              <a:spcAft>
                <a:spcPts val="500"/>
              </a:spcAft>
              <a:buSzPct val="100000"/>
              <a:buChar char="■"/>
            </a:pPr>
            <a:r>
              <a:rPr lang="en-US" sz="950" dirty="0" err="1">
                <a:solidFill>
                  <a:srgbClr val="94A3B8"/>
                </a:solidFill>
                <a:latin typeface="Calibri" pitchFamily="34" charset="0"/>
                <a:ea typeface="Calibri" pitchFamily="34" charset="-122"/>
                <a:cs typeface="Calibri" pitchFamily="34" charset="-120"/>
              </a:rPr>
              <a:t>Radionica</a:t>
            </a:r>
            <a:r>
              <a:rPr lang="en-US" sz="950" dirty="0">
                <a:solidFill>
                  <a:srgbClr val="94A3B8"/>
                </a:solidFill>
                <a:latin typeface="Calibri" pitchFamily="34" charset="0"/>
                <a:ea typeface="Calibri" pitchFamily="34" charset="-122"/>
                <a:cs typeface="Calibri" pitchFamily="34" charset="-120"/>
              </a:rPr>
              <a:t> i </a:t>
            </a:r>
            <a:r>
              <a:rPr lang="en-US" sz="950" dirty="0" err="1">
                <a:solidFill>
                  <a:srgbClr val="94A3B8"/>
                </a:solidFill>
                <a:latin typeface="Calibri" pitchFamily="34" charset="0"/>
                <a:ea typeface="Calibri" pitchFamily="34" charset="-122"/>
                <a:cs typeface="Calibri" pitchFamily="34" charset="-120"/>
              </a:rPr>
              <a:t>seminari</a:t>
            </a:r>
            <a:r>
              <a:rPr lang="en-US" sz="950" dirty="0">
                <a:solidFill>
                  <a:srgbClr val="94A3B8"/>
                </a:solidFill>
                <a:latin typeface="Calibri" pitchFamily="34" charset="0"/>
                <a:ea typeface="Calibri" pitchFamily="34" charset="-122"/>
                <a:cs typeface="Calibri" pitchFamily="34" charset="-120"/>
              </a:rPr>
              <a:t> za trenere</a:t>
            </a:r>
            <a:endParaRPr lang="en-US" sz="950" dirty="0"/>
          </a:p>
          <a:p>
            <a:pPr marL="342900" indent="-342900">
              <a:spcAft>
                <a:spcPts val="500"/>
              </a:spcAft>
              <a:buSzPct val="100000"/>
              <a:buChar char="■"/>
            </a:pPr>
            <a:r>
              <a:rPr lang="en-US" sz="950" dirty="0">
                <a:solidFill>
                  <a:srgbClr val="94A3B8"/>
                </a:solidFill>
                <a:latin typeface="Calibri" pitchFamily="34" charset="0"/>
                <a:ea typeface="Calibri" pitchFamily="34" charset="-122"/>
                <a:cs typeface="Calibri" pitchFamily="34" charset="-120"/>
              </a:rPr>
              <a:t>Profili igrača aktivni</a:t>
            </a:r>
            <a:endParaRPr lang="en-US" sz="950" dirty="0"/>
          </a:p>
        </p:txBody>
      </p:sp>
      <p:sp>
        <p:nvSpPr>
          <p:cNvPr id="29" name="Shape 27"/>
          <p:cNvSpPr/>
          <p:nvPr/>
        </p:nvSpPr>
        <p:spPr>
          <a:xfrm>
            <a:off x="7196328" y="1554480"/>
            <a:ext cx="1627632" cy="2788920"/>
          </a:xfrm>
          <a:prstGeom prst="rect">
            <a:avLst/>
          </a:prstGeom>
          <a:solidFill>
            <a:srgbClr val="141B2E"/>
          </a:solidFill>
          <a:ln w="12700">
            <a:solidFill>
              <a:srgbClr val="243049"/>
            </a:solidFill>
            <a:prstDash val="solid"/>
          </a:ln>
        </p:spPr>
        <p:txBody>
          <a:bodyPr/>
          <a:lstStyle/>
          <a:p>
            <a:endParaRPr/>
          </a:p>
        </p:txBody>
      </p:sp>
      <p:sp>
        <p:nvSpPr>
          <p:cNvPr id="30" name="Shape 28"/>
          <p:cNvSpPr/>
          <p:nvPr/>
        </p:nvSpPr>
        <p:spPr>
          <a:xfrm>
            <a:off x="7196328" y="1554480"/>
            <a:ext cx="1627632" cy="54864"/>
          </a:xfrm>
          <a:prstGeom prst="rect">
            <a:avLst/>
          </a:prstGeom>
          <a:solidFill>
            <a:srgbClr val="22C55E"/>
          </a:solidFill>
          <a:ln w="12700">
            <a:solidFill>
              <a:srgbClr val="22C55E"/>
            </a:solidFill>
            <a:prstDash val="solid"/>
          </a:ln>
        </p:spPr>
        <p:txBody>
          <a:bodyPr/>
          <a:lstStyle/>
          <a:p>
            <a:endParaRPr/>
          </a:p>
        </p:txBody>
      </p:sp>
      <p:sp>
        <p:nvSpPr>
          <p:cNvPr id="31" name="Text 29"/>
          <p:cNvSpPr/>
          <p:nvPr/>
        </p:nvSpPr>
        <p:spPr>
          <a:xfrm>
            <a:off x="7333488" y="1719072"/>
            <a:ext cx="1353312" cy="228600"/>
          </a:xfrm>
          <a:prstGeom prst="rect">
            <a:avLst/>
          </a:prstGeom>
          <a:noFill/>
          <a:ln/>
        </p:spPr>
        <p:txBody>
          <a:bodyPr wrap="square" lIns="0" tIns="0" rIns="0" bIns="0" rtlCol="0" anchor="ctr"/>
          <a:lstStyle/>
          <a:p>
            <a:pPr marL="0" indent="0">
              <a:buNone/>
            </a:pPr>
            <a:r>
              <a:rPr lang="en-US" sz="900" b="1" kern="0" spc="200" dirty="0">
                <a:solidFill>
                  <a:srgbClr val="22C55E"/>
                </a:solidFill>
                <a:latin typeface="Calibri" pitchFamily="34" charset="0"/>
                <a:ea typeface="Calibri" pitchFamily="34" charset="-122"/>
                <a:cs typeface="Calibri" pitchFamily="34" charset="-120"/>
              </a:rPr>
              <a:t>APR–JUL 2027</a:t>
            </a:r>
            <a:endParaRPr lang="en-US" sz="900" dirty="0"/>
          </a:p>
        </p:txBody>
      </p:sp>
      <p:sp>
        <p:nvSpPr>
          <p:cNvPr id="32" name="Text 30"/>
          <p:cNvSpPr/>
          <p:nvPr/>
        </p:nvSpPr>
        <p:spPr>
          <a:xfrm>
            <a:off x="7333488" y="1965960"/>
            <a:ext cx="1353312" cy="411480"/>
          </a:xfrm>
          <a:prstGeom prst="rect">
            <a:avLst/>
          </a:prstGeom>
          <a:noFill/>
          <a:ln/>
        </p:spPr>
        <p:txBody>
          <a:bodyPr wrap="square" lIns="0" tIns="0" rIns="0" bIns="0" rtlCol="0" anchor="ctr"/>
          <a:lstStyle/>
          <a:p>
            <a:pPr marL="0" indent="0">
              <a:buNone/>
            </a:pPr>
            <a:r>
              <a:rPr lang="en-US" sz="1800" b="1" dirty="0">
                <a:solidFill>
                  <a:srgbClr val="F8FAFC"/>
                </a:solidFill>
                <a:latin typeface="Calibri" pitchFamily="34" charset="0"/>
                <a:ea typeface="Calibri" pitchFamily="34" charset="-122"/>
                <a:cs typeface="Calibri" pitchFamily="34" charset="-120"/>
              </a:rPr>
              <a:t>Završetak</a:t>
            </a:r>
            <a:endParaRPr lang="en-US" sz="1800" dirty="0"/>
          </a:p>
        </p:txBody>
      </p:sp>
      <p:sp>
        <p:nvSpPr>
          <p:cNvPr id="33" name="Shape 31"/>
          <p:cNvSpPr/>
          <p:nvPr/>
        </p:nvSpPr>
        <p:spPr>
          <a:xfrm>
            <a:off x="7333488" y="2450592"/>
            <a:ext cx="365760" cy="0"/>
          </a:xfrm>
          <a:prstGeom prst="line">
            <a:avLst/>
          </a:prstGeom>
          <a:noFill/>
          <a:ln w="19050">
            <a:solidFill>
              <a:srgbClr val="22C55E"/>
            </a:solidFill>
            <a:prstDash val="solid"/>
          </a:ln>
        </p:spPr>
        <p:txBody>
          <a:bodyPr/>
          <a:lstStyle/>
          <a:p>
            <a:endParaRPr/>
          </a:p>
        </p:txBody>
      </p:sp>
      <p:sp>
        <p:nvSpPr>
          <p:cNvPr id="34" name="Text 32"/>
          <p:cNvSpPr/>
          <p:nvPr/>
        </p:nvSpPr>
        <p:spPr>
          <a:xfrm>
            <a:off x="7333488" y="2606040"/>
            <a:ext cx="1353312" cy="1645920"/>
          </a:xfrm>
          <a:prstGeom prst="rect">
            <a:avLst/>
          </a:prstGeom>
          <a:noFill/>
          <a:ln/>
        </p:spPr>
        <p:txBody>
          <a:bodyPr wrap="square" lIns="0" tIns="0" rIns="0" bIns="0" rtlCol="0" anchor="t"/>
          <a:lstStyle/>
          <a:p>
            <a:pPr marL="342900" indent="-342900">
              <a:spcAft>
                <a:spcPts val="500"/>
              </a:spcAft>
              <a:buSzPct val="100000"/>
              <a:buChar char="■"/>
            </a:pPr>
            <a:r>
              <a:rPr lang="en-US" sz="950" dirty="0">
                <a:solidFill>
                  <a:srgbClr val="94A3B8"/>
                </a:solidFill>
                <a:latin typeface="Calibri" pitchFamily="34" charset="0"/>
                <a:ea typeface="Calibri" pitchFamily="34" charset="-122"/>
                <a:cs typeface="Calibri" pitchFamily="34" charset="-120"/>
              </a:rPr>
              <a:t>Cijela sezona arhivirana</a:t>
            </a:r>
            <a:endParaRPr lang="en-US" sz="950" dirty="0"/>
          </a:p>
          <a:p>
            <a:pPr marL="342900" indent="-342900">
              <a:spcAft>
                <a:spcPts val="500"/>
              </a:spcAft>
              <a:buSzPct val="100000"/>
              <a:buChar char="■"/>
            </a:pPr>
            <a:r>
              <a:rPr lang="en-US" sz="950" dirty="0">
                <a:solidFill>
                  <a:srgbClr val="94A3B8"/>
                </a:solidFill>
                <a:latin typeface="Calibri" pitchFamily="34" charset="0"/>
                <a:ea typeface="Calibri" pitchFamily="34" charset="-122"/>
                <a:cs typeface="Calibri" pitchFamily="34" charset="-120"/>
              </a:rPr>
              <a:t>Prva sezona event podataka</a:t>
            </a:r>
            <a:endParaRPr lang="en-US" sz="950" dirty="0"/>
          </a:p>
          <a:p>
            <a:pPr marL="342900" indent="-342900">
              <a:spcAft>
                <a:spcPts val="500"/>
              </a:spcAft>
              <a:buSzPct val="100000"/>
              <a:buChar char="■"/>
            </a:pPr>
            <a:r>
              <a:rPr lang="en-US" sz="950" dirty="0">
                <a:solidFill>
                  <a:srgbClr val="94A3B8"/>
                </a:solidFill>
                <a:latin typeface="Calibri" pitchFamily="34" charset="0"/>
                <a:ea typeface="Calibri" pitchFamily="34" charset="-122"/>
                <a:cs typeface="Calibri" pitchFamily="34" charset="-120"/>
              </a:rPr>
              <a:t>Godišnji izvještaj</a:t>
            </a:r>
            <a:endParaRPr lang="en-US" sz="950" dirty="0"/>
          </a:p>
          <a:p>
            <a:pPr marL="342900" indent="-342900">
              <a:spcAft>
                <a:spcPts val="500"/>
              </a:spcAft>
              <a:buSzPct val="100000"/>
              <a:buChar char="■"/>
            </a:pPr>
            <a:r>
              <a:rPr lang="en-US" sz="950" dirty="0">
                <a:solidFill>
                  <a:srgbClr val="94A3B8"/>
                </a:solidFill>
                <a:latin typeface="Calibri" pitchFamily="34" charset="0"/>
                <a:ea typeface="Calibri" pitchFamily="34" charset="-122"/>
                <a:cs typeface="Calibri" pitchFamily="34" charset="-120"/>
              </a:rPr>
              <a:t>Plan za 27/28</a:t>
            </a:r>
            <a:endParaRPr lang="en-US" sz="950" dirty="0"/>
          </a:p>
        </p:txBody>
      </p:sp>
      <p:sp>
        <p:nvSpPr>
          <p:cNvPr id="35" name="Text 33"/>
          <p:cNvSpPr/>
          <p:nvPr/>
        </p:nvSpPr>
        <p:spPr>
          <a:xfrm>
            <a:off x="457200" y="4777740"/>
            <a:ext cx="5486400" cy="274320"/>
          </a:xfrm>
          <a:prstGeom prst="rect">
            <a:avLst/>
          </a:prstGeom>
          <a:noFill/>
          <a:ln/>
        </p:spPr>
        <p:txBody>
          <a:bodyPr wrap="square" lIns="0" tIns="0" rIns="0" bIns="0" rtlCol="0" anchor="ctr"/>
          <a:lstStyle/>
          <a:p>
            <a:pPr marL="0" indent="0">
              <a:buNone/>
            </a:pPr>
            <a:r>
              <a:rPr lang="en-US" sz="800" b="1" kern="0" spc="300" dirty="0">
                <a:solidFill>
                  <a:srgbClr val="64748B"/>
                </a:solidFill>
                <a:latin typeface="Calibri" pitchFamily="34" charset="0"/>
                <a:ea typeface="Calibri" pitchFamily="34" charset="-122"/>
                <a:cs typeface="Calibri" pitchFamily="34" charset="-120"/>
              </a:rPr>
              <a:t>ANALITIKA PODATAKA ZA CRNOGORSKI FUDBAL</a:t>
            </a:r>
            <a:endParaRPr lang="en-US" sz="800" dirty="0"/>
          </a:p>
        </p:txBody>
      </p:sp>
      <p:sp>
        <p:nvSpPr>
          <p:cNvPr id="36" name="Text 34"/>
          <p:cNvSpPr/>
          <p:nvPr/>
        </p:nvSpPr>
        <p:spPr>
          <a:xfrm>
            <a:off x="7955280" y="4777740"/>
            <a:ext cx="9144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16 / 21</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20">
    <p:bg>
      <p:bgPr>
        <a:solidFill>
          <a:srgbClr val="0A0F1C"/>
        </a:solidFill>
        <a:effectLst/>
      </p:bgPr>
    </p:bg>
    <p:spTree>
      <p:nvGrpSpPr>
        <p:cNvPr id="1" name=""/>
        <p:cNvGrpSpPr/>
        <p:nvPr/>
      </p:nvGrpSpPr>
      <p:grpSpPr>
        <a:xfrm>
          <a:off x="0" y="0"/>
          <a:ext cx="0" cy="0"/>
          <a:chOff x="0" y="0"/>
          <a:chExt cx="0" cy="0"/>
        </a:xfrm>
      </p:grpSpPr>
      <p:sp>
        <p:nvSpPr>
          <p:cNvPr id="2" name="Shape 0"/>
          <p:cNvSpPr/>
          <p:nvPr/>
        </p:nvSpPr>
        <p:spPr>
          <a:xfrm>
            <a:off x="457200" y="411480"/>
            <a:ext cx="164592" cy="164592"/>
          </a:xfrm>
          <a:prstGeom prst="rect">
            <a:avLst/>
          </a:prstGeom>
          <a:solidFill>
            <a:srgbClr val="22C55E"/>
          </a:solidFill>
          <a:ln w="12700">
            <a:solidFill>
              <a:srgbClr val="22C55E"/>
            </a:solidFill>
            <a:prstDash val="solid"/>
          </a:ln>
        </p:spPr>
        <p:txBody>
          <a:bodyPr/>
          <a:lstStyle/>
          <a:p>
            <a:endParaRPr/>
          </a:p>
        </p:txBody>
      </p:sp>
      <p:sp>
        <p:nvSpPr>
          <p:cNvPr id="3" name="Text 1"/>
          <p:cNvSpPr/>
          <p:nvPr/>
        </p:nvSpPr>
        <p:spPr>
          <a:xfrm>
            <a:off x="749808" y="384048"/>
            <a:ext cx="7315200" cy="228600"/>
          </a:xfrm>
          <a:prstGeom prst="rect">
            <a:avLst/>
          </a:prstGeom>
          <a:noFill/>
          <a:ln/>
        </p:spPr>
        <p:txBody>
          <a:bodyPr wrap="square" lIns="0" tIns="0" rIns="0" bIns="0" rtlCol="0" anchor="ctr"/>
          <a:lstStyle/>
          <a:p>
            <a:pPr marL="0" indent="0">
              <a:buNone/>
            </a:pPr>
            <a:r>
              <a:rPr lang="en-US" sz="1000" b="1" kern="0" spc="400" dirty="0">
                <a:solidFill>
                  <a:srgbClr val="22C55E"/>
                </a:solidFill>
                <a:latin typeface="Calibri" pitchFamily="34" charset="0"/>
                <a:ea typeface="Calibri" pitchFamily="34" charset="-122"/>
                <a:cs typeface="Calibri" pitchFamily="34" charset="-120"/>
              </a:rPr>
              <a:t>ODLUKA</a:t>
            </a:r>
            <a:endParaRPr lang="en-US" sz="1000" dirty="0"/>
          </a:p>
        </p:txBody>
      </p:sp>
      <p:sp>
        <p:nvSpPr>
          <p:cNvPr id="4" name="Text 2"/>
          <p:cNvSpPr/>
          <p:nvPr/>
        </p:nvSpPr>
        <p:spPr>
          <a:xfrm>
            <a:off x="457200" y="685800"/>
            <a:ext cx="8229600" cy="640080"/>
          </a:xfrm>
          <a:prstGeom prst="rect">
            <a:avLst/>
          </a:prstGeom>
          <a:noFill/>
          <a:ln/>
        </p:spPr>
        <p:txBody>
          <a:bodyPr wrap="square" lIns="0" tIns="0" rIns="0" bIns="0" rtlCol="0" anchor="ctr"/>
          <a:lstStyle/>
          <a:p>
            <a:pPr marL="0" indent="0">
              <a:buNone/>
            </a:pPr>
            <a:r>
              <a:rPr lang="en-US" sz="2600" b="1" dirty="0">
                <a:solidFill>
                  <a:srgbClr val="F8FAFC"/>
                </a:solidFill>
                <a:latin typeface="Calibri" pitchFamily="34" charset="0"/>
                <a:ea typeface="Calibri" pitchFamily="34" charset="-122"/>
                <a:cs typeface="Calibri" pitchFamily="34" charset="-120"/>
              </a:rPr>
              <a:t>Dvije verzije 2031.</a:t>
            </a:r>
            <a:endParaRPr lang="en-US" sz="2600" dirty="0"/>
          </a:p>
        </p:txBody>
      </p:sp>
      <p:sp>
        <p:nvSpPr>
          <p:cNvPr id="5" name="Text 3"/>
          <p:cNvSpPr/>
          <p:nvPr/>
        </p:nvSpPr>
        <p:spPr>
          <a:xfrm>
            <a:off x="457200" y="1371600"/>
            <a:ext cx="8229600" cy="274320"/>
          </a:xfrm>
          <a:prstGeom prst="rect">
            <a:avLst/>
          </a:prstGeom>
          <a:noFill/>
          <a:ln/>
        </p:spPr>
        <p:txBody>
          <a:bodyPr wrap="square" lIns="0" tIns="0" rIns="0" bIns="0" rtlCol="0" anchor="ctr"/>
          <a:lstStyle/>
          <a:p>
            <a:pPr marL="0" indent="0" algn="ctr">
              <a:buNone/>
            </a:pPr>
            <a:r>
              <a:rPr lang="en-US" sz="1300" i="1" dirty="0">
                <a:solidFill>
                  <a:srgbClr val="94A3B8"/>
                </a:solidFill>
                <a:latin typeface="Calibri" pitchFamily="34" charset="0"/>
                <a:ea typeface="Calibri" pitchFamily="34" charset="-122"/>
                <a:cs typeface="Calibri" pitchFamily="34" charset="-120"/>
              </a:rPr>
              <a:t>Za pet godina, jedna od ovih tvrdnji biće tačna.</a:t>
            </a:r>
            <a:endParaRPr lang="en-US" sz="1300" dirty="0"/>
          </a:p>
        </p:txBody>
      </p:sp>
      <p:sp>
        <p:nvSpPr>
          <p:cNvPr id="6" name="Shape 4"/>
          <p:cNvSpPr/>
          <p:nvPr/>
        </p:nvSpPr>
        <p:spPr>
          <a:xfrm>
            <a:off x="457200" y="1755648"/>
            <a:ext cx="3977640" cy="2560320"/>
          </a:xfrm>
          <a:prstGeom prst="rect">
            <a:avLst/>
          </a:prstGeom>
          <a:solidFill>
            <a:srgbClr val="141B2E"/>
          </a:solidFill>
          <a:ln w="19050">
            <a:solidFill>
              <a:srgbClr val="EF4444"/>
            </a:solidFill>
            <a:prstDash val="solid"/>
          </a:ln>
        </p:spPr>
        <p:txBody>
          <a:bodyPr/>
          <a:lstStyle/>
          <a:p>
            <a:endParaRPr/>
          </a:p>
        </p:txBody>
      </p:sp>
      <p:sp>
        <p:nvSpPr>
          <p:cNvPr id="7" name="Text 5"/>
          <p:cNvSpPr/>
          <p:nvPr/>
        </p:nvSpPr>
        <p:spPr>
          <a:xfrm>
            <a:off x="640080" y="1920240"/>
            <a:ext cx="3611880" cy="256032"/>
          </a:xfrm>
          <a:prstGeom prst="rect">
            <a:avLst/>
          </a:prstGeom>
          <a:noFill/>
          <a:ln/>
        </p:spPr>
        <p:txBody>
          <a:bodyPr wrap="square" lIns="0" tIns="0" rIns="0" bIns="0" rtlCol="0" anchor="ctr"/>
          <a:lstStyle/>
          <a:p>
            <a:pPr marL="0" indent="0">
              <a:buNone/>
            </a:pPr>
            <a:r>
              <a:rPr lang="en-US" sz="1000" b="1" kern="0" spc="300" dirty="0">
                <a:solidFill>
                  <a:srgbClr val="EF4444"/>
                </a:solidFill>
                <a:latin typeface="Calibri" pitchFamily="34" charset="0"/>
                <a:ea typeface="Calibri" pitchFamily="34" charset="-122"/>
                <a:cs typeface="Calibri" pitchFamily="34" charset="-120"/>
              </a:rPr>
              <a:t>BEZ ODJELA</a:t>
            </a:r>
            <a:endParaRPr lang="en-US" sz="1000" dirty="0"/>
          </a:p>
        </p:txBody>
      </p:sp>
      <p:sp>
        <p:nvSpPr>
          <p:cNvPr id="8" name="Shape 6"/>
          <p:cNvSpPr/>
          <p:nvPr/>
        </p:nvSpPr>
        <p:spPr>
          <a:xfrm>
            <a:off x="640080" y="2368296"/>
            <a:ext cx="91440" cy="91440"/>
          </a:xfrm>
          <a:prstGeom prst="line">
            <a:avLst/>
          </a:prstGeom>
          <a:solidFill>
            <a:srgbClr val="EF4444"/>
          </a:solidFill>
          <a:ln w="12700">
            <a:solidFill>
              <a:srgbClr val="EF4444"/>
            </a:solidFill>
            <a:prstDash val="solid"/>
          </a:ln>
        </p:spPr>
        <p:txBody>
          <a:bodyPr/>
          <a:lstStyle/>
          <a:p>
            <a:endParaRPr/>
          </a:p>
        </p:txBody>
      </p:sp>
      <p:sp>
        <p:nvSpPr>
          <p:cNvPr id="9" name="Text 7"/>
          <p:cNvSpPr/>
          <p:nvPr/>
        </p:nvSpPr>
        <p:spPr>
          <a:xfrm>
            <a:off x="868680" y="2286000"/>
            <a:ext cx="3383280" cy="347472"/>
          </a:xfrm>
          <a:prstGeom prst="rect">
            <a:avLst/>
          </a:prstGeom>
          <a:noFill/>
          <a:ln/>
        </p:spPr>
        <p:txBody>
          <a:bodyPr wrap="square" lIns="0" tIns="0" rIns="0" bIns="0" rtlCol="0" anchor="t"/>
          <a:lstStyle/>
          <a:p>
            <a:pPr marL="0" indent="0">
              <a:buNone/>
            </a:pPr>
            <a:r>
              <a:rPr lang="en-US" sz="1000" dirty="0">
                <a:solidFill>
                  <a:srgbClr val="94A3B8"/>
                </a:solidFill>
                <a:latin typeface="Calibri" pitchFamily="34" charset="0"/>
                <a:ea typeface="Calibri" pitchFamily="34" charset="-122"/>
                <a:cs typeface="Calibri" pitchFamily="34" charset="-120"/>
              </a:rPr>
              <a:t>Ne postoji arhiva event podataka za 1. CFL.</a:t>
            </a:r>
            <a:endParaRPr lang="en-US" sz="1000" dirty="0"/>
          </a:p>
        </p:txBody>
      </p:sp>
      <p:sp>
        <p:nvSpPr>
          <p:cNvPr id="10" name="Shape 8"/>
          <p:cNvSpPr/>
          <p:nvPr/>
        </p:nvSpPr>
        <p:spPr>
          <a:xfrm>
            <a:off x="640080" y="2743200"/>
            <a:ext cx="91440" cy="91440"/>
          </a:xfrm>
          <a:prstGeom prst="line">
            <a:avLst/>
          </a:prstGeom>
          <a:solidFill>
            <a:srgbClr val="EF4444"/>
          </a:solidFill>
          <a:ln w="12700">
            <a:solidFill>
              <a:srgbClr val="EF4444"/>
            </a:solidFill>
            <a:prstDash val="solid"/>
          </a:ln>
        </p:spPr>
        <p:txBody>
          <a:bodyPr/>
          <a:lstStyle/>
          <a:p>
            <a:endParaRPr/>
          </a:p>
        </p:txBody>
      </p:sp>
      <p:sp>
        <p:nvSpPr>
          <p:cNvPr id="11" name="Text 9"/>
          <p:cNvSpPr/>
          <p:nvPr/>
        </p:nvSpPr>
        <p:spPr>
          <a:xfrm>
            <a:off x="868680" y="2660904"/>
            <a:ext cx="3383280" cy="347472"/>
          </a:xfrm>
          <a:prstGeom prst="rect">
            <a:avLst/>
          </a:prstGeom>
          <a:noFill/>
          <a:ln/>
        </p:spPr>
        <p:txBody>
          <a:bodyPr wrap="square" lIns="0" tIns="0" rIns="0" bIns="0" rtlCol="0" anchor="t"/>
          <a:lstStyle/>
          <a:p>
            <a:pPr marL="0" indent="0">
              <a:buNone/>
            </a:pPr>
            <a:r>
              <a:rPr lang="en-US" sz="1000" dirty="0">
                <a:solidFill>
                  <a:srgbClr val="94A3B8"/>
                </a:solidFill>
                <a:latin typeface="Calibri" pitchFamily="34" charset="0"/>
                <a:ea typeface="Calibri" pitchFamily="34" charset="-122"/>
                <a:cs typeface="Calibri" pitchFamily="34" charset="-120"/>
              </a:rPr>
              <a:t>Crnogorski igrači su nevidljivi u skauting filterima Wyscout-a i FBref-a.</a:t>
            </a:r>
            <a:endParaRPr lang="en-US" sz="1000" dirty="0"/>
          </a:p>
        </p:txBody>
      </p:sp>
      <p:sp>
        <p:nvSpPr>
          <p:cNvPr id="12" name="Shape 10"/>
          <p:cNvSpPr/>
          <p:nvPr/>
        </p:nvSpPr>
        <p:spPr>
          <a:xfrm>
            <a:off x="640080" y="3118104"/>
            <a:ext cx="91440" cy="91440"/>
          </a:xfrm>
          <a:prstGeom prst="line">
            <a:avLst/>
          </a:prstGeom>
          <a:solidFill>
            <a:srgbClr val="EF4444"/>
          </a:solidFill>
          <a:ln w="12700">
            <a:solidFill>
              <a:srgbClr val="EF4444"/>
            </a:solidFill>
            <a:prstDash val="solid"/>
          </a:ln>
        </p:spPr>
        <p:txBody>
          <a:bodyPr/>
          <a:lstStyle/>
          <a:p>
            <a:endParaRPr/>
          </a:p>
        </p:txBody>
      </p:sp>
      <p:sp>
        <p:nvSpPr>
          <p:cNvPr id="13" name="Text 11"/>
          <p:cNvSpPr/>
          <p:nvPr/>
        </p:nvSpPr>
        <p:spPr>
          <a:xfrm>
            <a:off x="868680" y="3035808"/>
            <a:ext cx="3383280" cy="347472"/>
          </a:xfrm>
          <a:prstGeom prst="rect">
            <a:avLst/>
          </a:prstGeom>
          <a:noFill/>
          <a:ln/>
        </p:spPr>
        <p:txBody>
          <a:bodyPr wrap="square" lIns="0" tIns="0" rIns="0" bIns="0" rtlCol="0" anchor="t"/>
          <a:lstStyle/>
          <a:p>
            <a:pPr marL="0" indent="0">
              <a:buNone/>
            </a:pPr>
            <a:r>
              <a:rPr lang="en-US" sz="1000" dirty="0">
                <a:solidFill>
                  <a:srgbClr val="94A3B8"/>
                </a:solidFill>
                <a:latin typeface="Calibri" pitchFamily="34" charset="0"/>
                <a:ea typeface="Calibri" pitchFamily="34" charset="-122"/>
                <a:cs typeface="Calibri" pitchFamily="34" charset="-120"/>
              </a:rPr>
              <a:t>Prijave za UEFA/FIFA grantove podnose se pod istim uslovima kao danas.</a:t>
            </a:r>
            <a:endParaRPr lang="en-US" sz="1000" dirty="0"/>
          </a:p>
        </p:txBody>
      </p:sp>
      <p:sp>
        <p:nvSpPr>
          <p:cNvPr id="14" name="Shape 12"/>
          <p:cNvSpPr/>
          <p:nvPr/>
        </p:nvSpPr>
        <p:spPr>
          <a:xfrm>
            <a:off x="640080" y="3493008"/>
            <a:ext cx="91440" cy="91440"/>
          </a:xfrm>
          <a:prstGeom prst="line">
            <a:avLst/>
          </a:prstGeom>
          <a:solidFill>
            <a:srgbClr val="EF4444"/>
          </a:solidFill>
          <a:ln w="12700">
            <a:solidFill>
              <a:srgbClr val="EF4444"/>
            </a:solidFill>
            <a:prstDash val="solid"/>
          </a:ln>
        </p:spPr>
        <p:txBody>
          <a:bodyPr/>
          <a:lstStyle/>
          <a:p>
            <a:endParaRPr/>
          </a:p>
        </p:txBody>
      </p:sp>
      <p:sp>
        <p:nvSpPr>
          <p:cNvPr id="15" name="Text 13"/>
          <p:cNvSpPr/>
          <p:nvPr/>
        </p:nvSpPr>
        <p:spPr>
          <a:xfrm>
            <a:off x="868680" y="3410712"/>
            <a:ext cx="3383280" cy="347472"/>
          </a:xfrm>
          <a:prstGeom prst="rect">
            <a:avLst/>
          </a:prstGeom>
          <a:noFill/>
          <a:ln/>
        </p:spPr>
        <p:txBody>
          <a:bodyPr wrap="square" lIns="0" tIns="0" rIns="0" bIns="0" rtlCol="0" anchor="t"/>
          <a:lstStyle/>
          <a:p>
            <a:pPr marL="0" indent="0">
              <a:buNone/>
            </a:pPr>
            <a:r>
              <a:rPr lang="en-US" sz="1000" dirty="0">
                <a:solidFill>
                  <a:srgbClr val="94A3B8"/>
                </a:solidFill>
                <a:latin typeface="Calibri" pitchFamily="34" charset="0"/>
                <a:ea typeface="Calibri" pitchFamily="34" charset="-122"/>
                <a:cs typeface="Calibri" pitchFamily="34" charset="-120"/>
              </a:rPr>
              <a:t>Priprema reprezentacije oslanja se na isti ručni video proces.</a:t>
            </a:r>
            <a:endParaRPr lang="en-US" sz="1000" dirty="0"/>
          </a:p>
        </p:txBody>
      </p:sp>
      <p:sp>
        <p:nvSpPr>
          <p:cNvPr id="16" name="Shape 14"/>
          <p:cNvSpPr/>
          <p:nvPr/>
        </p:nvSpPr>
        <p:spPr>
          <a:xfrm>
            <a:off x="640080" y="3867912"/>
            <a:ext cx="91440" cy="91440"/>
          </a:xfrm>
          <a:prstGeom prst="line">
            <a:avLst/>
          </a:prstGeom>
          <a:solidFill>
            <a:srgbClr val="EF4444"/>
          </a:solidFill>
          <a:ln w="12700">
            <a:solidFill>
              <a:srgbClr val="EF4444"/>
            </a:solidFill>
            <a:prstDash val="solid"/>
          </a:ln>
        </p:spPr>
        <p:txBody>
          <a:bodyPr/>
          <a:lstStyle/>
          <a:p>
            <a:endParaRPr/>
          </a:p>
        </p:txBody>
      </p:sp>
      <p:sp>
        <p:nvSpPr>
          <p:cNvPr id="17" name="Text 15"/>
          <p:cNvSpPr/>
          <p:nvPr/>
        </p:nvSpPr>
        <p:spPr>
          <a:xfrm>
            <a:off x="868680" y="3785616"/>
            <a:ext cx="3383280" cy="347472"/>
          </a:xfrm>
          <a:prstGeom prst="rect">
            <a:avLst/>
          </a:prstGeom>
          <a:noFill/>
          <a:ln/>
        </p:spPr>
        <p:txBody>
          <a:bodyPr wrap="square" lIns="0" tIns="0" rIns="0" bIns="0" rtlCol="0" anchor="t"/>
          <a:lstStyle/>
          <a:p>
            <a:pPr marL="0" indent="0">
              <a:buNone/>
            </a:pPr>
            <a:r>
              <a:rPr lang="en-US" sz="1000" dirty="0" err="1">
                <a:solidFill>
                  <a:srgbClr val="94A3B8"/>
                </a:solidFill>
                <a:latin typeface="Calibri" pitchFamily="34" charset="0"/>
                <a:ea typeface="Calibri" pitchFamily="34" charset="-122"/>
                <a:cs typeface="Calibri" pitchFamily="34" charset="-120"/>
              </a:rPr>
              <a:t>Sve balkanske države imaju više sezona podataka iza sebe. Mi nemamo ni jednu.</a:t>
            </a:r>
            <a:endParaRPr lang="en-US" sz="1000" dirty="0"/>
          </a:p>
        </p:txBody>
      </p:sp>
      <p:sp>
        <p:nvSpPr>
          <p:cNvPr id="18" name="Shape 16"/>
          <p:cNvSpPr/>
          <p:nvPr/>
        </p:nvSpPr>
        <p:spPr>
          <a:xfrm>
            <a:off x="4617720" y="1755648"/>
            <a:ext cx="3977640" cy="2560320"/>
          </a:xfrm>
          <a:prstGeom prst="rect">
            <a:avLst/>
          </a:prstGeom>
          <a:solidFill>
            <a:srgbClr val="141B2E"/>
          </a:solidFill>
          <a:ln w="19050">
            <a:solidFill>
              <a:srgbClr val="22C55E"/>
            </a:solidFill>
            <a:prstDash val="solid"/>
          </a:ln>
        </p:spPr>
        <p:txBody>
          <a:bodyPr/>
          <a:lstStyle/>
          <a:p>
            <a:endParaRPr/>
          </a:p>
        </p:txBody>
      </p:sp>
      <p:sp>
        <p:nvSpPr>
          <p:cNvPr id="19" name="Text 17"/>
          <p:cNvSpPr/>
          <p:nvPr/>
        </p:nvSpPr>
        <p:spPr>
          <a:xfrm>
            <a:off x="4800600" y="1920240"/>
            <a:ext cx="3611880" cy="256032"/>
          </a:xfrm>
          <a:prstGeom prst="rect">
            <a:avLst/>
          </a:prstGeom>
          <a:noFill/>
          <a:ln/>
        </p:spPr>
        <p:txBody>
          <a:bodyPr wrap="square" lIns="0" tIns="0" rIns="0" bIns="0" rtlCol="0" anchor="ctr"/>
          <a:lstStyle/>
          <a:p>
            <a:pPr marL="0" indent="0">
              <a:buNone/>
            </a:pPr>
            <a:r>
              <a:rPr lang="en-US" sz="1000" b="1" kern="0" spc="300" dirty="0">
                <a:solidFill>
                  <a:srgbClr val="22C55E"/>
                </a:solidFill>
                <a:latin typeface="Calibri" pitchFamily="34" charset="0"/>
                <a:ea typeface="Calibri" pitchFamily="34" charset="-122"/>
                <a:cs typeface="Calibri" pitchFamily="34" charset="-120"/>
              </a:rPr>
              <a:t>S ODJELJENJEM</a:t>
            </a:r>
            <a:endParaRPr lang="en-US" sz="1000" dirty="0"/>
          </a:p>
        </p:txBody>
      </p:sp>
      <p:sp>
        <p:nvSpPr>
          <p:cNvPr id="20" name="Shape 18"/>
          <p:cNvSpPr/>
          <p:nvPr/>
        </p:nvSpPr>
        <p:spPr>
          <a:xfrm>
            <a:off x="4800600" y="2368296"/>
            <a:ext cx="91440" cy="91440"/>
          </a:xfrm>
          <a:prstGeom prst="line">
            <a:avLst/>
          </a:prstGeom>
          <a:solidFill>
            <a:srgbClr val="22C55E"/>
          </a:solidFill>
          <a:ln w="12700">
            <a:solidFill>
              <a:srgbClr val="22C55E"/>
            </a:solidFill>
            <a:prstDash val="solid"/>
          </a:ln>
        </p:spPr>
        <p:txBody>
          <a:bodyPr/>
          <a:lstStyle/>
          <a:p>
            <a:endParaRPr/>
          </a:p>
        </p:txBody>
      </p:sp>
      <p:sp>
        <p:nvSpPr>
          <p:cNvPr id="21" name="Text 19"/>
          <p:cNvSpPr/>
          <p:nvPr/>
        </p:nvSpPr>
        <p:spPr>
          <a:xfrm>
            <a:off x="5029200" y="2286000"/>
            <a:ext cx="3383280" cy="347472"/>
          </a:xfrm>
          <a:prstGeom prst="rect">
            <a:avLst/>
          </a:prstGeom>
          <a:noFill/>
          <a:ln/>
        </p:spPr>
        <p:txBody>
          <a:bodyPr wrap="square" lIns="0" tIns="0" rIns="0" bIns="0" rtlCol="0" anchor="t"/>
          <a:lstStyle/>
          <a:p>
            <a:pPr marL="0" indent="0">
              <a:buNone/>
            </a:pPr>
            <a:r>
              <a:rPr lang="en-US" sz="1000" dirty="0">
                <a:solidFill>
                  <a:srgbClr val="94A3B8"/>
                </a:solidFill>
                <a:latin typeface="Calibri" pitchFamily="34" charset="0"/>
                <a:ea typeface="Calibri" pitchFamily="34" charset="-122"/>
                <a:cs typeface="Calibri" pitchFamily="34" charset="-120"/>
              </a:rPr>
              <a:t>Pet kompletnih sezona event podataka 1. CFL — arhivovanih, pretraživih, u vlasništvu FSCG.</a:t>
            </a:r>
            <a:endParaRPr lang="en-US" sz="1000" dirty="0"/>
          </a:p>
        </p:txBody>
      </p:sp>
      <p:sp>
        <p:nvSpPr>
          <p:cNvPr id="22" name="Shape 20"/>
          <p:cNvSpPr/>
          <p:nvPr/>
        </p:nvSpPr>
        <p:spPr>
          <a:xfrm>
            <a:off x="4800600" y="2743200"/>
            <a:ext cx="91440" cy="91440"/>
          </a:xfrm>
          <a:prstGeom prst="line">
            <a:avLst/>
          </a:prstGeom>
          <a:solidFill>
            <a:srgbClr val="22C55E"/>
          </a:solidFill>
          <a:ln w="12700">
            <a:solidFill>
              <a:srgbClr val="22C55E"/>
            </a:solidFill>
            <a:prstDash val="solid"/>
          </a:ln>
        </p:spPr>
        <p:txBody>
          <a:bodyPr/>
          <a:lstStyle/>
          <a:p>
            <a:endParaRPr/>
          </a:p>
        </p:txBody>
      </p:sp>
      <p:sp>
        <p:nvSpPr>
          <p:cNvPr id="23" name="Text 21"/>
          <p:cNvSpPr/>
          <p:nvPr/>
        </p:nvSpPr>
        <p:spPr>
          <a:xfrm>
            <a:off x="5029200" y="2660904"/>
            <a:ext cx="3383280" cy="347472"/>
          </a:xfrm>
          <a:prstGeom prst="rect">
            <a:avLst/>
          </a:prstGeom>
          <a:noFill/>
          <a:ln/>
        </p:spPr>
        <p:txBody>
          <a:bodyPr wrap="square" lIns="0" tIns="0" rIns="0" bIns="0" rtlCol="0" anchor="t"/>
          <a:lstStyle/>
          <a:p>
            <a:pPr marL="0" indent="0">
              <a:buNone/>
            </a:pPr>
            <a:r>
              <a:rPr lang="en-US" sz="1000" dirty="0">
                <a:solidFill>
                  <a:srgbClr val="94A3B8"/>
                </a:solidFill>
                <a:latin typeface="Calibri" pitchFamily="34" charset="0"/>
                <a:ea typeface="Calibri" pitchFamily="34" charset="-122"/>
                <a:cs typeface="Calibri" pitchFamily="34" charset="-120"/>
              </a:rPr>
              <a:t>Igrači 1. CFL pojavljuju se u istim skauting alatima koje koriste evropski klubovi.</a:t>
            </a:r>
            <a:endParaRPr lang="en-US" sz="1000" dirty="0"/>
          </a:p>
        </p:txBody>
      </p:sp>
      <p:sp>
        <p:nvSpPr>
          <p:cNvPr id="24" name="Shape 22"/>
          <p:cNvSpPr/>
          <p:nvPr/>
        </p:nvSpPr>
        <p:spPr>
          <a:xfrm>
            <a:off x="4800600" y="3118104"/>
            <a:ext cx="91440" cy="91440"/>
          </a:xfrm>
          <a:prstGeom prst="line">
            <a:avLst/>
          </a:prstGeom>
          <a:solidFill>
            <a:srgbClr val="22C55E"/>
          </a:solidFill>
          <a:ln w="12700">
            <a:solidFill>
              <a:srgbClr val="22C55E"/>
            </a:solidFill>
            <a:prstDash val="solid"/>
          </a:ln>
        </p:spPr>
        <p:txBody>
          <a:bodyPr/>
          <a:lstStyle/>
          <a:p>
            <a:endParaRPr/>
          </a:p>
        </p:txBody>
      </p:sp>
      <p:sp>
        <p:nvSpPr>
          <p:cNvPr id="25" name="Text 23"/>
          <p:cNvSpPr/>
          <p:nvPr/>
        </p:nvSpPr>
        <p:spPr>
          <a:xfrm>
            <a:off x="5029200" y="3035808"/>
            <a:ext cx="3383280" cy="347472"/>
          </a:xfrm>
          <a:prstGeom prst="rect">
            <a:avLst/>
          </a:prstGeom>
          <a:noFill/>
          <a:ln/>
        </p:spPr>
        <p:txBody>
          <a:bodyPr wrap="square" lIns="0" tIns="0" rIns="0" bIns="0" rtlCol="0" anchor="t"/>
          <a:lstStyle/>
          <a:p>
            <a:pPr marL="0" indent="0">
              <a:buNone/>
            </a:pPr>
            <a:r>
              <a:rPr lang="en-US" sz="1000" dirty="0">
                <a:solidFill>
                  <a:srgbClr val="94A3B8"/>
                </a:solidFill>
                <a:latin typeface="Calibri" pitchFamily="34" charset="0"/>
                <a:ea typeface="Calibri" pitchFamily="34" charset="-122"/>
                <a:cs typeface="Calibri" pitchFamily="34" charset="-120"/>
              </a:rPr>
              <a:t>Dva ili više UEFA/FIFA </a:t>
            </a:r>
            <a:r>
              <a:rPr lang="en-US" sz="1000" dirty="0" err="1">
                <a:solidFill>
                  <a:srgbClr val="94A3B8"/>
                </a:solidFill>
                <a:latin typeface="Calibri" pitchFamily="34" charset="0"/>
                <a:ea typeface="Calibri" pitchFamily="34" charset="-122"/>
                <a:cs typeface="Calibri" pitchFamily="34" charset="-120"/>
              </a:rPr>
              <a:t>grantova</a:t>
            </a:r>
            <a:r>
              <a:rPr lang="en-US" sz="1000" dirty="0">
                <a:solidFill>
                  <a:srgbClr val="94A3B8"/>
                </a:solidFill>
                <a:latin typeface="Calibri" pitchFamily="34" charset="0"/>
                <a:ea typeface="Calibri" pitchFamily="34" charset="-122"/>
                <a:cs typeface="Calibri" pitchFamily="34" charset="-120"/>
              </a:rPr>
              <a:t> uspješno realizovana.</a:t>
            </a:r>
            <a:endParaRPr lang="en-US" sz="1000" dirty="0"/>
          </a:p>
        </p:txBody>
      </p:sp>
      <p:sp>
        <p:nvSpPr>
          <p:cNvPr id="26" name="Shape 24"/>
          <p:cNvSpPr/>
          <p:nvPr/>
        </p:nvSpPr>
        <p:spPr>
          <a:xfrm>
            <a:off x="4800600" y="3493008"/>
            <a:ext cx="91440" cy="91440"/>
          </a:xfrm>
          <a:prstGeom prst="line">
            <a:avLst/>
          </a:prstGeom>
          <a:solidFill>
            <a:srgbClr val="22C55E"/>
          </a:solidFill>
          <a:ln w="12700">
            <a:solidFill>
              <a:srgbClr val="22C55E"/>
            </a:solidFill>
            <a:prstDash val="solid"/>
          </a:ln>
        </p:spPr>
        <p:txBody>
          <a:bodyPr/>
          <a:lstStyle/>
          <a:p>
            <a:endParaRPr/>
          </a:p>
        </p:txBody>
      </p:sp>
      <p:sp>
        <p:nvSpPr>
          <p:cNvPr id="27" name="Text 25"/>
          <p:cNvSpPr/>
          <p:nvPr/>
        </p:nvSpPr>
        <p:spPr>
          <a:xfrm>
            <a:off x="5029200" y="3410712"/>
            <a:ext cx="3383280" cy="347472"/>
          </a:xfrm>
          <a:prstGeom prst="rect">
            <a:avLst/>
          </a:prstGeom>
          <a:noFill/>
          <a:ln/>
        </p:spPr>
        <p:txBody>
          <a:bodyPr wrap="square" lIns="0" tIns="0" rIns="0" bIns="0" rtlCol="0" anchor="t"/>
          <a:lstStyle/>
          <a:p>
            <a:pPr marL="0" indent="0">
              <a:buNone/>
            </a:pPr>
            <a:r>
              <a:rPr lang="en-US" sz="1000" dirty="0">
                <a:solidFill>
                  <a:srgbClr val="94A3B8"/>
                </a:solidFill>
                <a:latin typeface="Calibri" pitchFamily="34" charset="0"/>
                <a:ea typeface="Calibri" pitchFamily="34" charset="-122"/>
                <a:cs typeface="Calibri" pitchFamily="34" charset="-120"/>
              </a:rPr>
              <a:t>Selektori nacionalnog tima imaju podatke o svakom igraču 1. CFL u realnom vremenu.</a:t>
            </a:r>
            <a:endParaRPr lang="en-US" sz="1000" dirty="0"/>
          </a:p>
        </p:txBody>
      </p:sp>
      <p:sp>
        <p:nvSpPr>
          <p:cNvPr id="28" name="Shape 26"/>
          <p:cNvSpPr/>
          <p:nvPr/>
        </p:nvSpPr>
        <p:spPr>
          <a:xfrm>
            <a:off x="4800600" y="3867912"/>
            <a:ext cx="91440" cy="91440"/>
          </a:xfrm>
          <a:prstGeom prst="line">
            <a:avLst/>
          </a:prstGeom>
          <a:solidFill>
            <a:srgbClr val="22C55E"/>
          </a:solidFill>
          <a:ln w="12700">
            <a:solidFill>
              <a:srgbClr val="22C55E"/>
            </a:solidFill>
            <a:prstDash val="solid"/>
          </a:ln>
        </p:spPr>
        <p:txBody>
          <a:bodyPr/>
          <a:lstStyle/>
          <a:p>
            <a:endParaRPr/>
          </a:p>
        </p:txBody>
      </p:sp>
      <p:sp>
        <p:nvSpPr>
          <p:cNvPr id="29" name="Text 27"/>
          <p:cNvSpPr/>
          <p:nvPr/>
        </p:nvSpPr>
        <p:spPr>
          <a:xfrm>
            <a:off x="5029200" y="3785616"/>
            <a:ext cx="3383280" cy="347472"/>
          </a:xfrm>
          <a:prstGeom prst="rect">
            <a:avLst/>
          </a:prstGeom>
          <a:noFill/>
          <a:ln/>
        </p:spPr>
        <p:txBody>
          <a:bodyPr wrap="square" lIns="0" tIns="0" rIns="0" bIns="0" rtlCol="0" anchor="t"/>
          <a:lstStyle/>
          <a:p>
            <a:pPr marL="0" indent="0">
              <a:buNone/>
            </a:pPr>
            <a:r>
              <a:rPr lang="en-US" sz="1000" dirty="0">
                <a:solidFill>
                  <a:srgbClr val="94A3B8"/>
                </a:solidFill>
                <a:latin typeface="Calibri" pitchFamily="34" charset="0"/>
                <a:ea typeface="Calibri" pitchFamily="34" charset="-122"/>
                <a:cs typeface="Calibri" pitchFamily="34" charset="-120"/>
              </a:rPr>
              <a:t>Crnogorski fudbal </a:t>
            </a:r>
            <a:r>
              <a:rPr lang="en-US" sz="1000" dirty="0" err="1">
                <a:solidFill>
                  <a:srgbClr val="94A3B8"/>
                </a:solidFill>
                <a:latin typeface="Calibri" pitchFamily="34" charset="0"/>
                <a:ea typeface="Calibri" pitchFamily="34" charset="-122"/>
                <a:cs typeface="Calibri" pitchFamily="34" charset="-120"/>
              </a:rPr>
              <a:t>čini</a:t>
            </a:r>
            <a:r>
              <a:rPr lang="en-US" sz="1000" dirty="0">
                <a:solidFill>
                  <a:srgbClr val="94A3B8"/>
                </a:solidFill>
                <a:latin typeface="Calibri" pitchFamily="34" charset="0"/>
                <a:ea typeface="Calibri" pitchFamily="34" charset="-122"/>
                <a:cs typeface="Calibri" pitchFamily="34" charset="-120"/>
              </a:rPr>
              <a:t> </a:t>
            </a:r>
            <a:r>
              <a:rPr lang="en-US" sz="1000" dirty="0" err="1">
                <a:solidFill>
                  <a:srgbClr val="94A3B8"/>
                </a:solidFill>
                <a:latin typeface="Calibri" pitchFamily="34" charset="0"/>
                <a:ea typeface="Calibri" pitchFamily="34" charset="-122"/>
                <a:cs typeface="Calibri" pitchFamily="34" charset="-120"/>
              </a:rPr>
              <a:t>korak</a:t>
            </a:r>
            <a:r>
              <a:rPr lang="en-US" sz="1000" dirty="0">
                <a:solidFill>
                  <a:srgbClr val="94A3B8"/>
                </a:solidFill>
                <a:latin typeface="Calibri" pitchFamily="34" charset="0"/>
                <a:ea typeface="Calibri" pitchFamily="34" charset="-122"/>
                <a:cs typeface="Calibri" pitchFamily="34" charset="-120"/>
              </a:rPr>
              <a:t> </a:t>
            </a:r>
            <a:r>
              <a:rPr lang="en-US" sz="1000" dirty="0" err="1">
                <a:solidFill>
                  <a:srgbClr val="94A3B8"/>
                </a:solidFill>
                <a:latin typeface="Calibri" pitchFamily="34" charset="0"/>
                <a:ea typeface="Calibri" pitchFamily="34" charset="-122"/>
                <a:cs typeface="Calibri" pitchFamily="34" charset="-120"/>
              </a:rPr>
              <a:t>naprijed</a:t>
            </a:r>
            <a:r>
              <a:rPr lang="en-US" sz="1000" dirty="0">
                <a:solidFill>
                  <a:srgbClr val="94A3B8"/>
                </a:solidFill>
                <a:latin typeface="Calibri" pitchFamily="34" charset="0"/>
                <a:ea typeface="Calibri" pitchFamily="34" charset="-122"/>
                <a:cs typeface="Calibri" pitchFamily="34" charset="-120"/>
              </a:rPr>
              <a:t> — naši klubovi su bolje pripremljeni, a naša liga izgleda profesionalnije. </a:t>
            </a:r>
            <a:endParaRPr lang="en-US" sz="1000" dirty="0"/>
          </a:p>
        </p:txBody>
      </p:sp>
      <p:sp>
        <p:nvSpPr>
          <p:cNvPr id="32" name="Text 30"/>
          <p:cNvSpPr/>
          <p:nvPr/>
        </p:nvSpPr>
        <p:spPr>
          <a:xfrm>
            <a:off x="7955280" y="4777740"/>
            <a:ext cx="9144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20 / 21</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21">
    <p:bg>
      <p:bgPr>
        <a:solidFill>
          <a:srgbClr val="0A0F1C"/>
        </a:solidFill>
        <a:effectLst/>
      </p:bgPr>
    </p:bg>
    <p:spTree>
      <p:nvGrpSpPr>
        <p:cNvPr id="1" name=""/>
        <p:cNvGrpSpPr/>
        <p:nvPr/>
      </p:nvGrpSpPr>
      <p:grpSpPr>
        <a:xfrm>
          <a:off x="0" y="0"/>
          <a:ext cx="0" cy="0"/>
          <a:chOff x="0" y="0"/>
          <a:chExt cx="0" cy="0"/>
        </a:xfrm>
      </p:grpSpPr>
      <p:sp>
        <p:nvSpPr>
          <p:cNvPr id="2" name="Shape 0"/>
          <p:cNvSpPr/>
          <p:nvPr/>
        </p:nvSpPr>
        <p:spPr>
          <a:xfrm>
            <a:off x="4297680" y="914400"/>
            <a:ext cx="548640" cy="0"/>
          </a:xfrm>
          <a:prstGeom prst="line">
            <a:avLst/>
          </a:prstGeom>
          <a:noFill/>
          <a:ln w="25400">
            <a:solidFill>
              <a:srgbClr val="22C55E"/>
            </a:solidFill>
            <a:prstDash val="solid"/>
          </a:ln>
        </p:spPr>
        <p:txBody>
          <a:bodyPr/>
          <a:lstStyle/>
          <a:p>
            <a:endParaRPr/>
          </a:p>
        </p:txBody>
      </p:sp>
      <p:sp>
        <p:nvSpPr>
          <p:cNvPr id="3" name="Text 1"/>
          <p:cNvSpPr/>
          <p:nvPr/>
        </p:nvSpPr>
        <p:spPr>
          <a:xfrm>
            <a:off x="457200" y="1051560"/>
            <a:ext cx="8229600" cy="274320"/>
          </a:xfrm>
          <a:prstGeom prst="rect">
            <a:avLst/>
          </a:prstGeom>
          <a:noFill/>
          <a:ln/>
        </p:spPr>
        <p:txBody>
          <a:bodyPr wrap="square" lIns="0" tIns="0" rIns="0" bIns="0" rtlCol="0" anchor="ctr"/>
          <a:lstStyle/>
          <a:p>
            <a:pPr marL="0" indent="0" algn="ctr">
              <a:buNone/>
            </a:pPr>
            <a:r>
              <a:rPr lang="en-US" sz="1000" b="1" kern="0" spc="500" dirty="0">
                <a:solidFill>
                  <a:srgbClr val="22C55E"/>
                </a:solidFill>
                <a:latin typeface="Calibri" pitchFamily="34" charset="0"/>
                <a:ea typeface="Calibri" pitchFamily="34" charset="-122"/>
                <a:cs typeface="Calibri" pitchFamily="34" charset="-120"/>
              </a:rPr>
              <a:t>ZA KRAJ</a:t>
            </a:r>
            <a:endParaRPr lang="en-US" sz="1000" dirty="0"/>
          </a:p>
        </p:txBody>
      </p:sp>
      <p:sp>
        <p:nvSpPr>
          <p:cNvPr id="4" name="Text 2"/>
          <p:cNvSpPr/>
          <p:nvPr/>
        </p:nvSpPr>
        <p:spPr>
          <a:xfrm>
            <a:off x="731520" y="1691640"/>
            <a:ext cx="7680960" cy="1554480"/>
          </a:xfrm>
          <a:prstGeom prst="rect">
            <a:avLst/>
          </a:prstGeom>
          <a:noFill/>
          <a:ln/>
        </p:spPr>
        <p:txBody>
          <a:bodyPr wrap="square" lIns="0" tIns="0" rIns="0" bIns="0" rtlCol="0" anchor="ctr"/>
          <a:lstStyle/>
          <a:p>
            <a:pPr marL="0" indent="0" algn="ctr">
              <a:buNone/>
            </a:pPr>
            <a:r>
              <a:rPr lang="en-US" sz="3200" i="1" dirty="0">
                <a:solidFill>
                  <a:srgbClr val="F8FAFC"/>
                </a:solidFill>
                <a:latin typeface="Georgia" pitchFamily="34" charset="0"/>
                <a:ea typeface="Georgia" pitchFamily="34" charset="-122"/>
                <a:cs typeface="Georgia" pitchFamily="34" charset="-120"/>
              </a:rPr>
              <a:t>"Ne možemo ih nadmašiti novcem.</a:t>
            </a:r>
            <a:endParaRPr lang="en-US" sz="3200" dirty="0"/>
          </a:p>
          <a:p>
            <a:pPr marL="0" indent="0" algn="ctr">
              <a:buNone/>
            </a:pPr>
            <a:r>
              <a:rPr lang="en-US" sz="3200" i="1" dirty="0">
                <a:solidFill>
                  <a:srgbClr val="F8FAFC"/>
                </a:solidFill>
                <a:latin typeface="Georgia" pitchFamily="34" charset="0"/>
                <a:ea typeface="Georgia" pitchFamily="34" charset="-122"/>
                <a:cs typeface="Georgia" pitchFamily="34" charset="-120"/>
              </a:rPr>
              <a:t>Ali možemo ih nadmašiti pametnošću."</a:t>
            </a:r>
            <a:endParaRPr lang="en-US" sz="3200" dirty="0"/>
          </a:p>
        </p:txBody>
      </p:sp>
      <p:sp>
        <p:nvSpPr>
          <p:cNvPr id="5" name="Text 3"/>
          <p:cNvSpPr/>
          <p:nvPr/>
        </p:nvSpPr>
        <p:spPr>
          <a:xfrm>
            <a:off x="457200" y="3429000"/>
            <a:ext cx="8229600" cy="274320"/>
          </a:xfrm>
          <a:prstGeom prst="rect">
            <a:avLst/>
          </a:prstGeom>
          <a:noFill/>
          <a:ln/>
        </p:spPr>
        <p:txBody>
          <a:bodyPr wrap="square" lIns="0" tIns="0" rIns="0" bIns="0" rtlCol="0" anchor="ctr"/>
          <a:lstStyle/>
          <a:p>
            <a:pPr marL="0" indent="0" algn="ctr">
              <a:buNone/>
            </a:pPr>
            <a:r>
              <a:rPr lang="en-US" sz="1100" b="1" kern="0" spc="400" dirty="0">
                <a:solidFill>
                  <a:srgbClr val="22C55E"/>
                </a:solidFill>
                <a:latin typeface="Calibri" pitchFamily="34" charset="0"/>
                <a:ea typeface="Calibri" pitchFamily="34" charset="-122"/>
                <a:cs typeface="Calibri" pitchFamily="34" charset="-120"/>
              </a:rPr>
              <a:t>RASMUS ANKERSEN</a:t>
            </a:r>
            <a:endParaRPr lang="en-US" sz="1100" dirty="0"/>
          </a:p>
        </p:txBody>
      </p:sp>
      <p:sp>
        <p:nvSpPr>
          <p:cNvPr id="6" name="Text 4"/>
          <p:cNvSpPr/>
          <p:nvPr/>
        </p:nvSpPr>
        <p:spPr>
          <a:xfrm>
            <a:off x="457200" y="3703320"/>
            <a:ext cx="8229600" cy="274320"/>
          </a:xfrm>
          <a:prstGeom prst="rect">
            <a:avLst/>
          </a:prstGeom>
          <a:noFill/>
          <a:ln/>
        </p:spPr>
        <p:txBody>
          <a:bodyPr wrap="square" lIns="0" tIns="0" rIns="0" bIns="0" rtlCol="0" anchor="ctr"/>
          <a:lstStyle/>
          <a:p>
            <a:pPr marL="0" indent="0" algn="ctr">
              <a:buNone/>
            </a:pPr>
            <a:r>
              <a:rPr lang="en-US" sz="1100" i="1" dirty="0">
                <a:solidFill>
                  <a:srgbClr val="94A3B8"/>
                </a:solidFill>
                <a:latin typeface="Calibri" pitchFamily="34" charset="0"/>
                <a:ea typeface="Calibri" pitchFamily="34" charset="-122"/>
                <a:cs typeface="Calibri" pitchFamily="34" charset="-120"/>
              </a:rPr>
              <a:t>Predsjednik, FC Midtjylland</a:t>
            </a:r>
            <a:endParaRPr lang="en-US" sz="1100" dirty="0"/>
          </a:p>
        </p:txBody>
      </p:sp>
      <p:sp>
        <p:nvSpPr>
          <p:cNvPr id="7" name="Shape 5"/>
          <p:cNvSpPr/>
          <p:nvPr/>
        </p:nvSpPr>
        <p:spPr>
          <a:xfrm>
            <a:off x="3886200" y="4206240"/>
            <a:ext cx="1371600" cy="0"/>
          </a:xfrm>
          <a:prstGeom prst="line">
            <a:avLst/>
          </a:prstGeom>
          <a:noFill/>
          <a:ln w="25400">
            <a:solidFill>
              <a:srgbClr val="22C55E"/>
            </a:solidFill>
            <a:prstDash val="solid"/>
          </a:ln>
        </p:spPr>
        <p:txBody>
          <a:bodyPr/>
          <a:lstStyle/>
          <a:p>
            <a:endParaRPr/>
          </a:p>
        </p:txBody>
      </p:sp>
      <p:sp>
        <p:nvSpPr>
          <p:cNvPr id="9" name="Text 7"/>
          <p:cNvSpPr/>
          <p:nvPr/>
        </p:nvSpPr>
        <p:spPr>
          <a:xfrm>
            <a:off x="7955280" y="4777740"/>
            <a:ext cx="9144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21 / 21</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267</TotalTime>
  <Words>1980</Words>
  <Application>Microsoft Office PowerPoint</Application>
  <PresentationFormat>On-screen Show (16:9)</PresentationFormat>
  <Paragraphs>273</Paragraphs>
  <Slides>17</Slides>
  <Notes>17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Analytics for Montenegrin Football</dc:title>
  <dc:subject>PptxGenJS Presentation</dc:subject>
  <dc:creator>Pavle Savković</dc:creator>
  <cp:lastModifiedBy>PC</cp:lastModifiedBy>
  <cp:revision>66</cp:revision>
  <dcterms:created xsi:type="dcterms:W3CDTF">2026-04-21T08:46:55Z</dcterms:created>
  <dcterms:modified xsi:type="dcterms:W3CDTF">2026-04-22T12:19:05Z</dcterms:modified>
</cp:coreProperties>
</file>